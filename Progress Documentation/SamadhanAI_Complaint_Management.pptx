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eb80546-8064-ec20-1761-6069377d997b}">
          <p14:sldIdLst>
            <p14:sldId id="256"/>
            <p14:sldId id="257"/>
            <p14:sldId id="258"/>
            <p14:sldId id="259"/>
          </p14:sldIdLst>
        </p14:section>
        <p14:section name="Complaint Journey" id="{737cf4a8-a931-ab6d-2b55-bb120febb6b4}">
          <p14:sldIdLst>
            <p14:sldId id="260"/>
            <p14:sldId id="261"/>
            <p14:sldId id="262"/>
            <p14:sldId id="263"/>
            <p14:sldId id="264"/>
            <p14:sldId id="265"/>
          </p14:sldIdLst>
        </p14:section>
        <p14:section name="Architecture" id="{6e92886f-18e5-ba74-7e67-61ad722ddd38}">
          <p14:sldIdLst>
            <p14:sldId id="266"/>
            <p14:sldId id="267"/>
          </p14:sldIdLst>
        </p14:section>
        <p14:section name="Trust &amp; Quality" id="{ba96ffca-1402-9ce8-029c-f24170905a35}">
          <p14:sldIdLst>
            <p14:sldId id="268"/>
            <p14:sldId id="269"/>
            <p14:sldId id="270"/>
          </p14:sldIdLst>
        </p14:section>
        <p14:section name="Close" id="{9f157504-1880-c340-a368-d18693405c9c}">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Samadhan AI is an AI-powered, multi-agent complaint management system that automates the complete lifecycle of citizen complaints. Introduce Team Kafka.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Reporting is easy; resolution is not. Citizens do not know how serious the issue is, when it will be fixed or who owns it. There is no SLA clock and no automatic escalation, and complaints can be fake, duplicate or closed without a real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promise: understand the complaint, decide where it goes, assign it, monitor it, escalate delays, and keep the citizen informed until resolution.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map of everything the system does. The following slides walk through the complaint journey, the architecture, and the trust and quality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End-to-end lifecycle: Citizen, Submit, Analyze, Validate, Route, Assign, Monitor, Escalate if needed, Resolve, Close. The garbage-near-school example is used to illustrate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Complaint Analyst determines what the issue is, its category, where it happened, how severe it is, whether information is missing and whether it is a likely duplicate. A confidence score decides whether a human needs to review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2 takes the structured analysis and decides where it goes: department, jurisdiction, officer or team and SLA. It assigns the complaint, notifies the officer and passes the assignment on to the monitoring agent. If information is missing, the citizen is asked and the complaint is re-analyzed.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3 continuously tracks status, progress and the SLA. It sends reminders before a breach, detects overdue complaints and escalates automatically: notifying senior authorities, reassigning, recording history and informing the citizen. The case then returns to the monitoring cycle until 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complaint moves through a tracked lifecycle: Submitted, Analyzed, Assigned, In Progress, Monitored, Escalated (if required), Resolved, Closed. Notifications keep citizens and officers informed at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flow top to bottom: validation, Agent 1 analysis with a loop back to the citizen if information is missing, Agent 2 routing, then Agent 3 monitoring. Two decisions drive the end of the journey: is it resolved, and if not, has the SLA been breached. A breach escalates and returns to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Frontend to FastAPI to LangGraph to the AI agents, which use tools and context, backed by PostgreSQL with pgvector and external services; the result flows back to the user. The agent harness wraps the agents with permissions, guardrails, retries, logging and human-review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Context-aware retrieval gives each agent only what it needs. Agents hand each other structured outputs instead of free text. Tools are controlled and permission-checked by the agent harness.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uses JWT and role-based authorization. Guardrails validate inputs, structured outputs, confidence and business rules, and check tool permissions; uncertain cases go to human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Low-confidence or sensitive cases go to a human. Officers and admins can override AI decisions and assign manually. Every agent run, decision and tool call is stored so decisions can be reviewed.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Quality is measured: classification, routing and severity accuracy, schema validity, hallucinations, token usage and latency, plus prompt-version comparisons. Human feedback and failed cases feed back into improving prompts and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goal: complaint handling that is faster, more intelligent, transparent and accountable, with every complaint followed through to resolution. Thank the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19088"/>
            <a:ext cx="5486400" cy="256032"/>
          </a:xfrm>
          <a:prstGeom prst="rect">
            <a:avLst/>
          </a:prstGeom>
          <a:noFill/>
          <a:ln/>
        </p:spPr>
        <p:txBody>
          <a:bodyPr wrap="square" lIns="0" tIns="0" rIns="0" bIns="0" rtlCol="0" anchor="ctr"/>
          <a:lstStyle/>
          <a:p>
            <a:pPr indent="0" marL="0">
              <a:buNone/>
            </a:pPr>
            <a:r>
              <a:rPr lang="en-US" sz="1000" b="1" spc="200" kern="0" dirty="0">
                <a:solidFill>
                  <a:schemeClr val="accent6"/>
                </a:solidFill>
              </a:rPr>
              <a:t>SAMADHAN AI  ·  TEAM KAFKA</a:t>
            </a:r>
            <a:endParaRPr lang="en-US" sz="1000" dirty="0"/>
          </a:p>
        </p:txBody>
      </p:sp>
      <p:sp>
        <p:nvSpPr>
          <p:cNvPr id="3" name="Text 1"/>
          <p:cNvSpPr/>
          <p:nvPr>
            <p:ph idx="101" type="title" hasCustomPrompt="1"/>
          </p:nvPr>
        </p:nvSpPr>
        <p:spPr>
          <a:xfrm>
            <a:off x="548640" y="320040"/>
            <a:ext cx="11091672"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972800" y="6419088"/>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600200"/>
            <a:ext cx="6400800" cy="100584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548640" y="6419088"/>
            <a:ext cx="5486400" cy="256032"/>
          </a:xfrm>
          <a:prstGeom prst="rect">
            <a:avLst/>
          </a:prstGeom>
          <a:noFill/>
          <a:ln/>
        </p:spPr>
        <p:txBody>
          <a:bodyPr wrap="square" lIns="0" tIns="0" rIns="0" bIns="0" rtlCol="0" anchor="ctr"/>
          <a:lstStyle/>
          <a:p>
            <a:pPr indent="0" marL="0">
              <a:buNone/>
            </a:pPr>
            <a:r>
              <a:rPr lang="en-US" sz="1000" b="1" spc="200" kern="0" dirty="0">
                <a:solidFill>
                  <a:schemeClr val="accent2"/>
                </a:solidFill>
              </a:rPr>
              <a:t>SAMADHAN AI  ·  TEAM KAFKA</a:t>
            </a:r>
            <a:endParaRPr lang="en-US" sz="1000" dirty="0"/>
          </a:p>
        </p:txBody>
      </p:sp>
      <p:sp>
        <p:nvSpPr>
          <p:cNvPr id="3" name="Text 1"/>
          <p:cNvSpPr/>
          <p:nvPr>
            <p:ph idx="101" type="title" hasCustomPrompt="1"/>
          </p:nvPr>
        </p:nvSpPr>
        <p:spPr>
          <a:xfrm>
            <a:off x="548640" y="548640"/>
            <a:ext cx="11091672" cy="91440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25" name="Slide Number Placeholder 0"/>
          <p:cNvSpPr>
            <a:spLocks noGrp="1"/>
          </p:cNvSpPr>
          <p:nvPr>
            <p:ph type="sldNum" sz="quarter" idx="4294967295"/>
          </p:nvPr>
        </p:nvSpPr>
        <p:spPr>
          <a:xfrm>
            <a:off x="10972800" y="6419088"/>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19088"/>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image" Target="../media/image-4-16.png"/><Relationship Id="rId17" Type="http://schemas.openxmlformats.org/officeDocument/2006/relationships/image" Target="../media/image-4-17.png"/><Relationship Id="rId18" Type="http://schemas.openxmlformats.org/officeDocument/2006/relationships/image" Target="../media/image-4-18.png"/><Relationship Id="rId19" Type="http://schemas.openxmlformats.org/officeDocument/2006/relationships/slideLayout" Target="../slideLayouts/slideLayout2.xml"/><Relationship Id="rId2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2.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2.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2.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slideLayout" Target="../slideLayouts/slideLayout2.xml"/><Relationship Id="rId11"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4.xml"/><Relationship Id="rId6"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1"/>
          <p:cNvSpPr txBox="1"/>
          <p:nvPr/>
        </p:nvSpPr>
        <p:spPr>
          <a:xfrm>
            <a:off x="548640" y="1188720"/>
            <a:ext cx="658368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AI-POWERED MULTI-AGENT COMPLAINT MANAGEMENT</a:t>
            </a:r>
            <a:endParaRPr lang="en-US" sz="1200" dirty="0"/>
          </a:p>
        </p:txBody>
      </p:sp>
      <p:sp>
        <p:nvSpPr>
          <p:cNvPr id="3" name="Text 0"/>
          <p:cNvSpPr/>
          <p:nvPr>
            <p:ph idx="100" type="title" hasCustomPrompt="1"/>
          </p:nvPr>
        </p:nvSpPr>
        <p:spPr>
          <a:xfrm>
            <a:off x="548640" y="1600200"/>
            <a:ext cx="6400800" cy="1005840"/>
          </a:xfrm>
          <a:prstGeom prst="rect">
            <a:avLst/>
          </a:prstGeom>
          <a:noFill/>
          <a:ln/>
        </p:spPr>
        <p:txBody>
          <a:bodyPr wrap="square" lIns="0" tIns="0" rIns="0" bIns="0" rtlCol="0" anchor="ctr"/>
          <a:lstStyle/>
          <a:p>
            <a:pPr algn="l" indent="0" marL="0">
              <a:buNone/>
            </a:pPr>
            <a:r>
              <a:rPr lang="en-US" sz="5400" b="1" dirty="0">
                <a:solidFill>
                  <a:schemeClr val="bg1"/>
                </a:solidFill>
              </a:rPr>
              <a:t>SAMADHAN AI</a:t>
            </a:r>
            <a:endParaRPr lang="en-US" sz="5400" dirty="0"/>
          </a:p>
        </p:txBody>
      </p:sp>
      <p:sp>
        <p:nvSpPr>
          <p:cNvPr id="4" name="text-2"/>
          <p:cNvSpPr txBox="1"/>
          <p:nvPr/>
        </p:nvSpPr>
        <p:spPr>
          <a:xfrm>
            <a:off x="548640" y="2788920"/>
            <a:ext cx="6217920" cy="1097280"/>
          </a:xfrm>
          <a:prstGeom prst="rect">
            <a:avLst/>
          </a:prstGeom>
          <a:noFill/>
          <a:ln/>
        </p:spPr>
        <p:txBody>
          <a:bodyPr wrap="square" lIns="0" tIns="0" rIns="0" bIns="0" rtlCol="0" anchor="t"/>
          <a:lstStyle/>
          <a:p>
            <a:pPr indent="0" marL="0">
              <a:buNone/>
            </a:pPr>
            <a:r>
              <a:rPr lang="en-US" sz="2000" dirty="0">
                <a:solidFill>
                  <a:schemeClr val="bg2"/>
                </a:solidFill>
              </a:rPr>
              <a:t>From complaint to resolution: understood, routed, monitored and escalated by AI agents, with humans in control.</a:t>
            </a:r>
            <a:endParaRPr lang="en-US" sz="2000" dirty="0"/>
          </a:p>
        </p:txBody>
      </p:sp>
      <p:sp>
        <p:nvSpPr>
          <p:cNvPr id="5" name="text-3"/>
          <p:cNvSpPr txBox="1"/>
          <p:nvPr/>
        </p:nvSpPr>
        <p:spPr>
          <a:xfrm>
            <a:off x="548640" y="4343400"/>
            <a:ext cx="2743200" cy="274320"/>
          </a:xfrm>
          <a:prstGeom prst="rect">
            <a:avLst/>
          </a:prstGeom>
          <a:noFill/>
          <a:ln/>
        </p:spPr>
        <p:txBody>
          <a:bodyPr wrap="square" lIns="0" tIns="0" rIns="0" bIns="0" rtlCol="0" anchor="t"/>
          <a:lstStyle/>
          <a:p>
            <a:pPr indent="0" marL="0">
              <a:buNone/>
            </a:pPr>
            <a:r>
              <a:rPr lang="en-US" sz="1400" b="1" spc="200" kern="0" dirty="0">
                <a:solidFill>
                  <a:schemeClr val="accent2"/>
                </a:solidFill>
              </a:rPr>
              <a:t>TEAM KAFKA</a:t>
            </a:r>
            <a:endParaRPr lang="en-US" sz="1400" dirty="0"/>
          </a:p>
        </p:txBody>
      </p:sp>
      <p:sp>
        <p:nvSpPr>
          <p:cNvPr id="6" name="text-4"/>
          <p:cNvSpPr txBox="1"/>
          <p:nvPr/>
        </p:nvSpPr>
        <p:spPr>
          <a:xfrm>
            <a:off x="548640" y="4754880"/>
            <a:ext cx="3291840" cy="1463040"/>
          </a:xfrm>
          <a:prstGeom prst="rect">
            <a:avLst/>
          </a:prstGeom>
          <a:noFill/>
          <a:ln/>
        </p:spPr>
        <p:txBody>
          <a:bodyPr wrap="square" lIns="0" tIns="0" rIns="0" bIns="0" rtlCol="0" anchor="t"/>
          <a:lstStyle/>
          <a:p>
            <a:pPr indent="0" marL="0">
              <a:spcAft>
                <a:spcPts val="300"/>
              </a:spcAft>
              <a:buNone/>
            </a:pPr>
            <a:r>
              <a:rPr lang="en-US" sz="1400" dirty="0">
                <a:solidFill>
                  <a:schemeClr val="bg1"/>
                </a:solidFill>
              </a:rPr>
              <a:t>Rachit Kumar Gupta — Leader</a:t>
            </a:r>
            <a:endParaRPr lang="en-US" sz="1400" dirty="0"/>
          </a:p>
          <a:p>
            <a:pPr indent="0" marL="0">
              <a:spcAft>
                <a:spcPts val="300"/>
              </a:spcAft>
              <a:buNone/>
            </a:pPr>
            <a:r>
              <a:rPr lang="en-US" sz="1400" dirty="0">
                <a:solidFill>
                  <a:schemeClr val="bg1"/>
                </a:solidFill>
              </a:rPr>
              <a:t>Ayush Choudhary</a:t>
            </a:r>
            <a:endParaRPr lang="en-US" sz="1400" dirty="0"/>
          </a:p>
          <a:p>
            <a:pPr indent="0" marL="0">
              <a:spcAft>
                <a:spcPts val="300"/>
              </a:spcAft>
              <a:buNone/>
            </a:pPr>
            <a:r>
              <a:rPr lang="en-US" sz="1400" dirty="0">
                <a:solidFill>
                  <a:schemeClr val="bg1"/>
                </a:solidFill>
              </a:rPr>
              <a:t>Punit Gour</a:t>
            </a:r>
            <a:endParaRPr lang="en-US" sz="1400" dirty="0"/>
          </a:p>
          <a:p>
            <a:pPr indent="0" marL="0">
              <a:spcAft>
                <a:spcPts val="300"/>
              </a:spcAft>
              <a:buNone/>
            </a:pPr>
            <a:r>
              <a:rPr lang="en-US" sz="1400" dirty="0">
                <a:solidFill>
                  <a:schemeClr val="bg1"/>
                </a:solidFill>
              </a:rPr>
              <a:t>Hrishika Nema</a:t>
            </a:r>
            <a:endParaRPr lang="en-US" sz="1400" dirty="0"/>
          </a:p>
          <a:p>
            <a:pPr indent="0" marL="0">
              <a:spcAft>
                <a:spcPts val="300"/>
              </a:spcAft>
              <a:buNone/>
            </a:pPr>
            <a:r>
              <a:rPr lang="en-US" sz="1400" dirty="0">
                <a:solidFill>
                  <a:schemeClr val="bg1"/>
                </a:solidFill>
              </a:rPr>
              <a:t>Nikhil Pathak</a:t>
            </a:r>
            <a:endParaRPr lang="en-US" sz="1400" dirty="0"/>
          </a:p>
        </p:txBody>
      </p:sp>
      <p:sp>
        <p:nvSpPr>
          <p:cNvPr id="7" name="text-5"/>
          <p:cNvSpPr txBox="1"/>
          <p:nvPr/>
        </p:nvSpPr>
        <p:spPr>
          <a:xfrm>
            <a:off x="3931920" y="4754880"/>
            <a:ext cx="2926080" cy="1463040"/>
          </a:xfrm>
          <a:prstGeom prst="rect">
            <a:avLst/>
          </a:prstGeom>
          <a:noFill/>
          <a:ln/>
        </p:spPr>
        <p:txBody>
          <a:bodyPr wrap="square" lIns="0" tIns="0" rIns="0" bIns="0" rtlCol="0" anchor="t"/>
          <a:lstStyle/>
          <a:p>
            <a:pPr indent="0" marL="0">
              <a:spcAft>
                <a:spcPts val="300"/>
              </a:spcAft>
              <a:buNone/>
            </a:pPr>
            <a:r>
              <a:rPr lang="en-US" sz="1400" dirty="0">
                <a:solidFill>
                  <a:schemeClr val="bg1"/>
                </a:solidFill>
              </a:rPr>
              <a:t>Akanshi Verma</a:t>
            </a:r>
            <a:endParaRPr lang="en-US" sz="1400" dirty="0"/>
          </a:p>
          <a:p>
            <a:pPr indent="0" marL="0">
              <a:spcAft>
                <a:spcPts val="300"/>
              </a:spcAft>
              <a:buNone/>
            </a:pPr>
            <a:r>
              <a:rPr lang="en-US" sz="1400" dirty="0">
                <a:solidFill>
                  <a:schemeClr val="bg1"/>
                </a:solidFill>
              </a:rPr>
              <a:t>Manshvi Jaiswal</a:t>
            </a:r>
            <a:endParaRPr lang="en-US" sz="1400" dirty="0"/>
          </a:p>
          <a:p>
            <a:pPr indent="0" marL="0">
              <a:spcAft>
                <a:spcPts val="300"/>
              </a:spcAft>
              <a:buNone/>
            </a:pPr>
            <a:r>
              <a:rPr lang="en-US" sz="1400" dirty="0">
                <a:solidFill>
                  <a:schemeClr val="bg1"/>
                </a:solidFill>
              </a:rPr>
              <a:t>Kaurvika Gupta</a:t>
            </a:r>
            <a:endParaRPr lang="en-US" sz="1400" dirty="0"/>
          </a:p>
          <a:p>
            <a:pPr indent="0" marL="0">
              <a:spcAft>
                <a:spcPts val="300"/>
              </a:spcAft>
              <a:buNone/>
            </a:pPr>
            <a:r>
              <a:rPr lang="en-US" sz="1400" dirty="0">
                <a:solidFill>
                  <a:schemeClr val="bg1"/>
                </a:solidFill>
              </a:rPr>
              <a:t>Harish Birla</a:t>
            </a:r>
            <a:endParaRPr lang="en-US" sz="1400" dirty="0"/>
          </a:p>
          <a:p>
            <a:pPr indent="0" marL="0">
              <a:spcAft>
                <a:spcPts val="300"/>
              </a:spcAft>
              <a:buNone/>
            </a:pPr>
            <a:r>
              <a:rPr lang="en-US" sz="1400" dirty="0">
                <a:solidFill>
                  <a:schemeClr val="bg1"/>
                </a:solidFill>
              </a:rPr>
              <a:t>Surbhi Patel</a:t>
            </a:r>
            <a:endParaRPr lang="en-US" sz="1400" dirty="0"/>
          </a:p>
        </p:txBody>
      </p:sp>
      <p:sp>
        <p:nvSpPr>
          <p:cNvPr id="8" name="card-6"/>
          <p:cNvSpPr/>
          <p:nvPr/>
        </p:nvSpPr>
        <p:spPr>
          <a:xfrm>
            <a:off x="7498080" y="868680"/>
            <a:ext cx="4142232" cy="804672"/>
          </a:xfrm>
          <a:prstGeom prst="roundRect">
            <a:avLst>
              <a:gd name="adj" fmla="val 11364"/>
            </a:avLst>
          </a:prstGeom>
          <a:solidFill>
            <a:schemeClr val="tx2"/>
          </a:solidFill>
          <a:ln/>
        </p:spPr>
      </p:sp>
      <p:sp>
        <p:nvSpPr>
          <p:cNvPr id="9" name="text-7"/>
          <p:cNvSpPr txBox="1"/>
          <p:nvPr/>
        </p:nvSpPr>
        <p:spPr>
          <a:xfrm>
            <a:off x="7772400" y="978408"/>
            <a:ext cx="3685032" cy="320040"/>
          </a:xfrm>
          <a:prstGeom prst="rect">
            <a:avLst/>
          </a:prstGeom>
          <a:noFill/>
          <a:ln/>
        </p:spPr>
        <p:txBody>
          <a:bodyPr wrap="square" lIns="0" tIns="0" rIns="0" bIns="0" rtlCol="0" anchor="t"/>
          <a:lstStyle/>
          <a:p>
            <a:pPr indent="0" marL="0">
              <a:buNone/>
            </a:pPr>
            <a:r>
              <a:rPr lang="en-US" sz="1700" b="1" dirty="0">
                <a:solidFill>
                  <a:schemeClr val="bg1"/>
                </a:solidFill>
              </a:rPr>
              <a:t>Citizen</a:t>
            </a:r>
            <a:endParaRPr lang="en-US" sz="1700" dirty="0"/>
          </a:p>
        </p:txBody>
      </p:sp>
      <p:sp>
        <p:nvSpPr>
          <p:cNvPr id="10" name="text-8"/>
          <p:cNvSpPr txBox="1"/>
          <p:nvPr/>
        </p:nvSpPr>
        <p:spPr>
          <a:xfrm>
            <a:off x="7772400" y="1325880"/>
            <a:ext cx="3685032" cy="274320"/>
          </a:xfrm>
          <a:prstGeom prst="rect">
            <a:avLst/>
          </a:prstGeom>
          <a:noFill/>
          <a:ln/>
        </p:spPr>
        <p:txBody>
          <a:bodyPr wrap="square" lIns="0" tIns="0" rIns="0" bIns="0" rtlCol="0" anchor="t"/>
          <a:lstStyle/>
          <a:p>
            <a:pPr indent="0" marL="0">
              <a:buNone/>
            </a:pPr>
            <a:r>
              <a:rPr lang="en-US" sz="1300" dirty="0">
                <a:solidFill>
                  <a:schemeClr val="bg2"/>
                </a:solidFill>
              </a:rPr>
              <a:t>Submits a complaint (web / mobile)</a:t>
            </a:r>
            <a:endParaRPr lang="en-US" sz="1300" dirty="0"/>
          </a:p>
        </p:txBody>
      </p:sp>
      <p:sp>
        <p:nvSpPr>
          <p:cNvPr id="11" name="arrow-9"/>
          <p:cNvSpPr/>
          <p:nvPr/>
        </p:nvSpPr>
        <p:spPr>
          <a:xfrm>
            <a:off x="9569196" y="1691640"/>
            <a:ext cx="0" cy="237744"/>
          </a:xfrm>
          <a:prstGeom prst="line">
            <a:avLst/>
          </a:prstGeom>
          <a:noFill/>
          <a:ln w="22225">
            <a:solidFill>
              <a:schemeClr val="accent2"/>
            </a:solidFill>
            <a:prstDash val="solid"/>
            <a:tailEnd type="triangle"/>
          </a:ln>
        </p:spPr>
      </p:sp>
      <p:sp>
        <p:nvSpPr>
          <p:cNvPr id="12" name="card-10"/>
          <p:cNvSpPr/>
          <p:nvPr/>
        </p:nvSpPr>
        <p:spPr>
          <a:xfrm>
            <a:off x="7498080" y="1947672"/>
            <a:ext cx="4142232" cy="804672"/>
          </a:xfrm>
          <a:prstGeom prst="roundRect">
            <a:avLst>
              <a:gd name="adj" fmla="val 11364"/>
            </a:avLst>
          </a:prstGeom>
          <a:solidFill>
            <a:schemeClr val="accent1"/>
          </a:solidFill>
          <a:ln/>
        </p:spPr>
      </p:sp>
      <p:sp>
        <p:nvSpPr>
          <p:cNvPr id="13" name="text-11"/>
          <p:cNvSpPr txBox="1"/>
          <p:nvPr/>
        </p:nvSpPr>
        <p:spPr>
          <a:xfrm>
            <a:off x="7772400" y="2057400"/>
            <a:ext cx="3685032" cy="320040"/>
          </a:xfrm>
          <a:prstGeom prst="rect">
            <a:avLst/>
          </a:prstGeom>
          <a:noFill/>
          <a:ln/>
        </p:spPr>
        <p:txBody>
          <a:bodyPr wrap="square" lIns="0" tIns="0" rIns="0" bIns="0" rtlCol="0" anchor="t"/>
          <a:lstStyle/>
          <a:p>
            <a:pPr indent="0" marL="0">
              <a:buNone/>
            </a:pPr>
            <a:r>
              <a:rPr lang="en-US" sz="1700" b="1" dirty="0">
                <a:solidFill>
                  <a:schemeClr val="bg1"/>
                </a:solidFill>
              </a:rPr>
              <a:t>Complaint Analyst</a:t>
            </a:r>
            <a:endParaRPr lang="en-US" sz="1700" dirty="0"/>
          </a:p>
        </p:txBody>
      </p:sp>
      <p:sp>
        <p:nvSpPr>
          <p:cNvPr id="14" name="text-12"/>
          <p:cNvSpPr txBox="1"/>
          <p:nvPr/>
        </p:nvSpPr>
        <p:spPr>
          <a:xfrm>
            <a:off x="7772400" y="2404872"/>
            <a:ext cx="3685032" cy="274320"/>
          </a:xfrm>
          <a:prstGeom prst="rect">
            <a:avLst/>
          </a:prstGeom>
          <a:noFill/>
          <a:ln/>
        </p:spPr>
        <p:txBody>
          <a:bodyPr wrap="square" lIns="0" tIns="0" rIns="0" bIns="0" rtlCol="0" anchor="t"/>
          <a:lstStyle/>
          <a:p>
            <a:pPr indent="0" marL="0">
              <a:buNone/>
            </a:pPr>
            <a:r>
              <a:rPr lang="en-US" sz="1300" dirty="0">
                <a:solidFill>
                  <a:schemeClr val="bg2"/>
                </a:solidFill>
              </a:rPr>
              <a:t>Understands, classifies, prioritizes</a:t>
            </a:r>
            <a:endParaRPr lang="en-US" sz="1300" dirty="0"/>
          </a:p>
        </p:txBody>
      </p:sp>
      <p:sp>
        <p:nvSpPr>
          <p:cNvPr id="15" name="arrow-13"/>
          <p:cNvSpPr/>
          <p:nvPr/>
        </p:nvSpPr>
        <p:spPr>
          <a:xfrm>
            <a:off x="9569196" y="2770632"/>
            <a:ext cx="0" cy="237744"/>
          </a:xfrm>
          <a:prstGeom prst="line">
            <a:avLst/>
          </a:prstGeom>
          <a:noFill/>
          <a:ln w="22225">
            <a:solidFill>
              <a:schemeClr val="accent2"/>
            </a:solidFill>
            <a:prstDash val="solid"/>
            <a:tailEnd type="triangle"/>
          </a:ln>
        </p:spPr>
      </p:sp>
      <p:sp>
        <p:nvSpPr>
          <p:cNvPr id="16" name="card-14"/>
          <p:cNvSpPr/>
          <p:nvPr/>
        </p:nvSpPr>
        <p:spPr>
          <a:xfrm>
            <a:off x="7498080" y="3026664"/>
            <a:ext cx="4142232" cy="804672"/>
          </a:xfrm>
          <a:prstGeom prst="roundRect">
            <a:avLst>
              <a:gd name="adj" fmla="val 11364"/>
            </a:avLst>
          </a:prstGeom>
          <a:solidFill>
            <a:schemeClr val="accent1"/>
          </a:solidFill>
          <a:ln/>
        </p:spPr>
      </p:sp>
      <p:sp>
        <p:nvSpPr>
          <p:cNvPr id="17" name="text-15"/>
          <p:cNvSpPr txBox="1"/>
          <p:nvPr/>
        </p:nvSpPr>
        <p:spPr>
          <a:xfrm>
            <a:off x="7772400" y="3136392"/>
            <a:ext cx="3685032" cy="320040"/>
          </a:xfrm>
          <a:prstGeom prst="rect">
            <a:avLst/>
          </a:prstGeom>
          <a:noFill/>
          <a:ln/>
        </p:spPr>
        <p:txBody>
          <a:bodyPr wrap="square" lIns="0" tIns="0" rIns="0" bIns="0" rtlCol="0" anchor="t"/>
          <a:lstStyle/>
          <a:p>
            <a:pPr indent="0" marL="0">
              <a:buNone/>
            </a:pPr>
            <a:r>
              <a:rPr lang="en-US" sz="1700" b="1" dirty="0">
                <a:solidFill>
                  <a:schemeClr val="bg1"/>
                </a:solidFill>
              </a:rPr>
              <a:t>Resolution &amp; Routing</a:t>
            </a:r>
            <a:endParaRPr lang="en-US" sz="1700" dirty="0"/>
          </a:p>
        </p:txBody>
      </p:sp>
      <p:sp>
        <p:nvSpPr>
          <p:cNvPr id="18" name="text-16"/>
          <p:cNvSpPr txBox="1"/>
          <p:nvPr/>
        </p:nvSpPr>
        <p:spPr>
          <a:xfrm>
            <a:off x="7772400" y="3483864"/>
            <a:ext cx="3685032" cy="274320"/>
          </a:xfrm>
          <a:prstGeom prst="rect">
            <a:avLst/>
          </a:prstGeom>
          <a:noFill/>
          <a:ln/>
        </p:spPr>
        <p:txBody>
          <a:bodyPr wrap="square" lIns="0" tIns="0" rIns="0" bIns="0" rtlCol="0" anchor="t"/>
          <a:lstStyle/>
          <a:p>
            <a:pPr indent="0" marL="0">
              <a:buNone/>
            </a:pPr>
            <a:r>
              <a:rPr lang="en-US" sz="1300" dirty="0">
                <a:solidFill>
                  <a:schemeClr val="bg2"/>
                </a:solidFill>
              </a:rPr>
              <a:t>Finds department, officer and SLA</a:t>
            </a:r>
            <a:endParaRPr lang="en-US" sz="1300" dirty="0"/>
          </a:p>
        </p:txBody>
      </p:sp>
      <p:sp>
        <p:nvSpPr>
          <p:cNvPr id="19" name="arrow-17"/>
          <p:cNvSpPr/>
          <p:nvPr/>
        </p:nvSpPr>
        <p:spPr>
          <a:xfrm>
            <a:off x="9569196" y="3849624"/>
            <a:ext cx="0" cy="237744"/>
          </a:xfrm>
          <a:prstGeom prst="line">
            <a:avLst/>
          </a:prstGeom>
          <a:noFill/>
          <a:ln w="22225">
            <a:solidFill>
              <a:schemeClr val="accent2"/>
            </a:solidFill>
            <a:prstDash val="solid"/>
            <a:tailEnd type="triangle"/>
          </a:ln>
        </p:spPr>
      </p:sp>
      <p:sp>
        <p:nvSpPr>
          <p:cNvPr id="20" name="card-18"/>
          <p:cNvSpPr/>
          <p:nvPr/>
        </p:nvSpPr>
        <p:spPr>
          <a:xfrm>
            <a:off x="7498080" y="4105656"/>
            <a:ext cx="4142232" cy="804672"/>
          </a:xfrm>
          <a:prstGeom prst="roundRect">
            <a:avLst>
              <a:gd name="adj" fmla="val 11364"/>
            </a:avLst>
          </a:prstGeom>
          <a:solidFill>
            <a:schemeClr val="accent1"/>
          </a:solidFill>
          <a:ln/>
        </p:spPr>
      </p:sp>
      <p:sp>
        <p:nvSpPr>
          <p:cNvPr id="21" name="text-19"/>
          <p:cNvSpPr txBox="1"/>
          <p:nvPr/>
        </p:nvSpPr>
        <p:spPr>
          <a:xfrm>
            <a:off x="7772400" y="4215384"/>
            <a:ext cx="3685032" cy="320040"/>
          </a:xfrm>
          <a:prstGeom prst="rect">
            <a:avLst/>
          </a:prstGeom>
          <a:noFill/>
          <a:ln/>
        </p:spPr>
        <p:txBody>
          <a:bodyPr wrap="square" lIns="0" tIns="0" rIns="0" bIns="0" rtlCol="0" anchor="t"/>
          <a:lstStyle/>
          <a:p>
            <a:pPr indent="0" marL="0">
              <a:buNone/>
            </a:pPr>
            <a:r>
              <a:rPr lang="en-US" sz="1700" b="1" dirty="0">
                <a:solidFill>
                  <a:schemeClr val="bg1"/>
                </a:solidFill>
              </a:rPr>
              <a:t>Monitoring &amp; Escalation</a:t>
            </a:r>
            <a:endParaRPr lang="en-US" sz="1700" dirty="0"/>
          </a:p>
        </p:txBody>
      </p:sp>
      <p:sp>
        <p:nvSpPr>
          <p:cNvPr id="22" name="text-20"/>
          <p:cNvSpPr txBox="1"/>
          <p:nvPr/>
        </p:nvSpPr>
        <p:spPr>
          <a:xfrm>
            <a:off x="7772400" y="4562856"/>
            <a:ext cx="3685032" cy="274320"/>
          </a:xfrm>
          <a:prstGeom prst="rect">
            <a:avLst/>
          </a:prstGeom>
          <a:noFill/>
          <a:ln/>
        </p:spPr>
        <p:txBody>
          <a:bodyPr wrap="square" lIns="0" tIns="0" rIns="0" bIns="0" rtlCol="0" anchor="t"/>
          <a:lstStyle/>
          <a:p>
            <a:pPr indent="0" marL="0">
              <a:buNone/>
            </a:pPr>
            <a:r>
              <a:rPr lang="en-US" sz="1300" dirty="0">
                <a:solidFill>
                  <a:schemeClr val="bg2"/>
                </a:solidFill>
              </a:rPr>
              <a:t>Tracks SLA, escalates delays</a:t>
            </a:r>
            <a:endParaRPr lang="en-US" sz="1300" dirty="0"/>
          </a:p>
        </p:txBody>
      </p:sp>
      <p:sp>
        <p:nvSpPr>
          <p:cNvPr id="23" name="arrow-21"/>
          <p:cNvSpPr/>
          <p:nvPr/>
        </p:nvSpPr>
        <p:spPr>
          <a:xfrm>
            <a:off x="9569196" y="4928616"/>
            <a:ext cx="0" cy="237744"/>
          </a:xfrm>
          <a:prstGeom prst="line">
            <a:avLst/>
          </a:prstGeom>
          <a:noFill/>
          <a:ln w="22225">
            <a:solidFill>
              <a:schemeClr val="accent2"/>
            </a:solidFill>
            <a:prstDash val="solid"/>
            <a:tailEnd type="triangle"/>
          </a:ln>
        </p:spPr>
      </p:sp>
      <p:sp>
        <p:nvSpPr>
          <p:cNvPr id="24" name="card-22"/>
          <p:cNvSpPr/>
          <p:nvPr/>
        </p:nvSpPr>
        <p:spPr>
          <a:xfrm>
            <a:off x="7498080" y="5184648"/>
            <a:ext cx="4142232" cy="804672"/>
          </a:xfrm>
          <a:prstGeom prst="roundRect">
            <a:avLst>
              <a:gd name="adj" fmla="val 11364"/>
            </a:avLst>
          </a:prstGeom>
          <a:solidFill>
            <a:schemeClr val="accent5"/>
          </a:solidFill>
          <a:ln/>
        </p:spPr>
      </p:sp>
      <p:sp>
        <p:nvSpPr>
          <p:cNvPr id="25" name="text-23"/>
          <p:cNvSpPr txBox="1"/>
          <p:nvPr/>
        </p:nvSpPr>
        <p:spPr>
          <a:xfrm>
            <a:off x="7772400" y="5294376"/>
            <a:ext cx="3685032" cy="320040"/>
          </a:xfrm>
          <a:prstGeom prst="rect">
            <a:avLst/>
          </a:prstGeom>
          <a:noFill/>
          <a:ln/>
        </p:spPr>
        <p:txBody>
          <a:bodyPr wrap="square" lIns="0" tIns="0" rIns="0" bIns="0" rtlCol="0" anchor="t"/>
          <a:lstStyle/>
          <a:p>
            <a:pPr indent="0" marL="0">
              <a:buNone/>
            </a:pPr>
            <a:r>
              <a:rPr lang="en-US" sz="1700" b="1" dirty="0">
                <a:solidFill>
                  <a:schemeClr val="bg1"/>
                </a:solidFill>
              </a:rPr>
              <a:t>Resolved</a:t>
            </a:r>
            <a:endParaRPr lang="en-US" sz="1700" dirty="0"/>
          </a:p>
        </p:txBody>
      </p:sp>
      <p:sp>
        <p:nvSpPr>
          <p:cNvPr id="26" name="text-24"/>
          <p:cNvSpPr txBox="1"/>
          <p:nvPr/>
        </p:nvSpPr>
        <p:spPr>
          <a:xfrm>
            <a:off x="7772400" y="5641848"/>
            <a:ext cx="3685032" cy="274320"/>
          </a:xfrm>
          <a:prstGeom prst="rect">
            <a:avLst/>
          </a:prstGeom>
          <a:noFill/>
          <a:ln/>
        </p:spPr>
        <p:txBody>
          <a:bodyPr wrap="square" lIns="0" tIns="0" rIns="0" bIns="0" rtlCol="0" anchor="t"/>
          <a:lstStyle/>
          <a:p>
            <a:pPr indent="0" marL="0">
              <a:buNone/>
            </a:pPr>
            <a:r>
              <a:rPr lang="en-US" sz="1300" dirty="0">
                <a:solidFill>
                  <a:schemeClr val="bg2"/>
                </a:solidFill>
              </a:rPr>
              <a:t>Citizen informed, case closed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200" b="1" dirty="0">
                <a:solidFill>
                  <a:schemeClr val="tx1"/>
                </a:solidFill>
              </a:rPr>
              <a:t>Citizens Report. Nobody Is Held to the Clock</a:t>
            </a:r>
            <a:endParaRPr lang="en-US" sz="3200" dirty="0"/>
          </a:p>
        </p:txBody>
      </p:sp>
      <p:sp>
        <p:nvSpPr>
          <p:cNvPr id="3" name="card-25"/>
          <p:cNvSpPr/>
          <p:nvPr/>
        </p:nvSpPr>
        <p:spPr>
          <a:xfrm>
            <a:off x="548640" y="1371600"/>
            <a:ext cx="3520440" cy="3703320"/>
          </a:xfrm>
          <a:prstGeom prst="roundRect">
            <a:avLst>
              <a:gd name="adj" fmla="val 2597"/>
            </a:avLst>
          </a:prstGeom>
          <a:solidFill>
            <a:schemeClr val="bg2"/>
          </a:solidFill>
          <a:ln/>
        </p:spPr>
      </p:sp>
      <p:sp>
        <p:nvSpPr>
          <p:cNvPr id="4" name="icon-bg-26"/>
          <p:cNvSpPr/>
          <p:nvPr/>
        </p:nvSpPr>
        <p:spPr>
          <a:xfrm>
            <a:off x="822960" y="1645920"/>
            <a:ext cx="640080" cy="640080"/>
          </a:xfrm>
          <a:prstGeom prst="ellipse">
            <a:avLst/>
          </a:prstGeom>
          <a:solidFill>
            <a:schemeClr val="accent4"/>
          </a:solidFill>
          <a:ln/>
        </p:spPr>
      </p:sp>
      <p:pic>
        <p:nvPicPr>
          <p:cNvPr id="5" name="icon-27" descr="QuestionCircle icon">    </p:cNvPr>
          <p:cNvPicPr>
            <a:picLocks noChangeAspect="1"/>
          </p:cNvPicPr>
          <p:nvPr/>
        </p:nvPicPr>
        <p:blipFill>
          <a:blip r:embed="rId1"/>
          <a:stretch>
            <a:fillRect/>
          </a:stretch>
        </p:blipFill>
        <p:spPr>
          <a:xfrm>
            <a:off x="982980" y="1805940"/>
            <a:ext cx="320040" cy="320040"/>
          </a:xfrm>
          <a:prstGeom prst="rect">
            <a:avLst/>
          </a:prstGeom>
        </p:spPr>
      </p:pic>
      <p:sp>
        <p:nvSpPr>
          <p:cNvPr id="6" name="text-28"/>
          <p:cNvSpPr txBox="1"/>
          <p:nvPr/>
        </p:nvSpPr>
        <p:spPr>
          <a:xfrm>
            <a:off x="2971800" y="1645920"/>
            <a:ext cx="822960" cy="640080"/>
          </a:xfrm>
          <a:prstGeom prst="rect">
            <a:avLst/>
          </a:prstGeom>
          <a:noFill/>
          <a:ln/>
        </p:spPr>
        <p:txBody>
          <a:bodyPr wrap="square" lIns="0" tIns="0" rIns="0" bIns="0" rtlCol="0" anchor="t"/>
          <a:lstStyle/>
          <a:p>
            <a:pPr algn="r" indent="0" marL="0">
              <a:buNone/>
            </a:pPr>
            <a:r>
              <a:rPr lang="en-US" sz="3200" b="1" dirty="0">
                <a:solidFill>
                  <a:schemeClr val="accent6"/>
                </a:solidFill>
                <a:latin typeface="+mj-lt" pitchFamily="34" charset="0"/>
                <a:ea typeface="+mj-lt" pitchFamily="34" charset="-122"/>
                <a:cs typeface="+mj-lt" pitchFamily="34" charset="-120"/>
              </a:rPr>
              <a:t>01</a:t>
            </a:r>
            <a:endParaRPr lang="en-US" sz="3200" dirty="0"/>
          </a:p>
        </p:txBody>
      </p:sp>
      <p:sp>
        <p:nvSpPr>
          <p:cNvPr id="7" name="text-29"/>
          <p:cNvSpPr txBox="1"/>
          <p:nvPr/>
        </p:nvSpPr>
        <p:spPr>
          <a:xfrm>
            <a:off x="822960" y="2514600"/>
            <a:ext cx="2971800" cy="365760"/>
          </a:xfrm>
          <a:prstGeom prst="rect">
            <a:avLst/>
          </a:prstGeom>
          <a:noFill/>
          <a:ln/>
        </p:spPr>
        <p:txBody>
          <a:bodyPr wrap="square" lIns="0" tIns="0" rIns="0" bIns="0" rtlCol="0" anchor="t"/>
          <a:lstStyle/>
          <a:p>
            <a:pPr indent="0" marL="0">
              <a:buNone/>
            </a:pPr>
            <a:r>
              <a:rPr lang="en-US" sz="2000" b="1" dirty="0">
                <a:solidFill>
                  <a:schemeClr val="tx1"/>
                </a:solidFill>
              </a:rPr>
              <a:t>NO CLARITY</a:t>
            </a:r>
            <a:endParaRPr lang="en-US" sz="2000" dirty="0"/>
          </a:p>
        </p:txBody>
      </p:sp>
      <p:sp>
        <p:nvSpPr>
          <p:cNvPr id="8" name="text-30"/>
          <p:cNvSpPr txBox="1"/>
          <p:nvPr/>
        </p:nvSpPr>
        <p:spPr>
          <a:xfrm>
            <a:off x="822960" y="3063240"/>
            <a:ext cx="2971800" cy="1828800"/>
          </a:xfrm>
          <a:prstGeom prst="rect">
            <a:avLst/>
          </a:prstGeom>
          <a:noFill/>
          <a:ln/>
        </p:spPr>
        <p:txBody>
          <a:bodyPr wrap="square" lIns="0" tIns="0" rIns="0" bIns="0" rtlCol="0" anchor="t"/>
          <a:lstStyle/>
          <a:p>
            <a:pPr marL="177800" indent="-177800">
              <a:spcAft>
                <a:spcPts val="1200"/>
              </a:spcAft>
              <a:buSzPct val="100000"/>
              <a:buChar char="•"/>
            </a:pPr>
            <a:r>
              <a:rPr lang="en-US" sz="1800" dirty="0">
                <a:solidFill>
                  <a:schemeClr val="tx2"/>
                </a:solidFill>
              </a:rPr>
              <a:t>How serious is the issue?</a:t>
            </a:r>
            <a:endParaRPr lang="en-US" sz="1800" dirty="0"/>
          </a:p>
          <a:p>
            <a:pPr marL="177800" indent="-177800">
              <a:spcAft>
                <a:spcPts val="1200"/>
              </a:spcAft>
              <a:buSzPct val="100000"/>
              <a:buChar char="•"/>
            </a:pPr>
            <a:r>
              <a:rPr lang="en-US" sz="1800" dirty="0">
                <a:solidFill>
                  <a:schemeClr val="tx2"/>
                </a:solidFill>
              </a:rPr>
              <a:t>When will it be resolved?</a:t>
            </a:r>
            <a:endParaRPr lang="en-US" sz="1800" dirty="0"/>
          </a:p>
          <a:p>
            <a:pPr marL="177800" indent="-177800">
              <a:spcAft>
                <a:spcPts val="1200"/>
              </a:spcAft>
              <a:buSzPct val="100000"/>
              <a:buChar char="•"/>
            </a:pPr>
            <a:r>
              <a:rPr lang="en-US" sz="1800" dirty="0">
                <a:solidFill>
                  <a:schemeClr val="tx2"/>
                </a:solidFill>
              </a:rPr>
              <a:t>Which authority is responsible?</a:t>
            </a:r>
            <a:endParaRPr lang="en-US" sz="1800" dirty="0"/>
          </a:p>
        </p:txBody>
      </p:sp>
      <p:sp>
        <p:nvSpPr>
          <p:cNvPr id="9" name="card-31"/>
          <p:cNvSpPr/>
          <p:nvPr/>
        </p:nvSpPr>
        <p:spPr>
          <a:xfrm>
            <a:off x="4334256" y="1371600"/>
            <a:ext cx="3520440" cy="3703320"/>
          </a:xfrm>
          <a:prstGeom prst="roundRect">
            <a:avLst>
              <a:gd name="adj" fmla="val 2597"/>
            </a:avLst>
          </a:prstGeom>
          <a:solidFill>
            <a:schemeClr val="bg2"/>
          </a:solidFill>
          <a:ln/>
        </p:spPr>
      </p:sp>
      <p:sp>
        <p:nvSpPr>
          <p:cNvPr id="10" name="icon-bg-32"/>
          <p:cNvSpPr/>
          <p:nvPr/>
        </p:nvSpPr>
        <p:spPr>
          <a:xfrm>
            <a:off x="4608576" y="1645920"/>
            <a:ext cx="640080" cy="640080"/>
          </a:xfrm>
          <a:prstGeom prst="ellipse">
            <a:avLst/>
          </a:prstGeom>
          <a:solidFill>
            <a:schemeClr val="accent2"/>
          </a:solidFill>
          <a:ln/>
        </p:spPr>
      </p:sp>
      <p:pic>
        <p:nvPicPr>
          <p:cNvPr id="11" name="icon-33" descr="HourglassHalf icon">    </p:cNvPr>
          <p:cNvPicPr>
            <a:picLocks noChangeAspect="1"/>
          </p:cNvPicPr>
          <p:nvPr/>
        </p:nvPicPr>
        <p:blipFill>
          <a:blip r:embed="rId2"/>
          <a:stretch>
            <a:fillRect/>
          </a:stretch>
        </p:blipFill>
        <p:spPr>
          <a:xfrm>
            <a:off x="4768596" y="1805940"/>
            <a:ext cx="320040" cy="320040"/>
          </a:xfrm>
          <a:prstGeom prst="rect">
            <a:avLst/>
          </a:prstGeom>
        </p:spPr>
      </p:pic>
      <p:sp>
        <p:nvSpPr>
          <p:cNvPr id="12" name="text-34"/>
          <p:cNvSpPr txBox="1"/>
          <p:nvPr/>
        </p:nvSpPr>
        <p:spPr>
          <a:xfrm>
            <a:off x="6757416" y="1645920"/>
            <a:ext cx="822960" cy="640080"/>
          </a:xfrm>
          <a:prstGeom prst="rect">
            <a:avLst/>
          </a:prstGeom>
          <a:noFill/>
          <a:ln/>
        </p:spPr>
        <p:txBody>
          <a:bodyPr wrap="square" lIns="0" tIns="0" rIns="0" bIns="0" rtlCol="0" anchor="t"/>
          <a:lstStyle/>
          <a:p>
            <a:pPr algn="r" indent="0" marL="0">
              <a:buNone/>
            </a:pPr>
            <a:r>
              <a:rPr lang="en-US" sz="3200" b="1" dirty="0">
                <a:solidFill>
                  <a:schemeClr val="accent6"/>
                </a:solidFill>
                <a:latin typeface="+mj-lt" pitchFamily="34" charset="0"/>
                <a:ea typeface="+mj-lt" pitchFamily="34" charset="-122"/>
                <a:cs typeface="+mj-lt" pitchFamily="34" charset="-120"/>
              </a:rPr>
              <a:t>02</a:t>
            </a:r>
            <a:endParaRPr lang="en-US" sz="3200" dirty="0"/>
          </a:p>
        </p:txBody>
      </p:sp>
      <p:sp>
        <p:nvSpPr>
          <p:cNvPr id="13" name="text-35"/>
          <p:cNvSpPr txBox="1"/>
          <p:nvPr/>
        </p:nvSpPr>
        <p:spPr>
          <a:xfrm>
            <a:off x="4608576" y="2514600"/>
            <a:ext cx="2971800" cy="365760"/>
          </a:xfrm>
          <a:prstGeom prst="rect">
            <a:avLst/>
          </a:prstGeom>
          <a:noFill/>
          <a:ln/>
        </p:spPr>
        <p:txBody>
          <a:bodyPr wrap="square" lIns="0" tIns="0" rIns="0" bIns="0" rtlCol="0" anchor="t"/>
          <a:lstStyle/>
          <a:p>
            <a:pPr indent="0" marL="0">
              <a:buNone/>
            </a:pPr>
            <a:r>
              <a:rPr lang="en-US" sz="2000" b="1" dirty="0">
                <a:solidFill>
                  <a:schemeClr val="tx1"/>
                </a:solidFill>
              </a:rPr>
              <a:t>NO ACCOUNTABILITY</a:t>
            </a:r>
            <a:endParaRPr lang="en-US" sz="2000" dirty="0"/>
          </a:p>
        </p:txBody>
      </p:sp>
      <p:sp>
        <p:nvSpPr>
          <p:cNvPr id="14" name="text-36"/>
          <p:cNvSpPr txBox="1"/>
          <p:nvPr/>
        </p:nvSpPr>
        <p:spPr>
          <a:xfrm>
            <a:off x="4608576" y="3063240"/>
            <a:ext cx="2971800" cy="1828800"/>
          </a:xfrm>
          <a:prstGeom prst="rect">
            <a:avLst/>
          </a:prstGeom>
          <a:noFill/>
          <a:ln/>
        </p:spPr>
        <p:txBody>
          <a:bodyPr wrap="square" lIns="0" tIns="0" rIns="0" bIns="0" rtlCol="0" anchor="t"/>
          <a:lstStyle/>
          <a:p>
            <a:pPr marL="177800" indent="-177800">
              <a:spcAft>
                <a:spcPts val="1200"/>
              </a:spcAft>
              <a:buSzPct val="100000"/>
              <a:buChar char="•"/>
            </a:pPr>
            <a:r>
              <a:rPr lang="en-US" sz="1800" dirty="0">
                <a:solidFill>
                  <a:schemeClr val="tx2"/>
                </a:solidFill>
              </a:rPr>
              <a:t>No transparent SLA countdown</a:t>
            </a:r>
            <a:endParaRPr lang="en-US" sz="1800" dirty="0"/>
          </a:p>
          <a:p>
            <a:pPr marL="177800" indent="-177800">
              <a:spcAft>
                <a:spcPts val="1200"/>
              </a:spcAft>
              <a:buSzPct val="100000"/>
              <a:buChar char="•"/>
            </a:pPr>
            <a:r>
              <a:rPr lang="en-US" sz="1800" dirty="0">
                <a:solidFill>
                  <a:schemeClr val="tx2"/>
                </a:solidFill>
              </a:rPr>
              <a:t>No automatic escalation</a:t>
            </a:r>
            <a:endParaRPr lang="en-US" sz="1800" dirty="0"/>
          </a:p>
          <a:p>
            <a:pPr marL="177800" indent="-177800">
              <a:spcAft>
                <a:spcPts val="1200"/>
              </a:spcAft>
              <a:buSzPct val="100000"/>
              <a:buChar char="•"/>
            </a:pPr>
            <a:r>
              <a:rPr lang="en-US" sz="1800" dirty="0">
                <a:solidFill>
                  <a:schemeClr val="tx2"/>
                </a:solidFill>
              </a:rPr>
              <a:t>No tracking of SLA violations</a:t>
            </a:r>
            <a:endParaRPr lang="en-US" sz="1800" dirty="0"/>
          </a:p>
        </p:txBody>
      </p:sp>
      <p:sp>
        <p:nvSpPr>
          <p:cNvPr id="15" name="card-37"/>
          <p:cNvSpPr/>
          <p:nvPr/>
        </p:nvSpPr>
        <p:spPr>
          <a:xfrm>
            <a:off x="8119872" y="1371600"/>
            <a:ext cx="3520440" cy="3703320"/>
          </a:xfrm>
          <a:prstGeom prst="roundRect">
            <a:avLst>
              <a:gd name="adj" fmla="val 2597"/>
            </a:avLst>
          </a:prstGeom>
          <a:solidFill>
            <a:schemeClr val="bg2"/>
          </a:solidFill>
          <a:ln/>
        </p:spPr>
      </p:sp>
      <p:sp>
        <p:nvSpPr>
          <p:cNvPr id="16" name="icon-bg-38"/>
          <p:cNvSpPr/>
          <p:nvPr/>
        </p:nvSpPr>
        <p:spPr>
          <a:xfrm>
            <a:off x="8394192" y="1645920"/>
            <a:ext cx="640080" cy="640080"/>
          </a:xfrm>
          <a:prstGeom prst="ellipse">
            <a:avLst/>
          </a:prstGeom>
          <a:solidFill>
            <a:schemeClr val="accent3"/>
          </a:solidFill>
          <a:ln/>
        </p:spPr>
      </p:sp>
      <p:pic>
        <p:nvPicPr>
          <p:cNvPr id="17" name="icon-39" descr="EyeSlash icon">    </p:cNvPr>
          <p:cNvPicPr>
            <a:picLocks noChangeAspect="1"/>
          </p:cNvPicPr>
          <p:nvPr/>
        </p:nvPicPr>
        <p:blipFill>
          <a:blip r:embed="rId3"/>
          <a:stretch>
            <a:fillRect/>
          </a:stretch>
        </p:blipFill>
        <p:spPr>
          <a:xfrm>
            <a:off x="8554212" y="1805940"/>
            <a:ext cx="320040" cy="320040"/>
          </a:xfrm>
          <a:prstGeom prst="rect">
            <a:avLst/>
          </a:prstGeom>
        </p:spPr>
      </p:pic>
      <p:sp>
        <p:nvSpPr>
          <p:cNvPr id="18" name="text-40"/>
          <p:cNvSpPr txBox="1"/>
          <p:nvPr/>
        </p:nvSpPr>
        <p:spPr>
          <a:xfrm>
            <a:off x="10543032" y="1645920"/>
            <a:ext cx="822960" cy="640080"/>
          </a:xfrm>
          <a:prstGeom prst="rect">
            <a:avLst/>
          </a:prstGeom>
          <a:noFill/>
          <a:ln/>
        </p:spPr>
        <p:txBody>
          <a:bodyPr wrap="square" lIns="0" tIns="0" rIns="0" bIns="0" rtlCol="0" anchor="t"/>
          <a:lstStyle/>
          <a:p>
            <a:pPr algn="r" indent="0" marL="0">
              <a:buNone/>
            </a:pPr>
            <a:r>
              <a:rPr lang="en-US" sz="3200" b="1" dirty="0">
                <a:solidFill>
                  <a:schemeClr val="accent6"/>
                </a:solidFill>
                <a:latin typeface="+mj-lt" pitchFamily="34" charset="0"/>
                <a:ea typeface="+mj-lt" pitchFamily="34" charset="-122"/>
                <a:cs typeface="+mj-lt" pitchFamily="34" charset="-120"/>
              </a:rPr>
              <a:t>03</a:t>
            </a:r>
            <a:endParaRPr lang="en-US" sz="3200" dirty="0"/>
          </a:p>
        </p:txBody>
      </p:sp>
      <p:sp>
        <p:nvSpPr>
          <p:cNvPr id="19" name="text-41"/>
          <p:cNvSpPr txBox="1"/>
          <p:nvPr/>
        </p:nvSpPr>
        <p:spPr>
          <a:xfrm>
            <a:off x="8394192" y="2514600"/>
            <a:ext cx="2971800" cy="365760"/>
          </a:xfrm>
          <a:prstGeom prst="rect">
            <a:avLst/>
          </a:prstGeom>
          <a:noFill/>
          <a:ln/>
        </p:spPr>
        <p:txBody>
          <a:bodyPr wrap="square" lIns="0" tIns="0" rIns="0" bIns="0" rtlCol="0" anchor="t"/>
          <a:lstStyle/>
          <a:p>
            <a:pPr indent="0" marL="0">
              <a:buNone/>
            </a:pPr>
            <a:r>
              <a:rPr lang="en-US" sz="2000" b="1" dirty="0">
                <a:solidFill>
                  <a:schemeClr val="tx1"/>
                </a:solidFill>
              </a:rPr>
              <a:t>NO TRUST</a:t>
            </a:r>
            <a:endParaRPr lang="en-US" sz="2000" dirty="0"/>
          </a:p>
        </p:txBody>
      </p:sp>
      <p:sp>
        <p:nvSpPr>
          <p:cNvPr id="20" name="text-42"/>
          <p:cNvSpPr txBox="1"/>
          <p:nvPr/>
        </p:nvSpPr>
        <p:spPr>
          <a:xfrm>
            <a:off x="8394192" y="3063240"/>
            <a:ext cx="2971800" cy="1828800"/>
          </a:xfrm>
          <a:prstGeom prst="rect">
            <a:avLst/>
          </a:prstGeom>
          <a:noFill/>
          <a:ln/>
        </p:spPr>
        <p:txBody>
          <a:bodyPr wrap="square" lIns="0" tIns="0" rIns="0" bIns="0" rtlCol="0" anchor="t"/>
          <a:lstStyle/>
          <a:p>
            <a:pPr marL="177800" indent="-177800">
              <a:spcAft>
                <a:spcPts val="1200"/>
              </a:spcAft>
              <a:buSzPct val="100000"/>
              <a:buChar char="•"/>
            </a:pPr>
            <a:r>
              <a:rPr lang="en-US" sz="1800" dirty="0">
                <a:solidFill>
                  <a:schemeClr val="tx2"/>
                </a:solidFill>
              </a:rPr>
              <a:t>Fake, duplicate or wrongly located reports</a:t>
            </a:r>
            <a:endParaRPr lang="en-US" sz="1800" dirty="0"/>
          </a:p>
          <a:p>
            <a:pPr marL="177800" indent="-177800">
              <a:spcAft>
                <a:spcPts val="1200"/>
              </a:spcAft>
              <a:buSzPct val="100000"/>
              <a:buChar char="•"/>
            </a:pPr>
            <a:r>
              <a:rPr lang="en-US" sz="1800" dirty="0">
                <a:solidFill>
                  <a:schemeClr val="tx2"/>
                </a:solidFill>
              </a:rPr>
              <a:t>Incomplete reports</a:t>
            </a:r>
            <a:endParaRPr lang="en-US" sz="1800" dirty="0"/>
          </a:p>
          <a:p>
            <a:pPr marL="177800" indent="-177800">
              <a:spcAft>
                <a:spcPts val="1200"/>
              </a:spcAft>
              <a:buSzPct val="100000"/>
              <a:buChar char="•"/>
            </a:pPr>
            <a:r>
              <a:rPr lang="en-US" sz="1800" dirty="0">
                <a:solidFill>
                  <a:schemeClr val="tx2"/>
                </a:solidFill>
              </a:rPr>
              <a:t>Closed without actual resolution</a:t>
            </a:r>
            <a:endParaRPr lang="en-US" sz="1800" dirty="0"/>
          </a:p>
        </p:txBody>
      </p:sp>
      <p:sp>
        <p:nvSpPr>
          <p:cNvPr id="21" name="card-43"/>
          <p:cNvSpPr/>
          <p:nvPr/>
        </p:nvSpPr>
        <p:spPr>
          <a:xfrm>
            <a:off x="548640" y="5349240"/>
            <a:ext cx="11091672" cy="822960"/>
          </a:xfrm>
          <a:prstGeom prst="roundRect">
            <a:avLst>
              <a:gd name="adj" fmla="val 11111"/>
            </a:avLst>
          </a:prstGeom>
          <a:solidFill>
            <a:schemeClr val="tx1"/>
          </a:solidFill>
          <a:ln/>
        </p:spPr>
      </p:sp>
      <p:sp>
        <p:nvSpPr>
          <p:cNvPr id="22" name="text-44"/>
          <p:cNvSpPr txBox="1"/>
          <p:nvPr/>
        </p:nvSpPr>
        <p:spPr>
          <a:xfrm>
            <a:off x="868680" y="5349240"/>
            <a:ext cx="10424160" cy="822960"/>
          </a:xfrm>
          <a:prstGeom prst="rect">
            <a:avLst/>
          </a:prstGeom>
          <a:noFill/>
          <a:ln/>
        </p:spPr>
        <p:txBody>
          <a:bodyPr wrap="square" lIns="0" tIns="0" rIns="0" bIns="0" rtlCol="0" anchor="ctr"/>
          <a:lstStyle/>
          <a:p>
            <a:pPr indent="0" marL="0">
              <a:buNone/>
            </a:pPr>
            <a:r>
              <a:rPr lang="en-US" sz="1700" dirty="0">
                <a:solidFill>
                  <a:schemeClr val="bg1"/>
                </a:solidFill>
              </a:rPr>
              <a:t>Citizens keep chasing updates, while authorities lack a structured way to track pending complaints, SLA breaches and negligence.</a:t>
            </a:r>
            <a:endParaRPr lang="en-US" sz="1700" dirty="0"/>
          </a:p>
        </p:txBody>
      </p:sp>
      <p:sp>
        <p:nvSpPr>
          <p:cNvPr id="25" name="Slide Number Placeholder 0"/>
          <p:cNvSpPr>
            <a:spLocks noGrp="1"/>
          </p:cNvSpPr>
          <p:nvPr>
            <p:ph type="sldNum" sz="quarter" idx="4294967295"/>
          </p:nvPr>
        </p:nvSpPr>
        <p:spPr>
          <a:xfrm>
            <a:off x="10972800" y="6419088"/>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200" b="1" dirty="0">
                <a:solidFill>
                  <a:schemeClr val="tx1"/>
                </a:solidFill>
              </a:rPr>
              <a:t>One System, From Complaint to Resolution</a:t>
            </a:r>
            <a:endParaRPr lang="en-US" sz="3200" dirty="0"/>
          </a:p>
        </p:txBody>
      </p:sp>
      <p:sp>
        <p:nvSpPr>
          <p:cNvPr id="3" name="card-45"/>
          <p:cNvSpPr/>
          <p:nvPr/>
        </p:nvSpPr>
        <p:spPr>
          <a:xfrm>
            <a:off x="548640" y="1371600"/>
            <a:ext cx="2072030" cy="2286000"/>
          </a:xfrm>
          <a:prstGeom prst="roundRect">
            <a:avLst>
              <a:gd name="adj" fmla="val 4413"/>
            </a:avLst>
          </a:prstGeom>
          <a:solidFill>
            <a:schemeClr val="bg2"/>
          </a:solidFill>
          <a:ln/>
        </p:spPr>
      </p:sp>
      <p:sp>
        <p:nvSpPr>
          <p:cNvPr id="4" name="icon-bg-46"/>
          <p:cNvSpPr/>
          <p:nvPr/>
        </p:nvSpPr>
        <p:spPr>
          <a:xfrm>
            <a:off x="731520" y="1645920"/>
            <a:ext cx="548640" cy="548640"/>
          </a:xfrm>
          <a:prstGeom prst="ellipse">
            <a:avLst/>
          </a:prstGeom>
          <a:solidFill>
            <a:schemeClr val="accent1"/>
          </a:solidFill>
          <a:ln/>
        </p:spPr>
      </p:sp>
      <p:pic>
        <p:nvPicPr>
          <p:cNvPr id="5" name="icon-47" descr="Search icon">    </p:cNvPr>
          <p:cNvPicPr>
            <a:picLocks noChangeAspect="1"/>
          </p:cNvPicPr>
          <p:nvPr/>
        </p:nvPicPr>
        <p:blipFill>
          <a:blip r:embed="rId1"/>
          <a:stretch>
            <a:fillRect/>
          </a:stretch>
        </p:blipFill>
        <p:spPr>
          <a:xfrm>
            <a:off x="868680" y="1783080"/>
            <a:ext cx="274320" cy="274320"/>
          </a:xfrm>
          <a:prstGeom prst="rect">
            <a:avLst/>
          </a:prstGeom>
        </p:spPr>
      </p:pic>
      <p:sp>
        <p:nvSpPr>
          <p:cNvPr id="6" name="text-48"/>
          <p:cNvSpPr txBox="1"/>
          <p:nvPr/>
        </p:nvSpPr>
        <p:spPr>
          <a:xfrm>
            <a:off x="1934870" y="1645920"/>
            <a:ext cx="502920" cy="457200"/>
          </a:xfrm>
          <a:prstGeom prst="rect">
            <a:avLst/>
          </a:prstGeom>
          <a:noFill/>
          <a:ln/>
        </p:spPr>
        <p:txBody>
          <a:bodyPr wrap="square" lIns="0" tIns="0" rIns="0" bIns="0" rtlCol="0" anchor="t"/>
          <a:lstStyle/>
          <a:p>
            <a:pPr algn="r" indent="0" marL="0">
              <a:buNone/>
            </a:pPr>
            <a:r>
              <a:rPr lang="en-US" sz="2200" b="1" dirty="0">
                <a:solidFill>
                  <a:schemeClr val="accent6"/>
                </a:solidFill>
                <a:latin typeface="+mj-lt" pitchFamily="34" charset="0"/>
                <a:ea typeface="+mj-lt" pitchFamily="34" charset="-122"/>
                <a:cs typeface="+mj-lt" pitchFamily="34" charset="-120"/>
              </a:rPr>
              <a:t>01</a:t>
            </a:r>
            <a:endParaRPr lang="en-US" sz="2200" dirty="0"/>
          </a:p>
        </p:txBody>
      </p:sp>
      <p:sp>
        <p:nvSpPr>
          <p:cNvPr id="7" name="text-49"/>
          <p:cNvSpPr txBox="1"/>
          <p:nvPr/>
        </p:nvSpPr>
        <p:spPr>
          <a:xfrm>
            <a:off x="777240" y="2423160"/>
            <a:ext cx="1706270" cy="320040"/>
          </a:xfrm>
          <a:prstGeom prst="rect">
            <a:avLst/>
          </a:prstGeom>
          <a:noFill/>
          <a:ln/>
        </p:spPr>
        <p:txBody>
          <a:bodyPr wrap="square" lIns="0" tIns="0" rIns="0" bIns="0" rtlCol="0" anchor="t"/>
          <a:lstStyle/>
          <a:p>
            <a:pPr indent="0" marL="0">
              <a:buNone/>
            </a:pPr>
            <a:r>
              <a:rPr lang="en-US" sz="1700" b="1" dirty="0">
                <a:solidFill>
                  <a:schemeClr val="tx1"/>
                </a:solidFill>
              </a:rPr>
              <a:t>Understand</a:t>
            </a:r>
            <a:endParaRPr lang="en-US" sz="1700" dirty="0"/>
          </a:p>
        </p:txBody>
      </p:sp>
      <p:sp>
        <p:nvSpPr>
          <p:cNvPr id="8" name="text-50"/>
          <p:cNvSpPr txBox="1"/>
          <p:nvPr/>
        </p:nvSpPr>
        <p:spPr>
          <a:xfrm>
            <a:off x="777240" y="2788920"/>
            <a:ext cx="1706270" cy="777240"/>
          </a:xfrm>
          <a:prstGeom prst="rect">
            <a:avLst/>
          </a:prstGeom>
          <a:noFill/>
          <a:ln/>
        </p:spPr>
        <p:txBody>
          <a:bodyPr wrap="square" lIns="0" tIns="0" rIns="0" bIns="0" rtlCol="0" anchor="t"/>
          <a:lstStyle/>
          <a:p>
            <a:pPr indent="0" marL="0">
              <a:buNone/>
            </a:pPr>
            <a:r>
              <a:rPr lang="en-US" sz="1400" dirty="0">
                <a:solidFill>
                  <a:schemeClr val="tx2"/>
                </a:solidFill>
              </a:rPr>
              <a:t>AI classifies and prioritizes the complaint</a:t>
            </a:r>
            <a:endParaRPr lang="en-US" sz="1400" dirty="0"/>
          </a:p>
        </p:txBody>
      </p:sp>
      <p:sp>
        <p:nvSpPr>
          <p:cNvPr id="9" name="card-51"/>
          <p:cNvSpPr/>
          <p:nvPr/>
        </p:nvSpPr>
        <p:spPr>
          <a:xfrm>
            <a:off x="2803550" y="1371600"/>
            <a:ext cx="2072030" cy="2286000"/>
          </a:xfrm>
          <a:prstGeom prst="roundRect">
            <a:avLst>
              <a:gd name="adj" fmla="val 4413"/>
            </a:avLst>
          </a:prstGeom>
          <a:solidFill>
            <a:schemeClr val="bg2"/>
          </a:solidFill>
          <a:ln/>
        </p:spPr>
      </p:sp>
      <p:sp>
        <p:nvSpPr>
          <p:cNvPr id="10" name="icon-bg-52"/>
          <p:cNvSpPr/>
          <p:nvPr/>
        </p:nvSpPr>
        <p:spPr>
          <a:xfrm>
            <a:off x="2986430" y="1645920"/>
            <a:ext cx="548640" cy="548640"/>
          </a:xfrm>
          <a:prstGeom prst="ellipse">
            <a:avLst/>
          </a:prstGeom>
          <a:solidFill>
            <a:schemeClr val="accent1"/>
          </a:solidFill>
          <a:ln/>
        </p:spPr>
      </p:sp>
      <p:pic>
        <p:nvPicPr>
          <p:cNvPr id="11" name="icon-53" descr="Route icon">    </p:cNvPr>
          <p:cNvPicPr>
            <a:picLocks noChangeAspect="1"/>
          </p:cNvPicPr>
          <p:nvPr/>
        </p:nvPicPr>
        <p:blipFill>
          <a:blip r:embed="rId2"/>
          <a:stretch>
            <a:fillRect/>
          </a:stretch>
        </p:blipFill>
        <p:spPr>
          <a:xfrm>
            <a:off x="3123590" y="1783080"/>
            <a:ext cx="274320" cy="274320"/>
          </a:xfrm>
          <a:prstGeom prst="rect">
            <a:avLst/>
          </a:prstGeom>
        </p:spPr>
      </p:pic>
      <p:sp>
        <p:nvSpPr>
          <p:cNvPr id="12" name="text-54"/>
          <p:cNvSpPr txBox="1"/>
          <p:nvPr/>
        </p:nvSpPr>
        <p:spPr>
          <a:xfrm>
            <a:off x="4189781" y="1645920"/>
            <a:ext cx="502920" cy="457200"/>
          </a:xfrm>
          <a:prstGeom prst="rect">
            <a:avLst/>
          </a:prstGeom>
          <a:noFill/>
          <a:ln/>
        </p:spPr>
        <p:txBody>
          <a:bodyPr wrap="square" lIns="0" tIns="0" rIns="0" bIns="0" rtlCol="0" anchor="t"/>
          <a:lstStyle/>
          <a:p>
            <a:pPr algn="r" indent="0" marL="0">
              <a:buNone/>
            </a:pPr>
            <a:r>
              <a:rPr lang="en-US" sz="2200" b="1" dirty="0">
                <a:solidFill>
                  <a:schemeClr val="accent6"/>
                </a:solidFill>
                <a:latin typeface="+mj-lt" pitchFamily="34" charset="0"/>
                <a:ea typeface="+mj-lt" pitchFamily="34" charset="-122"/>
                <a:cs typeface="+mj-lt" pitchFamily="34" charset="-120"/>
              </a:rPr>
              <a:t>02</a:t>
            </a:r>
            <a:endParaRPr lang="en-US" sz="2200" dirty="0"/>
          </a:p>
        </p:txBody>
      </p:sp>
      <p:sp>
        <p:nvSpPr>
          <p:cNvPr id="13" name="text-55"/>
          <p:cNvSpPr txBox="1"/>
          <p:nvPr/>
        </p:nvSpPr>
        <p:spPr>
          <a:xfrm>
            <a:off x="3032150" y="2423160"/>
            <a:ext cx="1706270" cy="320040"/>
          </a:xfrm>
          <a:prstGeom prst="rect">
            <a:avLst/>
          </a:prstGeom>
          <a:noFill/>
          <a:ln/>
        </p:spPr>
        <p:txBody>
          <a:bodyPr wrap="square" lIns="0" tIns="0" rIns="0" bIns="0" rtlCol="0" anchor="t"/>
          <a:lstStyle/>
          <a:p>
            <a:pPr indent="0" marL="0">
              <a:buNone/>
            </a:pPr>
            <a:r>
              <a:rPr lang="en-US" sz="1700" b="1" dirty="0">
                <a:solidFill>
                  <a:schemeClr val="tx1"/>
                </a:solidFill>
              </a:rPr>
              <a:t>Route</a:t>
            </a:r>
            <a:endParaRPr lang="en-US" sz="1700" dirty="0"/>
          </a:p>
        </p:txBody>
      </p:sp>
      <p:sp>
        <p:nvSpPr>
          <p:cNvPr id="14" name="text-56"/>
          <p:cNvSpPr txBox="1"/>
          <p:nvPr/>
        </p:nvSpPr>
        <p:spPr>
          <a:xfrm>
            <a:off x="3032150" y="2788920"/>
            <a:ext cx="1706270" cy="777240"/>
          </a:xfrm>
          <a:prstGeom prst="rect">
            <a:avLst/>
          </a:prstGeom>
          <a:noFill/>
          <a:ln/>
        </p:spPr>
        <p:txBody>
          <a:bodyPr wrap="square" lIns="0" tIns="0" rIns="0" bIns="0" rtlCol="0" anchor="t"/>
          <a:lstStyle/>
          <a:p>
            <a:pPr indent="0" marL="0">
              <a:buNone/>
            </a:pPr>
            <a:r>
              <a:rPr lang="en-US" sz="1400" dirty="0">
                <a:solidFill>
                  <a:schemeClr val="tx2"/>
                </a:solidFill>
              </a:rPr>
              <a:t>Finds the department, jurisdiction and SLA</a:t>
            </a:r>
            <a:endParaRPr lang="en-US" sz="1400" dirty="0"/>
          </a:p>
        </p:txBody>
      </p:sp>
      <p:sp>
        <p:nvSpPr>
          <p:cNvPr id="15" name="card-57"/>
          <p:cNvSpPr/>
          <p:nvPr/>
        </p:nvSpPr>
        <p:spPr>
          <a:xfrm>
            <a:off x="5058461" y="1371600"/>
            <a:ext cx="2072030" cy="2286000"/>
          </a:xfrm>
          <a:prstGeom prst="roundRect">
            <a:avLst>
              <a:gd name="adj" fmla="val 4413"/>
            </a:avLst>
          </a:prstGeom>
          <a:solidFill>
            <a:schemeClr val="bg2"/>
          </a:solidFill>
          <a:ln/>
        </p:spPr>
      </p:sp>
      <p:sp>
        <p:nvSpPr>
          <p:cNvPr id="16" name="icon-bg-58"/>
          <p:cNvSpPr/>
          <p:nvPr/>
        </p:nvSpPr>
        <p:spPr>
          <a:xfrm>
            <a:off x="5241341" y="1645920"/>
            <a:ext cx="548640" cy="548640"/>
          </a:xfrm>
          <a:prstGeom prst="ellipse">
            <a:avLst/>
          </a:prstGeom>
          <a:solidFill>
            <a:schemeClr val="accent1"/>
          </a:solidFill>
          <a:ln/>
        </p:spPr>
      </p:sp>
      <p:pic>
        <p:nvPicPr>
          <p:cNvPr id="17" name="icon-59" descr="UserCheck icon">    </p:cNvPr>
          <p:cNvPicPr>
            <a:picLocks noChangeAspect="1"/>
          </p:cNvPicPr>
          <p:nvPr/>
        </p:nvPicPr>
        <p:blipFill>
          <a:blip r:embed="rId3"/>
          <a:stretch>
            <a:fillRect/>
          </a:stretch>
        </p:blipFill>
        <p:spPr>
          <a:xfrm>
            <a:off x="5378501" y="1783080"/>
            <a:ext cx="274320" cy="274320"/>
          </a:xfrm>
          <a:prstGeom prst="rect">
            <a:avLst/>
          </a:prstGeom>
        </p:spPr>
      </p:pic>
      <p:sp>
        <p:nvSpPr>
          <p:cNvPr id="18" name="text-60"/>
          <p:cNvSpPr txBox="1"/>
          <p:nvPr/>
        </p:nvSpPr>
        <p:spPr>
          <a:xfrm>
            <a:off x="6444691" y="1645920"/>
            <a:ext cx="502920" cy="457200"/>
          </a:xfrm>
          <a:prstGeom prst="rect">
            <a:avLst/>
          </a:prstGeom>
          <a:noFill/>
          <a:ln/>
        </p:spPr>
        <p:txBody>
          <a:bodyPr wrap="square" lIns="0" tIns="0" rIns="0" bIns="0" rtlCol="0" anchor="t"/>
          <a:lstStyle/>
          <a:p>
            <a:pPr algn="r" indent="0" marL="0">
              <a:buNone/>
            </a:pPr>
            <a:r>
              <a:rPr lang="en-US" sz="2200" b="1" dirty="0">
                <a:solidFill>
                  <a:schemeClr val="accent6"/>
                </a:solidFill>
                <a:latin typeface="+mj-lt" pitchFamily="34" charset="0"/>
                <a:ea typeface="+mj-lt" pitchFamily="34" charset="-122"/>
                <a:cs typeface="+mj-lt" pitchFamily="34" charset="-120"/>
              </a:rPr>
              <a:t>03</a:t>
            </a:r>
            <a:endParaRPr lang="en-US" sz="2200" dirty="0"/>
          </a:p>
        </p:txBody>
      </p:sp>
      <p:sp>
        <p:nvSpPr>
          <p:cNvPr id="19" name="text-61"/>
          <p:cNvSpPr txBox="1"/>
          <p:nvPr/>
        </p:nvSpPr>
        <p:spPr>
          <a:xfrm>
            <a:off x="5287061" y="2423160"/>
            <a:ext cx="1706270" cy="320040"/>
          </a:xfrm>
          <a:prstGeom prst="rect">
            <a:avLst/>
          </a:prstGeom>
          <a:noFill/>
          <a:ln/>
        </p:spPr>
        <p:txBody>
          <a:bodyPr wrap="square" lIns="0" tIns="0" rIns="0" bIns="0" rtlCol="0" anchor="t"/>
          <a:lstStyle/>
          <a:p>
            <a:pPr indent="0" marL="0">
              <a:buNone/>
            </a:pPr>
            <a:r>
              <a:rPr lang="en-US" sz="1700" b="1" dirty="0">
                <a:solidFill>
                  <a:schemeClr val="tx1"/>
                </a:solidFill>
              </a:rPr>
              <a:t>Assign</a:t>
            </a:r>
            <a:endParaRPr lang="en-US" sz="1700" dirty="0"/>
          </a:p>
        </p:txBody>
      </p:sp>
      <p:sp>
        <p:nvSpPr>
          <p:cNvPr id="20" name="text-62"/>
          <p:cNvSpPr txBox="1"/>
          <p:nvPr/>
        </p:nvSpPr>
        <p:spPr>
          <a:xfrm>
            <a:off x="5287061" y="2788920"/>
            <a:ext cx="1706270" cy="777240"/>
          </a:xfrm>
          <a:prstGeom prst="rect">
            <a:avLst/>
          </a:prstGeom>
          <a:noFill/>
          <a:ln/>
        </p:spPr>
        <p:txBody>
          <a:bodyPr wrap="square" lIns="0" tIns="0" rIns="0" bIns="0" rtlCol="0" anchor="t"/>
          <a:lstStyle/>
          <a:p>
            <a:pPr indent="0" marL="0">
              <a:buNone/>
            </a:pPr>
            <a:r>
              <a:rPr lang="en-US" sz="1400" dirty="0">
                <a:solidFill>
                  <a:schemeClr val="tx2"/>
                </a:solidFill>
              </a:rPr>
              <a:t>Right officer or team, notified automatically</a:t>
            </a:r>
            <a:endParaRPr lang="en-US" sz="1400" dirty="0"/>
          </a:p>
        </p:txBody>
      </p:sp>
      <p:sp>
        <p:nvSpPr>
          <p:cNvPr id="21" name="card-63"/>
          <p:cNvSpPr/>
          <p:nvPr/>
        </p:nvSpPr>
        <p:spPr>
          <a:xfrm>
            <a:off x="7313371" y="1371600"/>
            <a:ext cx="2072030" cy="2286000"/>
          </a:xfrm>
          <a:prstGeom prst="roundRect">
            <a:avLst>
              <a:gd name="adj" fmla="val 4413"/>
            </a:avLst>
          </a:prstGeom>
          <a:solidFill>
            <a:schemeClr val="bg2"/>
          </a:solidFill>
          <a:ln/>
        </p:spPr>
      </p:sp>
      <p:sp>
        <p:nvSpPr>
          <p:cNvPr id="22" name="icon-bg-64"/>
          <p:cNvSpPr/>
          <p:nvPr/>
        </p:nvSpPr>
        <p:spPr>
          <a:xfrm>
            <a:off x="7496251" y="1645920"/>
            <a:ext cx="548640" cy="548640"/>
          </a:xfrm>
          <a:prstGeom prst="ellipse">
            <a:avLst/>
          </a:prstGeom>
          <a:solidFill>
            <a:schemeClr val="accent1"/>
          </a:solidFill>
          <a:ln/>
        </p:spPr>
      </p:sp>
      <p:pic>
        <p:nvPicPr>
          <p:cNvPr id="23" name="icon-65" descr="Eye icon">    </p:cNvPr>
          <p:cNvPicPr>
            <a:picLocks noChangeAspect="1"/>
          </p:cNvPicPr>
          <p:nvPr/>
        </p:nvPicPr>
        <p:blipFill>
          <a:blip r:embed="rId4"/>
          <a:stretch>
            <a:fillRect/>
          </a:stretch>
        </p:blipFill>
        <p:spPr>
          <a:xfrm>
            <a:off x="7633411" y="1783080"/>
            <a:ext cx="274320" cy="274320"/>
          </a:xfrm>
          <a:prstGeom prst="rect">
            <a:avLst/>
          </a:prstGeom>
        </p:spPr>
      </p:pic>
      <p:sp>
        <p:nvSpPr>
          <p:cNvPr id="24" name="text-66"/>
          <p:cNvSpPr txBox="1"/>
          <p:nvPr/>
        </p:nvSpPr>
        <p:spPr>
          <a:xfrm>
            <a:off x="8699602" y="1645920"/>
            <a:ext cx="502920" cy="457200"/>
          </a:xfrm>
          <a:prstGeom prst="rect">
            <a:avLst/>
          </a:prstGeom>
          <a:noFill/>
          <a:ln/>
        </p:spPr>
        <p:txBody>
          <a:bodyPr wrap="square" lIns="0" tIns="0" rIns="0" bIns="0" rtlCol="0" anchor="t"/>
          <a:lstStyle/>
          <a:p>
            <a:pPr algn="r" indent="0" marL="0">
              <a:buNone/>
            </a:pPr>
            <a:r>
              <a:rPr lang="en-US" sz="2200" b="1" dirty="0">
                <a:solidFill>
                  <a:schemeClr val="accent6"/>
                </a:solidFill>
                <a:latin typeface="+mj-lt" pitchFamily="34" charset="0"/>
                <a:ea typeface="+mj-lt" pitchFamily="34" charset="-122"/>
                <a:cs typeface="+mj-lt" pitchFamily="34" charset="-120"/>
              </a:rPr>
              <a:t>04</a:t>
            </a:r>
            <a:endParaRPr lang="en-US" sz="2200" dirty="0"/>
          </a:p>
        </p:txBody>
      </p:sp>
      <p:sp>
        <p:nvSpPr>
          <p:cNvPr id="25" name="text-67"/>
          <p:cNvSpPr txBox="1"/>
          <p:nvPr/>
        </p:nvSpPr>
        <p:spPr>
          <a:xfrm>
            <a:off x="7541971" y="2423160"/>
            <a:ext cx="1706270" cy="320040"/>
          </a:xfrm>
          <a:prstGeom prst="rect">
            <a:avLst/>
          </a:prstGeom>
          <a:noFill/>
          <a:ln/>
        </p:spPr>
        <p:txBody>
          <a:bodyPr wrap="square" lIns="0" tIns="0" rIns="0" bIns="0" rtlCol="0" anchor="t"/>
          <a:lstStyle/>
          <a:p>
            <a:pPr indent="0" marL="0">
              <a:buNone/>
            </a:pPr>
            <a:r>
              <a:rPr lang="en-US" sz="1700" b="1" dirty="0">
                <a:solidFill>
                  <a:schemeClr val="tx1"/>
                </a:solidFill>
              </a:rPr>
              <a:t>Monitor</a:t>
            </a:r>
            <a:endParaRPr lang="en-US" sz="1700" dirty="0"/>
          </a:p>
        </p:txBody>
      </p:sp>
      <p:sp>
        <p:nvSpPr>
          <p:cNvPr id="26" name="text-68"/>
          <p:cNvSpPr txBox="1"/>
          <p:nvPr/>
        </p:nvSpPr>
        <p:spPr>
          <a:xfrm>
            <a:off x="7541971" y="2788920"/>
            <a:ext cx="1706270" cy="777240"/>
          </a:xfrm>
          <a:prstGeom prst="rect">
            <a:avLst/>
          </a:prstGeom>
          <a:noFill/>
          <a:ln/>
        </p:spPr>
        <p:txBody>
          <a:bodyPr wrap="square" lIns="0" tIns="0" rIns="0" bIns="0" rtlCol="0" anchor="t"/>
          <a:lstStyle/>
          <a:p>
            <a:pPr indent="0" marL="0">
              <a:buNone/>
            </a:pPr>
            <a:r>
              <a:rPr lang="en-US" sz="1400" dirty="0">
                <a:solidFill>
                  <a:schemeClr val="tx2"/>
                </a:solidFill>
              </a:rPr>
              <a:t>Tracks status and SLA deadlines</a:t>
            </a:r>
            <a:endParaRPr lang="en-US" sz="1400" dirty="0"/>
          </a:p>
        </p:txBody>
      </p:sp>
      <p:sp>
        <p:nvSpPr>
          <p:cNvPr id="27" name="card-69"/>
          <p:cNvSpPr/>
          <p:nvPr/>
        </p:nvSpPr>
        <p:spPr>
          <a:xfrm>
            <a:off x="9568282" y="1371600"/>
            <a:ext cx="2072030" cy="2286000"/>
          </a:xfrm>
          <a:prstGeom prst="roundRect">
            <a:avLst>
              <a:gd name="adj" fmla="val 4413"/>
            </a:avLst>
          </a:prstGeom>
          <a:solidFill>
            <a:schemeClr val="bg2"/>
          </a:solidFill>
          <a:ln/>
        </p:spPr>
      </p:sp>
      <p:sp>
        <p:nvSpPr>
          <p:cNvPr id="28" name="icon-bg-70"/>
          <p:cNvSpPr/>
          <p:nvPr/>
        </p:nvSpPr>
        <p:spPr>
          <a:xfrm>
            <a:off x="9751162" y="1645920"/>
            <a:ext cx="548640" cy="548640"/>
          </a:xfrm>
          <a:prstGeom prst="ellipse">
            <a:avLst/>
          </a:prstGeom>
          <a:solidFill>
            <a:schemeClr val="accent3"/>
          </a:solidFill>
          <a:ln/>
        </p:spPr>
      </p:sp>
      <p:pic>
        <p:nvPicPr>
          <p:cNvPr id="29" name="icon-71" descr="LevelUpAlt icon">    </p:cNvPr>
          <p:cNvPicPr>
            <a:picLocks noChangeAspect="1"/>
          </p:cNvPicPr>
          <p:nvPr/>
        </p:nvPicPr>
        <p:blipFill>
          <a:blip r:embed="rId5"/>
          <a:stretch>
            <a:fillRect/>
          </a:stretch>
        </p:blipFill>
        <p:spPr>
          <a:xfrm>
            <a:off x="9888322" y="1783080"/>
            <a:ext cx="274320" cy="274320"/>
          </a:xfrm>
          <a:prstGeom prst="rect">
            <a:avLst/>
          </a:prstGeom>
        </p:spPr>
      </p:pic>
      <p:sp>
        <p:nvSpPr>
          <p:cNvPr id="30" name="text-72"/>
          <p:cNvSpPr txBox="1"/>
          <p:nvPr/>
        </p:nvSpPr>
        <p:spPr>
          <a:xfrm>
            <a:off x="10954512" y="1645920"/>
            <a:ext cx="502920" cy="457200"/>
          </a:xfrm>
          <a:prstGeom prst="rect">
            <a:avLst/>
          </a:prstGeom>
          <a:noFill/>
          <a:ln/>
        </p:spPr>
        <p:txBody>
          <a:bodyPr wrap="square" lIns="0" tIns="0" rIns="0" bIns="0" rtlCol="0" anchor="t"/>
          <a:lstStyle/>
          <a:p>
            <a:pPr algn="r" indent="0" marL="0">
              <a:buNone/>
            </a:pPr>
            <a:r>
              <a:rPr lang="en-US" sz="2200" b="1" dirty="0">
                <a:solidFill>
                  <a:schemeClr val="accent6"/>
                </a:solidFill>
                <a:latin typeface="+mj-lt" pitchFamily="34" charset="0"/>
                <a:ea typeface="+mj-lt" pitchFamily="34" charset="-122"/>
                <a:cs typeface="+mj-lt" pitchFamily="34" charset="-120"/>
              </a:rPr>
              <a:t>05</a:t>
            </a:r>
            <a:endParaRPr lang="en-US" sz="2200" dirty="0"/>
          </a:p>
        </p:txBody>
      </p:sp>
      <p:sp>
        <p:nvSpPr>
          <p:cNvPr id="31" name="text-73"/>
          <p:cNvSpPr txBox="1"/>
          <p:nvPr/>
        </p:nvSpPr>
        <p:spPr>
          <a:xfrm>
            <a:off x="9796882" y="2423160"/>
            <a:ext cx="1706270" cy="320040"/>
          </a:xfrm>
          <a:prstGeom prst="rect">
            <a:avLst/>
          </a:prstGeom>
          <a:noFill/>
          <a:ln/>
        </p:spPr>
        <p:txBody>
          <a:bodyPr wrap="square" lIns="0" tIns="0" rIns="0" bIns="0" rtlCol="0" anchor="t"/>
          <a:lstStyle/>
          <a:p>
            <a:pPr indent="0" marL="0">
              <a:buNone/>
            </a:pPr>
            <a:r>
              <a:rPr lang="en-US" sz="1700" b="1" dirty="0">
                <a:solidFill>
                  <a:schemeClr val="tx1"/>
                </a:solidFill>
              </a:rPr>
              <a:t>Escalate &amp; inform</a:t>
            </a:r>
            <a:endParaRPr lang="en-US" sz="1700" dirty="0"/>
          </a:p>
        </p:txBody>
      </p:sp>
      <p:sp>
        <p:nvSpPr>
          <p:cNvPr id="32" name="text-74"/>
          <p:cNvSpPr txBox="1"/>
          <p:nvPr/>
        </p:nvSpPr>
        <p:spPr>
          <a:xfrm>
            <a:off x="9796882" y="2788920"/>
            <a:ext cx="1706270" cy="777240"/>
          </a:xfrm>
          <a:prstGeom prst="rect">
            <a:avLst/>
          </a:prstGeom>
          <a:noFill/>
          <a:ln/>
        </p:spPr>
        <p:txBody>
          <a:bodyPr wrap="square" lIns="0" tIns="0" rIns="0" bIns="0" rtlCol="0" anchor="t"/>
          <a:lstStyle/>
          <a:p>
            <a:pPr indent="0" marL="0">
              <a:buNone/>
            </a:pPr>
            <a:r>
              <a:rPr lang="en-US" sz="1400" dirty="0">
                <a:solidFill>
                  <a:schemeClr val="tx2"/>
                </a:solidFill>
              </a:rPr>
              <a:t>Escalates delays; keeps the citizen updated</a:t>
            </a:r>
            <a:endParaRPr lang="en-US" sz="1400" dirty="0"/>
          </a:p>
        </p:txBody>
      </p:sp>
      <p:sp>
        <p:nvSpPr>
          <p:cNvPr id="33" name="card-75"/>
          <p:cNvSpPr/>
          <p:nvPr/>
        </p:nvSpPr>
        <p:spPr>
          <a:xfrm>
            <a:off x="548640" y="3931920"/>
            <a:ext cx="6309360" cy="2194560"/>
          </a:xfrm>
          <a:prstGeom prst="roundRect">
            <a:avLst>
              <a:gd name="adj" fmla="val 4167"/>
            </a:avLst>
          </a:prstGeom>
          <a:solidFill>
            <a:schemeClr val="tx1"/>
          </a:solidFill>
          <a:ln/>
        </p:spPr>
      </p:sp>
      <p:sp>
        <p:nvSpPr>
          <p:cNvPr id="34" name="text-76"/>
          <p:cNvSpPr txBox="1"/>
          <p:nvPr/>
        </p:nvSpPr>
        <p:spPr>
          <a:xfrm>
            <a:off x="868680" y="4160520"/>
            <a:ext cx="45720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CORE VALUE PROPOSITION</a:t>
            </a:r>
            <a:endParaRPr lang="en-US" sz="1200" dirty="0"/>
          </a:p>
        </p:txBody>
      </p:sp>
      <p:sp>
        <p:nvSpPr>
          <p:cNvPr id="35" name="text-77"/>
          <p:cNvSpPr txBox="1"/>
          <p:nvPr/>
        </p:nvSpPr>
        <p:spPr>
          <a:xfrm>
            <a:off x="868680" y="4526280"/>
            <a:ext cx="5669280" cy="1463040"/>
          </a:xfrm>
          <a:prstGeom prst="rect">
            <a:avLst/>
          </a:prstGeom>
          <a:noFill/>
          <a:ln/>
        </p:spPr>
        <p:txBody>
          <a:bodyPr wrap="square" lIns="0" tIns="0" rIns="0" bIns="0" rtlCol="0" anchor="t"/>
          <a:lstStyle/>
          <a:p>
            <a:pPr indent="0" marL="0">
              <a:buNone/>
            </a:pPr>
            <a:r>
              <a:rPr lang="en-US" sz="1700" dirty="0">
                <a:solidFill>
                  <a:schemeClr val="bg1"/>
                </a:solidFill>
              </a:rPr>
              <a:t>The system automatically understands a citizen’s complaint, decides where it should go, assigns it to the right authority, monitors its progress, escalates delays, and keeps the citizen informed until resolution.</a:t>
            </a:r>
            <a:endParaRPr lang="en-US" sz="1700" dirty="0"/>
          </a:p>
        </p:txBody>
      </p:sp>
      <p:sp>
        <p:nvSpPr>
          <p:cNvPr id="36" name="card-78"/>
          <p:cNvSpPr/>
          <p:nvPr/>
        </p:nvSpPr>
        <p:spPr>
          <a:xfrm>
            <a:off x="7132320" y="3931920"/>
            <a:ext cx="1417320" cy="2194560"/>
          </a:xfrm>
          <a:prstGeom prst="roundRect">
            <a:avLst>
              <a:gd name="adj" fmla="val 6452"/>
            </a:avLst>
          </a:prstGeom>
          <a:solidFill>
            <a:schemeClr val="bg2"/>
          </a:solidFill>
          <a:ln/>
        </p:spPr>
      </p:sp>
      <p:sp>
        <p:nvSpPr>
          <p:cNvPr id="37" name="text-79"/>
          <p:cNvSpPr txBox="1"/>
          <p:nvPr/>
        </p:nvSpPr>
        <p:spPr>
          <a:xfrm>
            <a:off x="7132320" y="4160520"/>
            <a:ext cx="1417320" cy="868680"/>
          </a:xfrm>
          <a:prstGeom prst="rect">
            <a:avLst/>
          </a:prstGeom>
          <a:noFill/>
          <a:ln/>
        </p:spPr>
        <p:txBody>
          <a:bodyPr wrap="square" lIns="0" tIns="0" rIns="0" bIns="0" rtlCol="0" anchor="t"/>
          <a:lstStyle/>
          <a:p>
            <a:pPr algn="ctr" indent="0" marL="0">
              <a:buNone/>
            </a:pPr>
            <a:r>
              <a:rPr lang="en-US" sz="5400" b="1" dirty="0">
                <a:solidFill>
                  <a:schemeClr val="accent1"/>
                </a:solidFill>
                <a:latin typeface="+mj-lt" pitchFamily="34" charset="0"/>
                <a:ea typeface="+mj-lt" pitchFamily="34" charset="-122"/>
                <a:cs typeface="+mj-lt" pitchFamily="34" charset="-120"/>
              </a:rPr>
              <a:t>3</a:t>
            </a:r>
            <a:endParaRPr lang="en-US" sz="5400" dirty="0"/>
          </a:p>
        </p:txBody>
      </p:sp>
      <p:sp>
        <p:nvSpPr>
          <p:cNvPr id="38" name="text-80"/>
          <p:cNvSpPr txBox="1"/>
          <p:nvPr/>
        </p:nvSpPr>
        <p:spPr>
          <a:xfrm>
            <a:off x="7269480" y="5120640"/>
            <a:ext cx="1143000" cy="731520"/>
          </a:xfrm>
          <a:prstGeom prst="rect">
            <a:avLst/>
          </a:prstGeom>
          <a:noFill/>
          <a:ln/>
        </p:spPr>
        <p:txBody>
          <a:bodyPr wrap="square" lIns="0" tIns="0" rIns="0" bIns="0" rtlCol="0" anchor="t"/>
          <a:lstStyle/>
          <a:p>
            <a:pPr algn="ctr" indent="0" marL="0">
              <a:buNone/>
            </a:pPr>
            <a:r>
              <a:rPr lang="en-US" sz="1400" dirty="0">
                <a:solidFill>
                  <a:schemeClr val="tx2"/>
                </a:solidFill>
              </a:rPr>
              <a:t>specialized AI agents</a:t>
            </a:r>
            <a:endParaRPr lang="en-US" sz="1400" dirty="0"/>
          </a:p>
        </p:txBody>
      </p:sp>
      <p:sp>
        <p:nvSpPr>
          <p:cNvPr id="39" name="card-81"/>
          <p:cNvSpPr/>
          <p:nvPr/>
        </p:nvSpPr>
        <p:spPr>
          <a:xfrm>
            <a:off x="8677656" y="3931920"/>
            <a:ext cx="1417320" cy="2194560"/>
          </a:xfrm>
          <a:prstGeom prst="roundRect">
            <a:avLst>
              <a:gd name="adj" fmla="val 6452"/>
            </a:avLst>
          </a:prstGeom>
          <a:solidFill>
            <a:schemeClr val="bg2"/>
          </a:solidFill>
          <a:ln/>
        </p:spPr>
      </p:sp>
      <p:sp>
        <p:nvSpPr>
          <p:cNvPr id="40" name="text-82"/>
          <p:cNvSpPr txBox="1"/>
          <p:nvPr/>
        </p:nvSpPr>
        <p:spPr>
          <a:xfrm>
            <a:off x="8677656" y="4160520"/>
            <a:ext cx="1417320" cy="868680"/>
          </a:xfrm>
          <a:prstGeom prst="rect">
            <a:avLst/>
          </a:prstGeom>
          <a:noFill/>
          <a:ln/>
        </p:spPr>
        <p:txBody>
          <a:bodyPr wrap="square" lIns="0" tIns="0" rIns="0" bIns="0" rtlCol="0" anchor="t"/>
          <a:lstStyle/>
          <a:p>
            <a:pPr algn="ctr" indent="0" marL="0">
              <a:buNone/>
            </a:pPr>
            <a:r>
              <a:rPr lang="en-US" sz="5400" b="1" dirty="0">
                <a:solidFill>
                  <a:schemeClr val="accent1"/>
                </a:solidFill>
                <a:latin typeface="+mj-lt" pitchFamily="34" charset="0"/>
                <a:ea typeface="+mj-lt" pitchFamily="34" charset="-122"/>
                <a:cs typeface="+mj-lt" pitchFamily="34" charset="-120"/>
              </a:rPr>
              <a:t>8</a:t>
            </a:r>
            <a:endParaRPr lang="en-US" sz="5400" dirty="0"/>
          </a:p>
        </p:txBody>
      </p:sp>
      <p:sp>
        <p:nvSpPr>
          <p:cNvPr id="41" name="text-83"/>
          <p:cNvSpPr txBox="1"/>
          <p:nvPr/>
        </p:nvSpPr>
        <p:spPr>
          <a:xfrm>
            <a:off x="8814816" y="5120640"/>
            <a:ext cx="1143000" cy="731520"/>
          </a:xfrm>
          <a:prstGeom prst="rect">
            <a:avLst/>
          </a:prstGeom>
          <a:noFill/>
          <a:ln/>
        </p:spPr>
        <p:txBody>
          <a:bodyPr wrap="square" lIns="0" tIns="0" rIns="0" bIns="0" rtlCol="0" anchor="t"/>
          <a:lstStyle/>
          <a:p>
            <a:pPr algn="ctr" indent="0" marL="0">
              <a:buNone/>
            </a:pPr>
            <a:r>
              <a:rPr lang="en-US" sz="1400" dirty="0">
                <a:solidFill>
                  <a:schemeClr val="tx2"/>
                </a:solidFill>
              </a:rPr>
              <a:t>architecture layers</a:t>
            </a:r>
            <a:endParaRPr lang="en-US" sz="1400" dirty="0"/>
          </a:p>
        </p:txBody>
      </p:sp>
      <p:sp>
        <p:nvSpPr>
          <p:cNvPr id="42" name="card-84"/>
          <p:cNvSpPr/>
          <p:nvPr/>
        </p:nvSpPr>
        <p:spPr>
          <a:xfrm>
            <a:off x="10222992" y="3931920"/>
            <a:ext cx="1417320" cy="2194560"/>
          </a:xfrm>
          <a:prstGeom prst="roundRect">
            <a:avLst>
              <a:gd name="adj" fmla="val 6452"/>
            </a:avLst>
          </a:prstGeom>
          <a:solidFill>
            <a:schemeClr val="bg2"/>
          </a:solidFill>
          <a:ln/>
        </p:spPr>
      </p:sp>
      <p:sp>
        <p:nvSpPr>
          <p:cNvPr id="43" name="text-85"/>
          <p:cNvSpPr txBox="1"/>
          <p:nvPr/>
        </p:nvSpPr>
        <p:spPr>
          <a:xfrm>
            <a:off x="10222992" y="4160520"/>
            <a:ext cx="1417320" cy="868680"/>
          </a:xfrm>
          <a:prstGeom prst="rect">
            <a:avLst/>
          </a:prstGeom>
          <a:noFill/>
          <a:ln/>
        </p:spPr>
        <p:txBody>
          <a:bodyPr wrap="square" lIns="0" tIns="0" rIns="0" bIns="0" rtlCol="0" anchor="t"/>
          <a:lstStyle/>
          <a:p>
            <a:pPr algn="ctr" indent="0" marL="0">
              <a:buNone/>
            </a:pPr>
            <a:r>
              <a:rPr lang="en-US" sz="5400" b="1" dirty="0">
                <a:solidFill>
                  <a:schemeClr val="accent1"/>
                </a:solidFill>
                <a:latin typeface="+mj-lt" pitchFamily="34" charset="0"/>
                <a:ea typeface="+mj-lt" pitchFamily="34" charset="-122"/>
                <a:cs typeface="+mj-lt" pitchFamily="34" charset="-120"/>
              </a:rPr>
              <a:t>8</a:t>
            </a:r>
            <a:endParaRPr lang="en-US" sz="5400" dirty="0"/>
          </a:p>
        </p:txBody>
      </p:sp>
      <p:sp>
        <p:nvSpPr>
          <p:cNvPr id="44" name="text-86"/>
          <p:cNvSpPr txBox="1"/>
          <p:nvPr/>
        </p:nvSpPr>
        <p:spPr>
          <a:xfrm>
            <a:off x="10360152" y="5120640"/>
            <a:ext cx="1143000" cy="731520"/>
          </a:xfrm>
          <a:prstGeom prst="rect">
            <a:avLst/>
          </a:prstGeom>
          <a:noFill/>
          <a:ln/>
        </p:spPr>
        <p:txBody>
          <a:bodyPr wrap="square" lIns="0" tIns="0" rIns="0" bIns="0" rtlCol="0" anchor="t"/>
          <a:lstStyle/>
          <a:p>
            <a:pPr algn="ctr" indent="0" marL="0">
              <a:buNone/>
            </a:pPr>
            <a:r>
              <a:rPr lang="en-US" sz="1400" dirty="0">
                <a:solidFill>
                  <a:schemeClr val="tx2"/>
                </a:solidFill>
              </a:rPr>
              <a:t>lifecycle stages</a:t>
            </a:r>
            <a:endParaRPr lang="en-US" sz="1400" dirty="0"/>
          </a:p>
        </p:txBody>
      </p:sp>
      <p:sp>
        <p:nvSpPr>
          <p:cNvPr id="25" name="Slide Number Placeholder 0"/>
          <p:cNvSpPr>
            <a:spLocks noGrp="1"/>
          </p:cNvSpPr>
          <p:nvPr>
            <p:ph type="sldNum" sz="quarter" idx="4294967295"/>
          </p:nvPr>
        </p:nvSpPr>
        <p:spPr>
          <a:xfrm>
            <a:off x="10972800" y="6419088"/>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200" b="1" dirty="0">
                <a:solidFill>
                  <a:schemeClr val="tx1"/>
                </a:solidFill>
              </a:rPr>
              <a:t>18 Capabilities at a Glance</a:t>
            </a:r>
            <a:endParaRPr lang="en-US" sz="3200" dirty="0"/>
          </a:p>
        </p:txBody>
      </p:sp>
      <p:sp>
        <p:nvSpPr>
          <p:cNvPr id="3" name="card-87"/>
          <p:cNvSpPr/>
          <p:nvPr/>
        </p:nvSpPr>
        <p:spPr>
          <a:xfrm>
            <a:off x="548640" y="1371600"/>
            <a:ext cx="1734312" cy="1463040"/>
          </a:xfrm>
          <a:prstGeom prst="roundRect">
            <a:avLst>
              <a:gd name="adj" fmla="val 6250"/>
            </a:avLst>
          </a:prstGeom>
          <a:solidFill>
            <a:schemeClr val="bg2"/>
          </a:solidFill>
          <a:ln/>
        </p:spPr>
      </p:sp>
      <p:sp>
        <p:nvSpPr>
          <p:cNvPr id="4" name="icon-bg-88"/>
          <p:cNvSpPr/>
          <p:nvPr/>
        </p:nvSpPr>
        <p:spPr>
          <a:xfrm>
            <a:off x="768096" y="1591056"/>
            <a:ext cx="475488" cy="475488"/>
          </a:xfrm>
          <a:prstGeom prst="ellipse">
            <a:avLst/>
          </a:prstGeom>
          <a:solidFill>
            <a:schemeClr val="accent4"/>
          </a:solidFill>
          <a:ln/>
        </p:spPr>
      </p:sp>
      <p:pic>
        <p:nvPicPr>
          <p:cNvPr id="5" name="icon-89" descr="PaperPlane icon">    </p:cNvPr>
          <p:cNvPicPr>
            <a:picLocks noChangeAspect="1"/>
          </p:cNvPicPr>
          <p:nvPr/>
        </p:nvPicPr>
        <p:blipFill>
          <a:blip r:embed="rId1"/>
          <a:stretch>
            <a:fillRect/>
          </a:stretch>
        </p:blipFill>
        <p:spPr>
          <a:xfrm>
            <a:off x="886968" y="1709928"/>
            <a:ext cx="237744" cy="237744"/>
          </a:xfrm>
          <a:prstGeom prst="rect">
            <a:avLst/>
          </a:prstGeom>
        </p:spPr>
      </p:pic>
      <p:sp>
        <p:nvSpPr>
          <p:cNvPr id="6" name="text-90"/>
          <p:cNvSpPr txBox="1"/>
          <p:nvPr/>
        </p:nvSpPr>
        <p:spPr>
          <a:xfrm>
            <a:off x="1688592" y="1627632"/>
            <a:ext cx="411480" cy="365760"/>
          </a:xfrm>
          <a:prstGeom prst="rect">
            <a:avLst/>
          </a:prstGeom>
          <a:noFill/>
          <a:ln/>
        </p:spPr>
        <p:txBody>
          <a:bodyPr wrap="square" lIns="0" tIns="0" rIns="0" bIns="0" rtlCol="0" anchor="t"/>
          <a:lstStyle/>
          <a:p>
            <a:pPr algn="r" indent="0" marL="0">
              <a:buNone/>
            </a:pPr>
            <a:r>
              <a:rPr lang="en-US" sz="1400" b="1" dirty="0">
                <a:solidFill>
                  <a:schemeClr val="accent6"/>
                </a:solidFill>
              </a:rPr>
              <a:t>01</a:t>
            </a:r>
            <a:endParaRPr lang="en-US" sz="1400" dirty="0"/>
          </a:p>
        </p:txBody>
      </p:sp>
      <p:sp>
        <p:nvSpPr>
          <p:cNvPr id="7" name="text-91"/>
          <p:cNvSpPr txBox="1"/>
          <p:nvPr/>
        </p:nvSpPr>
        <p:spPr>
          <a:xfrm>
            <a:off x="731520" y="2212848"/>
            <a:ext cx="1414272" cy="548640"/>
          </a:xfrm>
          <a:prstGeom prst="rect">
            <a:avLst/>
          </a:prstGeom>
          <a:noFill/>
          <a:ln/>
        </p:spPr>
        <p:txBody>
          <a:bodyPr wrap="square" lIns="0" tIns="0" rIns="0" bIns="0" rtlCol="0" anchor="t"/>
          <a:lstStyle/>
          <a:p>
            <a:pPr indent="0" marL="0">
              <a:buNone/>
            </a:pPr>
            <a:r>
              <a:rPr lang="en-US" sz="1400" b="1" dirty="0">
                <a:solidFill>
                  <a:schemeClr val="tx1"/>
                </a:solidFill>
              </a:rPr>
              <a:t>Complaint Submission</a:t>
            </a:r>
            <a:endParaRPr lang="en-US" sz="1400" dirty="0"/>
          </a:p>
        </p:txBody>
      </p:sp>
      <p:sp>
        <p:nvSpPr>
          <p:cNvPr id="8" name="card-92"/>
          <p:cNvSpPr/>
          <p:nvPr/>
        </p:nvSpPr>
        <p:spPr>
          <a:xfrm>
            <a:off x="2420112" y="1371600"/>
            <a:ext cx="1734312" cy="1463040"/>
          </a:xfrm>
          <a:prstGeom prst="roundRect">
            <a:avLst>
              <a:gd name="adj" fmla="val 6250"/>
            </a:avLst>
          </a:prstGeom>
          <a:solidFill>
            <a:schemeClr val="bg2"/>
          </a:solidFill>
          <a:ln/>
        </p:spPr>
      </p:sp>
      <p:sp>
        <p:nvSpPr>
          <p:cNvPr id="9" name="icon-bg-93"/>
          <p:cNvSpPr/>
          <p:nvPr/>
        </p:nvSpPr>
        <p:spPr>
          <a:xfrm>
            <a:off x="2639568" y="1591056"/>
            <a:ext cx="475488" cy="475488"/>
          </a:xfrm>
          <a:prstGeom prst="ellipse">
            <a:avLst/>
          </a:prstGeom>
          <a:solidFill>
            <a:schemeClr val="accent1"/>
          </a:solidFill>
          <a:ln/>
        </p:spPr>
      </p:sp>
      <p:pic>
        <p:nvPicPr>
          <p:cNvPr id="10" name="icon-94" descr="Search icon">    </p:cNvPr>
          <p:cNvPicPr>
            <a:picLocks noChangeAspect="1"/>
          </p:cNvPicPr>
          <p:nvPr/>
        </p:nvPicPr>
        <p:blipFill>
          <a:blip r:embed="rId2"/>
          <a:stretch>
            <a:fillRect/>
          </a:stretch>
        </p:blipFill>
        <p:spPr>
          <a:xfrm>
            <a:off x="2758440" y="1709928"/>
            <a:ext cx="237744" cy="237744"/>
          </a:xfrm>
          <a:prstGeom prst="rect">
            <a:avLst/>
          </a:prstGeom>
        </p:spPr>
      </p:pic>
      <p:sp>
        <p:nvSpPr>
          <p:cNvPr id="11" name="text-95"/>
          <p:cNvSpPr txBox="1"/>
          <p:nvPr/>
        </p:nvSpPr>
        <p:spPr>
          <a:xfrm>
            <a:off x="3560064" y="1627632"/>
            <a:ext cx="411480" cy="365760"/>
          </a:xfrm>
          <a:prstGeom prst="rect">
            <a:avLst/>
          </a:prstGeom>
          <a:noFill/>
          <a:ln/>
        </p:spPr>
        <p:txBody>
          <a:bodyPr wrap="square" lIns="0" tIns="0" rIns="0" bIns="0" rtlCol="0" anchor="t"/>
          <a:lstStyle/>
          <a:p>
            <a:pPr algn="r" indent="0" marL="0">
              <a:buNone/>
            </a:pPr>
            <a:r>
              <a:rPr lang="en-US" sz="1400" b="1" dirty="0">
                <a:solidFill>
                  <a:schemeClr val="accent6"/>
                </a:solidFill>
              </a:rPr>
              <a:t>02</a:t>
            </a:r>
            <a:endParaRPr lang="en-US" sz="1400" dirty="0"/>
          </a:p>
        </p:txBody>
      </p:sp>
      <p:sp>
        <p:nvSpPr>
          <p:cNvPr id="12" name="text-96"/>
          <p:cNvSpPr txBox="1"/>
          <p:nvPr/>
        </p:nvSpPr>
        <p:spPr>
          <a:xfrm>
            <a:off x="2602992" y="2212848"/>
            <a:ext cx="1414272" cy="548640"/>
          </a:xfrm>
          <a:prstGeom prst="rect">
            <a:avLst/>
          </a:prstGeom>
          <a:noFill/>
          <a:ln/>
        </p:spPr>
        <p:txBody>
          <a:bodyPr wrap="square" lIns="0" tIns="0" rIns="0" bIns="0" rtlCol="0" anchor="t"/>
          <a:lstStyle/>
          <a:p>
            <a:pPr indent="0" marL="0">
              <a:buNone/>
            </a:pPr>
            <a:r>
              <a:rPr lang="en-US" sz="1400" b="1" dirty="0">
                <a:solidFill>
                  <a:schemeClr val="tx1"/>
                </a:solidFill>
              </a:rPr>
              <a:t>AI Complaint Analysis</a:t>
            </a:r>
            <a:endParaRPr lang="en-US" sz="1400" dirty="0"/>
          </a:p>
        </p:txBody>
      </p:sp>
      <p:sp>
        <p:nvSpPr>
          <p:cNvPr id="13" name="card-97"/>
          <p:cNvSpPr/>
          <p:nvPr/>
        </p:nvSpPr>
        <p:spPr>
          <a:xfrm>
            <a:off x="4291584" y="1371600"/>
            <a:ext cx="1734312" cy="1463040"/>
          </a:xfrm>
          <a:prstGeom prst="roundRect">
            <a:avLst>
              <a:gd name="adj" fmla="val 6250"/>
            </a:avLst>
          </a:prstGeom>
          <a:solidFill>
            <a:schemeClr val="bg2"/>
          </a:solidFill>
          <a:ln/>
        </p:spPr>
      </p:sp>
      <p:sp>
        <p:nvSpPr>
          <p:cNvPr id="14" name="icon-bg-98"/>
          <p:cNvSpPr/>
          <p:nvPr/>
        </p:nvSpPr>
        <p:spPr>
          <a:xfrm>
            <a:off x="4511040" y="1591056"/>
            <a:ext cx="475488" cy="475488"/>
          </a:xfrm>
          <a:prstGeom prst="ellipse">
            <a:avLst/>
          </a:prstGeom>
          <a:solidFill>
            <a:schemeClr val="accent1"/>
          </a:solidFill>
          <a:ln/>
        </p:spPr>
      </p:sp>
      <p:pic>
        <p:nvPicPr>
          <p:cNvPr id="15" name="icon-99" descr="Route icon">    </p:cNvPr>
          <p:cNvPicPr>
            <a:picLocks noChangeAspect="1"/>
          </p:cNvPicPr>
          <p:nvPr/>
        </p:nvPicPr>
        <p:blipFill>
          <a:blip r:embed="rId3"/>
          <a:stretch>
            <a:fillRect/>
          </a:stretch>
        </p:blipFill>
        <p:spPr>
          <a:xfrm>
            <a:off x="4629912" y="1709928"/>
            <a:ext cx="237744" cy="237744"/>
          </a:xfrm>
          <a:prstGeom prst="rect">
            <a:avLst/>
          </a:prstGeom>
        </p:spPr>
      </p:pic>
      <p:sp>
        <p:nvSpPr>
          <p:cNvPr id="16" name="text-100"/>
          <p:cNvSpPr txBox="1"/>
          <p:nvPr/>
        </p:nvSpPr>
        <p:spPr>
          <a:xfrm>
            <a:off x="5431536" y="1627632"/>
            <a:ext cx="411480" cy="365760"/>
          </a:xfrm>
          <a:prstGeom prst="rect">
            <a:avLst/>
          </a:prstGeom>
          <a:noFill/>
          <a:ln/>
        </p:spPr>
        <p:txBody>
          <a:bodyPr wrap="square" lIns="0" tIns="0" rIns="0" bIns="0" rtlCol="0" anchor="t"/>
          <a:lstStyle/>
          <a:p>
            <a:pPr algn="r" indent="0" marL="0">
              <a:buNone/>
            </a:pPr>
            <a:r>
              <a:rPr lang="en-US" sz="1400" b="1" dirty="0">
                <a:solidFill>
                  <a:schemeClr val="accent6"/>
                </a:solidFill>
              </a:rPr>
              <a:t>03</a:t>
            </a:r>
            <a:endParaRPr lang="en-US" sz="1400" dirty="0"/>
          </a:p>
        </p:txBody>
      </p:sp>
      <p:sp>
        <p:nvSpPr>
          <p:cNvPr id="17" name="text-101"/>
          <p:cNvSpPr txBox="1"/>
          <p:nvPr/>
        </p:nvSpPr>
        <p:spPr>
          <a:xfrm>
            <a:off x="4474464" y="2212848"/>
            <a:ext cx="1414272" cy="548640"/>
          </a:xfrm>
          <a:prstGeom prst="rect">
            <a:avLst/>
          </a:prstGeom>
          <a:noFill/>
          <a:ln/>
        </p:spPr>
        <p:txBody>
          <a:bodyPr wrap="square" lIns="0" tIns="0" rIns="0" bIns="0" rtlCol="0" anchor="t"/>
          <a:lstStyle/>
          <a:p>
            <a:pPr indent="0" marL="0">
              <a:buNone/>
            </a:pPr>
            <a:r>
              <a:rPr lang="en-US" sz="1400" b="1" dirty="0">
                <a:solidFill>
                  <a:schemeClr val="tx1"/>
                </a:solidFill>
              </a:rPr>
              <a:t>Intelligent Routing</a:t>
            </a:r>
            <a:endParaRPr lang="en-US" sz="1400" dirty="0"/>
          </a:p>
        </p:txBody>
      </p:sp>
      <p:sp>
        <p:nvSpPr>
          <p:cNvPr id="18" name="card-102"/>
          <p:cNvSpPr/>
          <p:nvPr/>
        </p:nvSpPr>
        <p:spPr>
          <a:xfrm>
            <a:off x="6163056" y="1371600"/>
            <a:ext cx="1734312" cy="1463040"/>
          </a:xfrm>
          <a:prstGeom prst="roundRect">
            <a:avLst>
              <a:gd name="adj" fmla="val 6250"/>
            </a:avLst>
          </a:prstGeom>
          <a:solidFill>
            <a:schemeClr val="bg2"/>
          </a:solidFill>
          <a:ln/>
        </p:spPr>
      </p:sp>
      <p:sp>
        <p:nvSpPr>
          <p:cNvPr id="19" name="icon-bg-103"/>
          <p:cNvSpPr/>
          <p:nvPr/>
        </p:nvSpPr>
        <p:spPr>
          <a:xfrm>
            <a:off x="6382512" y="1591056"/>
            <a:ext cx="475488" cy="475488"/>
          </a:xfrm>
          <a:prstGeom prst="ellipse">
            <a:avLst/>
          </a:prstGeom>
          <a:solidFill>
            <a:schemeClr val="accent1"/>
          </a:solidFill>
          <a:ln/>
        </p:spPr>
      </p:sp>
      <p:pic>
        <p:nvPicPr>
          <p:cNvPr id="20" name="icon-104" descr="QuestionCircle icon">    </p:cNvPr>
          <p:cNvPicPr>
            <a:picLocks noChangeAspect="1"/>
          </p:cNvPicPr>
          <p:nvPr/>
        </p:nvPicPr>
        <p:blipFill>
          <a:blip r:embed="rId4"/>
          <a:stretch>
            <a:fillRect/>
          </a:stretch>
        </p:blipFill>
        <p:spPr>
          <a:xfrm>
            <a:off x="6501384" y="1709928"/>
            <a:ext cx="237744" cy="237744"/>
          </a:xfrm>
          <a:prstGeom prst="rect">
            <a:avLst/>
          </a:prstGeom>
        </p:spPr>
      </p:pic>
      <p:sp>
        <p:nvSpPr>
          <p:cNvPr id="21" name="text-105"/>
          <p:cNvSpPr txBox="1"/>
          <p:nvPr/>
        </p:nvSpPr>
        <p:spPr>
          <a:xfrm>
            <a:off x="7303008" y="1627632"/>
            <a:ext cx="411480" cy="365760"/>
          </a:xfrm>
          <a:prstGeom prst="rect">
            <a:avLst/>
          </a:prstGeom>
          <a:noFill/>
          <a:ln/>
        </p:spPr>
        <p:txBody>
          <a:bodyPr wrap="square" lIns="0" tIns="0" rIns="0" bIns="0" rtlCol="0" anchor="t"/>
          <a:lstStyle/>
          <a:p>
            <a:pPr algn="r" indent="0" marL="0">
              <a:buNone/>
            </a:pPr>
            <a:r>
              <a:rPr lang="en-US" sz="1400" b="1" dirty="0">
                <a:solidFill>
                  <a:schemeClr val="accent6"/>
                </a:solidFill>
              </a:rPr>
              <a:t>04</a:t>
            </a:r>
            <a:endParaRPr lang="en-US" sz="1400" dirty="0"/>
          </a:p>
        </p:txBody>
      </p:sp>
      <p:sp>
        <p:nvSpPr>
          <p:cNvPr id="22" name="text-106"/>
          <p:cNvSpPr txBox="1"/>
          <p:nvPr/>
        </p:nvSpPr>
        <p:spPr>
          <a:xfrm>
            <a:off x="6345936" y="2212848"/>
            <a:ext cx="1414272" cy="548640"/>
          </a:xfrm>
          <a:prstGeom prst="rect">
            <a:avLst/>
          </a:prstGeom>
          <a:noFill/>
          <a:ln/>
        </p:spPr>
        <p:txBody>
          <a:bodyPr wrap="square" lIns="0" tIns="0" rIns="0" bIns="0" rtlCol="0" anchor="t"/>
          <a:lstStyle/>
          <a:p>
            <a:pPr indent="0" marL="0">
              <a:buNone/>
            </a:pPr>
            <a:r>
              <a:rPr lang="en-US" sz="1400" b="1" dirty="0">
                <a:solidFill>
                  <a:schemeClr val="tx1"/>
                </a:solidFill>
              </a:rPr>
              <a:t>Missing Info Detection</a:t>
            </a:r>
            <a:endParaRPr lang="en-US" sz="1400" dirty="0"/>
          </a:p>
        </p:txBody>
      </p:sp>
      <p:sp>
        <p:nvSpPr>
          <p:cNvPr id="23" name="card-107"/>
          <p:cNvSpPr/>
          <p:nvPr/>
        </p:nvSpPr>
        <p:spPr>
          <a:xfrm>
            <a:off x="8034528" y="1371600"/>
            <a:ext cx="1734312" cy="1463040"/>
          </a:xfrm>
          <a:prstGeom prst="roundRect">
            <a:avLst>
              <a:gd name="adj" fmla="val 6250"/>
            </a:avLst>
          </a:prstGeom>
          <a:solidFill>
            <a:schemeClr val="bg2"/>
          </a:solidFill>
          <a:ln/>
        </p:spPr>
      </p:sp>
      <p:sp>
        <p:nvSpPr>
          <p:cNvPr id="24" name="icon-bg-108"/>
          <p:cNvSpPr/>
          <p:nvPr/>
        </p:nvSpPr>
        <p:spPr>
          <a:xfrm>
            <a:off x="8253984" y="1591056"/>
            <a:ext cx="475488" cy="475488"/>
          </a:xfrm>
          <a:prstGeom prst="ellipse">
            <a:avLst/>
          </a:prstGeom>
          <a:solidFill>
            <a:schemeClr val="accent2"/>
          </a:solidFill>
          <a:ln/>
        </p:spPr>
      </p:sp>
      <p:pic>
        <p:nvPicPr>
          <p:cNvPr id="25" name="icon-109" descr="UserEdit icon">    </p:cNvPr>
          <p:cNvPicPr>
            <a:picLocks noChangeAspect="1"/>
          </p:cNvPicPr>
          <p:nvPr/>
        </p:nvPicPr>
        <p:blipFill>
          <a:blip r:embed="rId5"/>
          <a:stretch>
            <a:fillRect/>
          </a:stretch>
        </p:blipFill>
        <p:spPr>
          <a:xfrm>
            <a:off x="8372856" y="1709928"/>
            <a:ext cx="237744" cy="237744"/>
          </a:xfrm>
          <a:prstGeom prst="rect">
            <a:avLst/>
          </a:prstGeom>
        </p:spPr>
      </p:pic>
      <p:sp>
        <p:nvSpPr>
          <p:cNvPr id="26" name="text-110"/>
          <p:cNvSpPr txBox="1"/>
          <p:nvPr/>
        </p:nvSpPr>
        <p:spPr>
          <a:xfrm>
            <a:off x="9174480" y="1627632"/>
            <a:ext cx="411480" cy="365760"/>
          </a:xfrm>
          <a:prstGeom prst="rect">
            <a:avLst/>
          </a:prstGeom>
          <a:noFill/>
          <a:ln/>
        </p:spPr>
        <p:txBody>
          <a:bodyPr wrap="square" lIns="0" tIns="0" rIns="0" bIns="0" rtlCol="0" anchor="t"/>
          <a:lstStyle/>
          <a:p>
            <a:pPr algn="r" indent="0" marL="0">
              <a:buNone/>
            </a:pPr>
            <a:r>
              <a:rPr lang="en-US" sz="1400" b="1" dirty="0">
                <a:solidFill>
                  <a:schemeClr val="accent6"/>
                </a:solidFill>
              </a:rPr>
              <a:t>05</a:t>
            </a:r>
            <a:endParaRPr lang="en-US" sz="1400" dirty="0"/>
          </a:p>
        </p:txBody>
      </p:sp>
      <p:sp>
        <p:nvSpPr>
          <p:cNvPr id="27" name="text-111"/>
          <p:cNvSpPr txBox="1"/>
          <p:nvPr/>
        </p:nvSpPr>
        <p:spPr>
          <a:xfrm>
            <a:off x="8217408" y="2212848"/>
            <a:ext cx="1414272" cy="548640"/>
          </a:xfrm>
          <a:prstGeom prst="rect">
            <a:avLst/>
          </a:prstGeom>
          <a:noFill/>
          <a:ln/>
        </p:spPr>
        <p:txBody>
          <a:bodyPr wrap="square" lIns="0" tIns="0" rIns="0" bIns="0" rtlCol="0" anchor="t"/>
          <a:lstStyle/>
          <a:p>
            <a:pPr indent="0" marL="0">
              <a:buNone/>
            </a:pPr>
            <a:r>
              <a:rPr lang="en-US" sz="1400" b="1" dirty="0">
                <a:solidFill>
                  <a:schemeClr val="tx1"/>
                </a:solidFill>
              </a:rPr>
              <a:t>Human-in-the-Loop</a:t>
            </a:r>
            <a:endParaRPr lang="en-US" sz="1400" dirty="0"/>
          </a:p>
        </p:txBody>
      </p:sp>
      <p:sp>
        <p:nvSpPr>
          <p:cNvPr id="28" name="card-112"/>
          <p:cNvSpPr/>
          <p:nvPr/>
        </p:nvSpPr>
        <p:spPr>
          <a:xfrm>
            <a:off x="9906000" y="1371600"/>
            <a:ext cx="1734312" cy="1463040"/>
          </a:xfrm>
          <a:prstGeom prst="roundRect">
            <a:avLst>
              <a:gd name="adj" fmla="val 6250"/>
            </a:avLst>
          </a:prstGeom>
          <a:solidFill>
            <a:schemeClr val="bg2"/>
          </a:solidFill>
          <a:ln/>
        </p:spPr>
      </p:sp>
      <p:sp>
        <p:nvSpPr>
          <p:cNvPr id="29" name="icon-bg-113"/>
          <p:cNvSpPr/>
          <p:nvPr/>
        </p:nvSpPr>
        <p:spPr>
          <a:xfrm>
            <a:off x="10125456" y="1591056"/>
            <a:ext cx="475488" cy="475488"/>
          </a:xfrm>
          <a:prstGeom prst="ellipse">
            <a:avLst/>
          </a:prstGeom>
          <a:solidFill>
            <a:schemeClr val="accent4"/>
          </a:solidFill>
          <a:ln/>
        </p:spPr>
      </p:sp>
      <p:pic>
        <p:nvPicPr>
          <p:cNvPr id="30" name="icon-114" descr="Bell icon">    </p:cNvPr>
          <p:cNvPicPr>
            <a:picLocks noChangeAspect="1"/>
          </p:cNvPicPr>
          <p:nvPr/>
        </p:nvPicPr>
        <p:blipFill>
          <a:blip r:embed="rId6"/>
          <a:stretch>
            <a:fillRect/>
          </a:stretch>
        </p:blipFill>
        <p:spPr>
          <a:xfrm>
            <a:off x="10244328" y="1709928"/>
            <a:ext cx="237744" cy="237744"/>
          </a:xfrm>
          <a:prstGeom prst="rect">
            <a:avLst/>
          </a:prstGeom>
        </p:spPr>
      </p:pic>
      <p:sp>
        <p:nvSpPr>
          <p:cNvPr id="31" name="text-115"/>
          <p:cNvSpPr txBox="1"/>
          <p:nvPr/>
        </p:nvSpPr>
        <p:spPr>
          <a:xfrm>
            <a:off x="11045952" y="1627632"/>
            <a:ext cx="411480" cy="365760"/>
          </a:xfrm>
          <a:prstGeom prst="rect">
            <a:avLst/>
          </a:prstGeom>
          <a:noFill/>
          <a:ln/>
        </p:spPr>
        <p:txBody>
          <a:bodyPr wrap="square" lIns="0" tIns="0" rIns="0" bIns="0" rtlCol="0" anchor="t"/>
          <a:lstStyle/>
          <a:p>
            <a:pPr algn="r" indent="0" marL="0">
              <a:buNone/>
            </a:pPr>
            <a:r>
              <a:rPr lang="en-US" sz="1400" b="1" dirty="0">
                <a:solidFill>
                  <a:schemeClr val="accent6"/>
                </a:solidFill>
              </a:rPr>
              <a:t>06</a:t>
            </a:r>
            <a:endParaRPr lang="en-US" sz="1400" dirty="0"/>
          </a:p>
        </p:txBody>
      </p:sp>
      <p:sp>
        <p:nvSpPr>
          <p:cNvPr id="32" name="text-116"/>
          <p:cNvSpPr txBox="1"/>
          <p:nvPr/>
        </p:nvSpPr>
        <p:spPr>
          <a:xfrm>
            <a:off x="10088880" y="2212848"/>
            <a:ext cx="1414272" cy="548640"/>
          </a:xfrm>
          <a:prstGeom prst="rect">
            <a:avLst/>
          </a:prstGeom>
          <a:noFill/>
          <a:ln/>
        </p:spPr>
        <p:txBody>
          <a:bodyPr wrap="square" lIns="0" tIns="0" rIns="0" bIns="0" rtlCol="0" anchor="t"/>
          <a:lstStyle/>
          <a:p>
            <a:pPr indent="0" marL="0">
              <a:buNone/>
            </a:pPr>
            <a:r>
              <a:rPr lang="en-US" sz="1400" b="1" dirty="0">
                <a:solidFill>
                  <a:schemeClr val="tx1"/>
                </a:solidFill>
              </a:rPr>
              <a:t>Automated Notifications</a:t>
            </a:r>
            <a:endParaRPr lang="en-US" sz="1400" dirty="0"/>
          </a:p>
        </p:txBody>
      </p:sp>
      <p:sp>
        <p:nvSpPr>
          <p:cNvPr id="33" name="card-117"/>
          <p:cNvSpPr/>
          <p:nvPr/>
        </p:nvSpPr>
        <p:spPr>
          <a:xfrm>
            <a:off x="548640" y="3017520"/>
            <a:ext cx="1734312" cy="1463040"/>
          </a:xfrm>
          <a:prstGeom prst="roundRect">
            <a:avLst>
              <a:gd name="adj" fmla="val 6250"/>
            </a:avLst>
          </a:prstGeom>
          <a:solidFill>
            <a:schemeClr val="bg2"/>
          </a:solidFill>
          <a:ln/>
        </p:spPr>
      </p:sp>
      <p:sp>
        <p:nvSpPr>
          <p:cNvPr id="34" name="icon-bg-118"/>
          <p:cNvSpPr/>
          <p:nvPr/>
        </p:nvSpPr>
        <p:spPr>
          <a:xfrm>
            <a:off x="768096" y="3236976"/>
            <a:ext cx="475488" cy="475488"/>
          </a:xfrm>
          <a:prstGeom prst="ellipse">
            <a:avLst/>
          </a:prstGeom>
          <a:solidFill>
            <a:schemeClr val="accent1"/>
          </a:solidFill>
          <a:ln/>
        </p:spPr>
      </p:sp>
      <p:pic>
        <p:nvPicPr>
          <p:cNvPr id="35" name="icon-119" descr="Clock icon">    </p:cNvPr>
          <p:cNvPicPr>
            <a:picLocks noChangeAspect="1"/>
          </p:cNvPicPr>
          <p:nvPr/>
        </p:nvPicPr>
        <p:blipFill>
          <a:blip r:embed="rId7"/>
          <a:stretch>
            <a:fillRect/>
          </a:stretch>
        </p:blipFill>
        <p:spPr>
          <a:xfrm>
            <a:off x="886968" y="3355848"/>
            <a:ext cx="237744" cy="237744"/>
          </a:xfrm>
          <a:prstGeom prst="rect">
            <a:avLst/>
          </a:prstGeom>
        </p:spPr>
      </p:pic>
      <p:sp>
        <p:nvSpPr>
          <p:cNvPr id="36" name="text-120"/>
          <p:cNvSpPr txBox="1"/>
          <p:nvPr/>
        </p:nvSpPr>
        <p:spPr>
          <a:xfrm>
            <a:off x="1688592" y="3273552"/>
            <a:ext cx="411480" cy="365760"/>
          </a:xfrm>
          <a:prstGeom prst="rect">
            <a:avLst/>
          </a:prstGeom>
          <a:noFill/>
          <a:ln/>
        </p:spPr>
        <p:txBody>
          <a:bodyPr wrap="square" lIns="0" tIns="0" rIns="0" bIns="0" rtlCol="0" anchor="t"/>
          <a:lstStyle/>
          <a:p>
            <a:pPr algn="r" indent="0" marL="0">
              <a:buNone/>
            </a:pPr>
            <a:r>
              <a:rPr lang="en-US" sz="1400" b="1" dirty="0">
                <a:solidFill>
                  <a:schemeClr val="accent6"/>
                </a:solidFill>
              </a:rPr>
              <a:t>07</a:t>
            </a:r>
            <a:endParaRPr lang="en-US" sz="1400" dirty="0"/>
          </a:p>
        </p:txBody>
      </p:sp>
      <p:sp>
        <p:nvSpPr>
          <p:cNvPr id="37" name="text-121"/>
          <p:cNvSpPr txBox="1"/>
          <p:nvPr/>
        </p:nvSpPr>
        <p:spPr>
          <a:xfrm>
            <a:off x="731520" y="3858768"/>
            <a:ext cx="1414272" cy="548640"/>
          </a:xfrm>
          <a:prstGeom prst="rect">
            <a:avLst/>
          </a:prstGeom>
          <a:noFill/>
          <a:ln/>
        </p:spPr>
        <p:txBody>
          <a:bodyPr wrap="square" lIns="0" tIns="0" rIns="0" bIns="0" rtlCol="0" anchor="t"/>
          <a:lstStyle/>
          <a:p>
            <a:pPr indent="0" marL="0">
              <a:buNone/>
            </a:pPr>
            <a:r>
              <a:rPr lang="en-US" sz="1400" b="1" dirty="0">
                <a:solidFill>
                  <a:schemeClr val="tx1"/>
                </a:solidFill>
              </a:rPr>
              <a:t>SLA Monitoring</a:t>
            </a:r>
            <a:endParaRPr lang="en-US" sz="1400" dirty="0"/>
          </a:p>
        </p:txBody>
      </p:sp>
      <p:sp>
        <p:nvSpPr>
          <p:cNvPr id="38" name="card-122"/>
          <p:cNvSpPr/>
          <p:nvPr/>
        </p:nvSpPr>
        <p:spPr>
          <a:xfrm>
            <a:off x="2420112" y="3017520"/>
            <a:ext cx="1734312" cy="1463040"/>
          </a:xfrm>
          <a:prstGeom prst="roundRect">
            <a:avLst>
              <a:gd name="adj" fmla="val 6250"/>
            </a:avLst>
          </a:prstGeom>
          <a:solidFill>
            <a:schemeClr val="bg2"/>
          </a:solidFill>
          <a:ln/>
        </p:spPr>
      </p:sp>
      <p:sp>
        <p:nvSpPr>
          <p:cNvPr id="39" name="icon-bg-123"/>
          <p:cNvSpPr/>
          <p:nvPr/>
        </p:nvSpPr>
        <p:spPr>
          <a:xfrm>
            <a:off x="2639568" y="3236976"/>
            <a:ext cx="475488" cy="475488"/>
          </a:xfrm>
          <a:prstGeom prst="ellipse">
            <a:avLst/>
          </a:prstGeom>
          <a:solidFill>
            <a:schemeClr val="accent3"/>
          </a:solidFill>
          <a:ln/>
        </p:spPr>
      </p:sp>
      <p:pic>
        <p:nvPicPr>
          <p:cNvPr id="40" name="icon-124" descr="LevelUpAlt icon">    </p:cNvPr>
          <p:cNvPicPr>
            <a:picLocks noChangeAspect="1"/>
          </p:cNvPicPr>
          <p:nvPr/>
        </p:nvPicPr>
        <p:blipFill>
          <a:blip r:embed="rId8"/>
          <a:stretch>
            <a:fillRect/>
          </a:stretch>
        </p:blipFill>
        <p:spPr>
          <a:xfrm>
            <a:off x="2758440" y="3355848"/>
            <a:ext cx="237744" cy="237744"/>
          </a:xfrm>
          <a:prstGeom prst="rect">
            <a:avLst/>
          </a:prstGeom>
        </p:spPr>
      </p:pic>
      <p:sp>
        <p:nvSpPr>
          <p:cNvPr id="41" name="text-125"/>
          <p:cNvSpPr txBox="1"/>
          <p:nvPr/>
        </p:nvSpPr>
        <p:spPr>
          <a:xfrm>
            <a:off x="3560064" y="3273552"/>
            <a:ext cx="411480" cy="365760"/>
          </a:xfrm>
          <a:prstGeom prst="rect">
            <a:avLst/>
          </a:prstGeom>
          <a:noFill/>
          <a:ln/>
        </p:spPr>
        <p:txBody>
          <a:bodyPr wrap="square" lIns="0" tIns="0" rIns="0" bIns="0" rtlCol="0" anchor="t"/>
          <a:lstStyle/>
          <a:p>
            <a:pPr algn="r" indent="0" marL="0">
              <a:buNone/>
            </a:pPr>
            <a:r>
              <a:rPr lang="en-US" sz="1400" b="1" dirty="0">
                <a:solidFill>
                  <a:schemeClr val="accent6"/>
                </a:solidFill>
              </a:rPr>
              <a:t>08</a:t>
            </a:r>
            <a:endParaRPr lang="en-US" sz="1400" dirty="0"/>
          </a:p>
        </p:txBody>
      </p:sp>
      <p:sp>
        <p:nvSpPr>
          <p:cNvPr id="42" name="text-126"/>
          <p:cNvSpPr txBox="1"/>
          <p:nvPr/>
        </p:nvSpPr>
        <p:spPr>
          <a:xfrm>
            <a:off x="2602992" y="3858768"/>
            <a:ext cx="1414272" cy="548640"/>
          </a:xfrm>
          <a:prstGeom prst="rect">
            <a:avLst/>
          </a:prstGeom>
          <a:noFill/>
          <a:ln/>
        </p:spPr>
        <p:txBody>
          <a:bodyPr wrap="square" lIns="0" tIns="0" rIns="0" bIns="0" rtlCol="0" anchor="t"/>
          <a:lstStyle/>
          <a:p>
            <a:pPr indent="0" marL="0">
              <a:buNone/>
            </a:pPr>
            <a:r>
              <a:rPr lang="en-US" sz="1400" b="1" dirty="0">
                <a:solidFill>
                  <a:schemeClr val="tx1"/>
                </a:solidFill>
              </a:rPr>
              <a:t>Automatic Escalation</a:t>
            </a:r>
            <a:endParaRPr lang="en-US" sz="1400" dirty="0"/>
          </a:p>
        </p:txBody>
      </p:sp>
      <p:sp>
        <p:nvSpPr>
          <p:cNvPr id="43" name="card-127"/>
          <p:cNvSpPr/>
          <p:nvPr/>
        </p:nvSpPr>
        <p:spPr>
          <a:xfrm>
            <a:off x="4291584" y="3017520"/>
            <a:ext cx="1734312" cy="1463040"/>
          </a:xfrm>
          <a:prstGeom prst="roundRect">
            <a:avLst>
              <a:gd name="adj" fmla="val 6250"/>
            </a:avLst>
          </a:prstGeom>
          <a:solidFill>
            <a:schemeClr val="bg2"/>
          </a:solidFill>
          <a:ln/>
        </p:spPr>
      </p:sp>
      <p:sp>
        <p:nvSpPr>
          <p:cNvPr id="44" name="icon-bg-128"/>
          <p:cNvSpPr/>
          <p:nvPr/>
        </p:nvSpPr>
        <p:spPr>
          <a:xfrm>
            <a:off x="4511040" y="3236976"/>
            <a:ext cx="475488" cy="475488"/>
          </a:xfrm>
          <a:prstGeom prst="ellipse">
            <a:avLst/>
          </a:prstGeom>
          <a:solidFill>
            <a:schemeClr val="accent5"/>
          </a:solidFill>
          <a:ln/>
        </p:spPr>
      </p:sp>
      <p:pic>
        <p:nvPicPr>
          <p:cNvPr id="45" name="icon-129" descr="Stream icon">    </p:cNvPr>
          <p:cNvPicPr>
            <a:picLocks noChangeAspect="1"/>
          </p:cNvPicPr>
          <p:nvPr/>
        </p:nvPicPr>
        <p:blipFill>
          <a:blip r:embed="rId9"/>
          <a:stretch>
            <a:fillRect/>
          </a:stretch>
        </p:blipFill>
        <p:spPr>
          <a:xfrm>
            <a:off x="4629912" y="3355848"/>
            <a:ext cx="237744" cy="237744"/>
          </a:xfrm>
          <a:prstGeom prst="rect">
            <a:avLst/>
          </a:prstGeom>
        </p:spPr>
      </p:pic>
      <p:sp>
        <p:nvSpPr>
          <p:cNvPr id="46" name="text-130"/>
          <p:cNvSpPr txBox="1"/>
          <p:nvPr/>
        </p:nvSpPr>
        <p:spPr>
          <a:xfrm>
            <a:off x="5431536" y="3273552"/>
            <a:ext cx="411480" cy="365760"/>
          </a:xfrm>
          <a:prstGeom prst="rect">
            <a:avLst/>
          </a:prstGeom>
          <a:noFill/>
          <a:ln/>
        </p:spPr>
        <p:txBody>
          <a:bodyPr wrap="square" lIns="0" tIns="0" rIns="0" bIns="0" rtlCol="0" anchor="t"/>
          <a:lstStyle/>
          <a:p>
            <a:pPr algn="r" indent="0" marL="0">
              <a:buNone/>
            </a:pPr>
            <a:r>
              <a:rPr lang="en-US" sz="1400" b="1" dirty="0">
                <a:solidFill>
                  <a:schemeClr val="accent6"/>
                </a:solidFill>
              </a:rPr>
              <a:t>09</a:t>
            </a:r>
            <a:endParaRPr lang="en-US" sz="1400" dirty="0"/>
          </a:p>
        </p:txBody>
      </p:sp>
      <p:sp>
        <p:nvSpPr>
          <p:cNvPr id="47" name="text-131"/>
          <p:cNvSpPr txBox="1"/>
          <p:nvPr/>
        </p:nvSpPr>
        <p:spPr>
          <a:xfrm>
            <a:off x="4474464" y="3858768"/>
            <a:ext cx="1414272" cy="548640"/>
          </a:xfrm>
          <a:prstGeom prst="rect">
            <a:avLst/>
          </a:prstGeom>
          <a:noFill/>
          <a:ln/>
        </p:spPr>
        <p:txBody>
          <a:bodyPr wrap="square" lIns="0" tIns="0" rIns="0" bIns="0" rtlCol="0" anchor="t"/>
          <a:lstStyle/>
          <a:p>
            <a:pPr indent="0" marL="0">
              <a:buNone/>
            </a:pPr>
            <a:r>
              <a:rPr lang="en-US" sz="1400" b="1" dirty="0">
                <a:solidFill>
                  <a:schemeClr val="tx1"/>
                </a:solidFill>
              </a:rPr>
              <a:t>Lifecycle Tracking</a:t>
            </a:r>
            <a:endParaRPr lang="en-US" sz="1400" dirty="0"/>
          </a:p>
        </p:txBody>
      </p:sp>
      <p:sp>
        <p:nvSpPr>
          <p:cNvPr id="48" name="card-132"/>
          <p:cNvSpPr/>
          <p:nvPr/>
        </p:nvSpPr>
        <p:spPr>
          <a:xfrm>
            <a:off x="6163056" y="3017520"/>
            <a:ext cx="1734312" cy="1463040"/>
          </a:xfrm>
          <a:prstGeom prst="roundRect">
            <a:avLst>
              <a:gd name="adj" fmla="val 6250"/>
            </a:avLst>
          </a:prstGeom>
          <a:solidFill>
            <a:schemeClr val="bg2"/>
          </a:solidFill>
          <a:ln/>
        </p:spPr>
      </p:sp>
      <p:sp>
        <p:nvSpPr>
          <p:cNvPr id="49" name="icon-bg-133"/>
          <p:cNvSpPr/>
          <p:nvPr/>
        </p:nvSpPr>
        <p:spPr>
          <a:xfrm>
            <a:off x="6382512" y="3236976"/>
            <a:ext cx="475488" cy="475488"/>
          </a:xfrm>
          <a:prstGeom prst="ellipse">
            <a:avLst/>
          </a:prstGeom>
          <a:solidFill>
            <a:schemeClr val="accent1"/>
          </a:solidFill>
          <a:ln/>
        </p:spPr>
      </p:sp>
      <p:pic>
        <p:nvPicPr>
          <p:cNvPr id="50" name="icon-134" descr="Robot icon">    </p:cNvPr>
          <p:cNvPicPr>
            <a:picLocks noChangeAspect="1"/>
          </p:cNvPicPr>
          <p:nvPr/>
        </p:nvPicPr>
        <p:blipFill>
          <a:blip r:embed="rId10"/>
          <a:stretch>
            <a:fillRect/>
          </a:stretch>
        </p:blipFill>
        <p:spPr>
          <a:xfrm>
            <a:off x="6501384" y="3355848"/>
            <a:ext cx="237744" cy="237744"/>
          </a:xfrm>
          <a:prstGeom prst="rect">
            <a:avLst/>
          </a:prstGeom>
        </p:spPr>
      </p:pic>
      <p:sp>
        <p:nvSpPr>
          <p:cNvPr id="51" name="text-135"/>
          <p:cNvSpPr txBox="1"/>
          <p:nvPr/>
        </p:nvSpPr>
        <p:spPr>
          <a:xfrm>
            <a:off x="7303008" y="3273552"/>
            <a:ext cx="411480" cy="365760"/>
          </a:xfrm>
          <a:prstGeom prst="rect">
            <a:avLst/>
          </a:prstGeom>
          <a:noFill/>
          <a:ln/>
        </p:spPr>
        <p:txBody>
          <a:bodyPr wrap="square" lIns="0" tIns="0" rIns="0" bIns="0" rtlCol="0" anchor="t"/>
          <a:lstStyle/>
          <a:p>
            <a:pPr algn="r" indent="0" marL="0">
              <a:buNone/>
            </a:pPr>
            <a:r>
              <a:rPr lang="en-US" sz="1400" b="1" dirty="0">
                <a:solidFill>
                  <a:schemeClr val="accent6"/>
                </a:solidFill>
              </a:rPr>
              <a:t>10</a:t>
            </a:r>
            <a:endParaRPr lang="en-US" sz="1400" dirty="0"/>
          </a:p>
        </p:txBody>
      </p:sp>
      <p:sp>
        <p:nvSpPr>
          <p:cNvPr id="52" name="text-136"/>
          <p:cNvSpPr txBox="1"/>
          <p:nvPr/>
        </p:nvSpPr>
        <p:spPr>
          <a:xfrm>
            <a:off x="6345936" y="3858768"/>
            <a:ext cx="1414272" cy="548640"/>
          </a:xfrm>
          <a:prstGeom prst="rect">
            <a:avLst/>
          </a:prstGeom>
          <a:noFill/>
          <a:ln/>
        </p:spPr>
        <p:txBody>
          <a:bodyPr wrap="square" lIns="0" tIns="0" rIns="0" bIns="0" rtlCol="0" anchor="t"/>
          <a:lstStyle/>
          <a:p>
            <a:pPr indent="0" marL="0">
              <a:buNone/>
            </a:pPr>
            <a:r>
              <a:rPr lang="en-US" sz="1400" b="1" dirty="0">
                <a:solidFill>
                  <a:schemeClr val="tx1"/>
                </a:solidFill>
              </a:rPr>
              <a:t>Three AI Agents</a:t>
            </a:r>
            <a:endParaRPr lang="en-US" sz="1400" dirty="0"/>
          </a:p>
        </p:txBody>
      </p:sp>
      <p:sp>
        <p:nvSpPr>
          <p:cNvPr id="53" name="card-137"/>
          <p:cNvSpPr/>
          <p:nvPr/>
        </p:nvSpPr>
        <p:spPr>
          <a:xfrm>
            <a:off x="8034528" y="3017520"/>
            <a:ext cx="1734312" cy="1463040"/>
          </a:xfrm>
          <a:prstGeom prst="roundRect">
            <a:avLst>
              <a:gd name="adj" fmla="val 6250"/>
            </a:avLst>
          </a:prstGeom>
          <a:solidFill>
            <a:schemeClr val="bg2"/>
          </a:solidFill>
          <a:ln/>
        </p:spPr>
      </p:sp>
      <p:sp>
        <p:nvSpPr>
          <p:cNvPr id="54" name="icon-bg-138"/>
          <p:cNvSpPr/>
          <p:nvPr/>
        </p:nvSpPr>
        <p:spPr>
          <a:xfrm>
            <a:off x="8253984" y="3236976"/>
            <a:ext cx="475488" cy="475488"/>
          </a:xfrm>
          <a:prstGeom prst="ellipse">
            <a:avLst/>
          </a:prstGeom>
          <a:solidFill>
            <a:schemeClr val="accent1"/>
          </a:solidFill>
          <a:ln/>
        </p:spPr>
      </p:sp>
      <p:pic>
        <p:nvPicPr>
          <p:cNvPr id="55" name="icon-139" descr="Brain icon">    </p:cNvPr>
          <p:cNvPicPr>
            <a:picLocks noChangeAspect="1"/>
          </p:cNvPicPr>
          <p:nvPr/>
        </p:nvPicPr>
        <p:blipFill>
          <a:blip r:embed="rId11"/>
          <a:stretch>
            <a:fillRect/>
          </a:stretch>
        </p:blipFill>
        <p:spPr>
          <a:xfrm>
            <a:off x="8372856" y="3355848"/>
            <a:ext cx="237744" cy="237744"/>
          </a:xfrm>
          <a:prstGeom prst="rect">
            <a:avLst/>
          </a:prstGeom>
        </p:spPr>
      </p:pic>
      <p:sp>
        <p:nvSpPr>
          <p:cNvPr id="56" name="text-140"/>
          <p:cNvSpPr txBox="1"/>
          <p:nvPr/>
        </p:nvSpPr>
        <p:spPr>
          <a:xfrm>
            <a:off x="9174480" y="3273552"/>
            <a:ext cx="411480" cy="365760"/>
          </a:xfrm>
          <a:prstGeom prst="rect">
            <a:avLst/>
          </a:prstGeom>
          <a:noFill/>
          <a:ln/>
        </p:spPr>
        <p:txBody>
          <a:bodyPr wrap="square" lIns="0" tIns="0" rIns="0" bIns="0" rtlCol="0" anchor="t"/>
          <a:lstStyle/>
          <a:p>
            <a:pPr algn="r" indent="0" marL="0">
              <a:buNone/>
            </a:pPr>
            <a:r>
              <a:rPr lang="en-US" sz="1400" b="1" dirty="0">
                <a:solidFill>
                  <a:schemeClr val="accent6"/>
                </a:solidFill>
              </a:rPr>
              <a:t>11</a:t>
            </a:r>
            <a:endParaRPr lang="en-US" sz="1400" dirty="0"/>
          </a:p>
        </p:txBody>
      </p:sp>
      <p:sp>
        <p:nvSpPr>
          <p:cNvPr id="57" name="text-141"/>
          <p:cNvSpPr txBox="1"/>
          <p:nvPr/>
        </p:nvSpPr>
        <p:spPr>
          <a:xfrm>
            <a:off x="8217408" y="3858768"/>
            <a:ext cx="1414272" cy="548640"/>
          </a:xfrm>
          <a:prstGeom prst="rect">
            <a:avLst/>
          </a:prstGeom>
          <a:noFill/>
          <a:ln/>
        </p:spPr>
        <p:txBody>
          <a:bodyPr wrap="square" lIns="0" tIns="0" rIns="0" bIns="0" rtlCol="0" anchor="t"/>
          <a:lstStyle/>
          <a:p>
            <a:pPr indent="0" marL="0">
              <a:buNone/>
            </a:pPr>
            <a:r>
              <a:rPr lang="en-US" sz="1400" b="1" dirty="0">
                <a:solidFill>
                  <a:schemeClr val="tx1"/>
                </a:solidFill>
              </a:rPr>
              <a:t>Context-Aware AI</a:t>
            </a:r>
            <a:endParaRPr lang="en-US" sz="1400" dirty="0"/>
          </a:p>
        </p:txBody>
      </p:sp>
      <p:sp>
        <p:nvSpPr>
          <p:cNvPr id="58" name="card-142"/>
          <p:cNvSpPr/>
          <p:nvPr/>
        </p:nvSpPr>
        <p:spPr>
          <a:xfrm>
            <a:off x="9906000" y="3017520"/>
            <a:ext cx="1734312" cy="1463040"/>
          </a:xfrm>
          <a:prstGeom prst="roundRect">
            <a:avLst>
              <a:gd name="adj" fmla="val 6250"/>
            </a:avLst>
          </a:prstGeom>
          <a:solidFill>
            <a:schemeClr val="bg2"/>
          </a:solidFill>
          <a:ln/>
        </p:spPr>
      </p:sp>
      <p:sp>
        <p:nvSpPr>
          <p:cNvPr id="59" name="icon-bg-143"/>
          <p:cNvSpPr/>
          <p:nvPr/>
        </p:nvSpPr>
        <p:spPr>
          <a:xfrm>
            <a:off x="10125456" y="3236976"/>
            <a:ext cx="475488" cy="475488"/>
          </a:xfrm>
          <a:prstGeom prst="ellipse">
            <a:avLst/>
          </a:prstGeom>
          <a:solidFill>
            <a:schemeClr val="accent1"/>
          </a:solidFill>
          <a:ln/>
        </p:spPr>
      </p:sp>
      <p:pic>
        <p:nvPicPr>
          <p:cNvPr id="60" name="icon-144" descr="ExchangeAlt icon">    </p:cNvPr>
          <p:cNvPicPr>
            <a:picLocks noChangeAspect="1"/>
          </p:cNvPicPr>
          <p:nvPr/>
        </p:nvPicPr>
        <p:blipFill>
          <a:blip r:embed="rId12"/>
          <a:stretch>
            <a:fillRect/>
          </a:stretch>
        </p:blipFill>
        <p:spPr>
          <a:xfrm>
            <a:off x="10244328" y="3355848"/>
            <a:ext cx="237744" cy="237744"/>
          </a:xfrm>
          <a:prstGeom prst="rect">
            <a:avLst/>
          </a:prstGeom>
        </p:spPr>
      </p:pic>
      <p:sp>
        <p:nvSpPr>
          <p:cNvPr id="61" name="text-145"/>
          <p:cNvSpPr txBox="1"/>
          <p:nvPr/>
        </p:nvSpPr>
        <p:spPr>
          <a:xfrm>
            <a:off x="11045952" y="3273552"/>
            <a:ext cx="411480" cy="365760"/>
          </a:xfrm>
          <a:prstGeom prst="rect">
            <a:avLst/>
          </a:prstGeom>
          <a:noFill/>
          <a:ln/>
        </p:spPr>
        <p:txBody>
          <a:bodyPr wrap="square" lIns="0" tIns="0" rIns="0" bIns="0" rtlCol="0" anchor="t"/>
          <a:lstStyle/>
          <a:p>
            <a:pPr algn="r" indent="0" marL="0">
              <a:buNone/>
            </a:pPr>
            <a:r>
              <a:rPr lang="en-US" sz="1400" b="1" dirty="0">
                <a:solidFill>
                  <a:schemeClr val="accent6"/>
                </a:solidFill>
              </a:rPr>
              <a:t>12</a:t>
            </a:r>
            <a:endParaRPr lang="en-US" sz="1400" dirty="0"/>
          </a:p>
        </p:txBody>
      </p:sp>
      <p:sp>
        <p:nvSpPr>
          <p:cNvPr id="62" name="text-146"/>
          <p:cNvSpPr txBox="1"/>
          <p:nvPr/>
        </p:nvSpPr>
        <p:spPr>
          <a:xfrm>
            <a:off x="10088880" y="3858768"/>
            <a:ext cx="1414272" cy="548640"/>
          </a:xfrm>
          <a:prstGeom prst="rect">
            <a:avLst/>
          </a:prstGeom>
          <a:noFill/>
          <a:ln/>
        </p:spPr>
        <p:txBody>
          <a:bodyPr wrap="square" lIns="0" tIns="0" rIns="0" bIns="0" rtlCol="0" anchor="t"/>
          <a:lstStyle/>
          <a:p>
            <a:pPr indent="0" marL="0">
              <a:buNone/>
            </a:pPr>
            <a:r>
              <a:rPr lang="en-US" sz="1400" b="1" dirty="0">
                <a:solidFill>
                  <a:schemeClr val="tx1"/>
                </a:solidFill>
              </a:rPr>
              <a:t>Agent-to-Agent Comms</a:t>
            </a:r>
            <a:endParaRPr lang="en-US" sz="1400" dirty="0"/>
          </a:p>
        </p:txBody>
      </p:sp>
      <p:sp>
        <p:nvSpPr>
          <p:cNvPr id="63" name="card-147"/>
          <p:cNvSpPr/>
          <p:nvPr/>
        </p:nvSpPr>
        <p:spPr>
          <a:xfrm>
            <a:off x="548640" y="4663440"/>
            <a:ext cx="1734312" cy="1463040"/>
          </a:xfrm>
          <a:prstGeom prst="roundRect">
            <a:avLst>
              <a:gd name="adj" fmla="val 6250"/>
            </a:avLst>
          </a:prstGeom>
          <a:solidFill>
            <a:schemeClr val="bg2"/>
          </a:solidFill>
          <a:ln/>
        </p:spPr>
      </p:sp>
      <p:sp>
        <p:nvSpPr>
          <p:cNvPr id="64" name="icon-bg-148"/>
          <p:cNvSpPr/>
          <p:nvPr/>
        </p:nvSpPr>
        <p:spPr>
          <a:xfrm>
            <a:off x="768096" y="4882896"/>
            <a:ext cx="475488" cy="475488"/>
          </a:xfrm>
          <a:prstGeom prst="ellipse">
            <a:avLst/>
          </a:prstGeom>
          <a:solidFill>
            <a:schemeClr val="accent1"/>
          </a:solidFill>
          <a:ln/>
        </p:spPr>
      </p:sp>
      <p:pic>
        <p:nvPicPr>
          <p:cNvPr id="65" name="icon-149" descr="Tools icon">    </p:cNvPr>
          <p:cNvPicPr>
            <a:picLocks noChangeAspect="1"/>
          </p:cNvPicPr>
          <p:nvPr/>
        </p:nvPicPr>
        <p:blipFill>
          <a:blip r:embed="rId13"/>
          <a:stretch>
            <a:fillRect/>
          </a:stretch>
        </p:blipFill>
        <p:spPr>
          <a:xfrm>
            <a:off x="886968" y="5001768"/>
            <a:ext cx="237744" cy="237744"/>
          </a:xfrm>
          <a:prstGeom prst="rect">
            <a:avLst/>
          </a:prstGeom>
        </p:spPr>
      </p:pic>
      <p:sp>
        <p:nvSpPr>
          <p:cNvPr id="66" name="text-150"/>
          <p:cNvSpPr txBox="1"/>
          <p:nvPr/>
        </p:nvSpPr>
        <p:spPr>
          <a:xfrm>
            <a:off x="1688592" y="4919472"/>
            <a:ext cx="411480" cy="365760"/>
          </a:xfrm>
          <a:prstGeom prst="rect">
            <a:avLst/>
          </a:prstGeom>
          <a:noFill/>
          <a:ln/>
        </p:spPr>
        <p:txBody>
          <a:bodyPr wrap="square" lIns="0" tIns="0" rIns="0" bIns="0" rtlCol="0" anchor="t"/>
          <a:lstStyle/>
          <a:p>
            <a:pPr algn="r" indent="0" marL="0">
              <a:buNone/>
            </a:pPr>
            <a:r>
              <a:rPr lang="en-US" sz="1400" b="1" dirty="0">
                <a:solidFill>
                  <a:schemeClr val="accent6"/>
                </a:solidFill>
              </a:rPr>
              <a:t>13</a:t>
            </a:r>
            <a:endParaRPr lang="en-US" sz="1400" dirty="0"/>
          </a:p>
        </p:txBody>
      </p:sp>
      <p:sp>
        <p:nvSpPr>
          <p:cNvPr id="67" name="text-151"/>
          <p:cNvSpPr txBox="1"/>
          <p:nvPr/>
        </p:nvSpPr>
        <p:spPr>
          <a:xfrm>
            <a:off x="731520" y="5504688"/>
            <a:ext cx="1414272" cy="548640"/>
          </a:xfrm>
          <a:prstGeom prst="rect">
            <a:avLst/>
          </a:prstGeom>
          <a:noFill/>
          <a:ln/>
        </p:spPr>
        <p:txBody>
          <a:bodyPr wrap="square" lIns="0" tIns="0" rIns="0" bIns="0" rtlCol="0" anchor="t"/>
          <a:lstStyle/>
          <a:p>
            <a:pPr indent="0" marL="0">
              <a:buNone/>
            </a:pPr>
            <a:r>
              <a:rPr lang="en-US" sz="1400" b="1" dirty="0">
                <a:solidFill>
                  <a:schemeClr val="tx1"/>
                </a:solidFill>
              </a:rPr>
              <a:t>Agentic Tools</a:t>
            </a:r>
            <a:endParaRPr lang="en-US" sz="1400" dirty="0"/>
          </a:p>
        </p:txBody>
      </p:sp>
      <p:sp>
        <p:nvSpPr>
          <p:cNvPr id="68" name="card-152"/>
          <p:cNvSpPr/>
          <p:nvPr/>
        </p:nvSpPr>
        <p:spPr>
          <a:xfrm>
            <a:off x="2420112" y="4663440"/>
            <a:ext cx="1734312" cy="1463040"/>
          </a:xfrm>
          <a:prstGeom prst="roundRect">
            <a:avLst>
              <a:gd name="adj" fmla="val 6250"/>
            </a:avLst>
          </a:prstGeom>
          <a:solidFill>
            <a:schemeClr val="bg2"/>
          </a:solidFill>
          <a:ln/>
        </p:spPr>
      </p:sp>
      <p:sp>
        <p:nvSpPr>
          <p:cNvPr id="69" name="icon-bg-153"/>
          <p:cNvSpPr/>
          <p:nvPr/>
        </p:nvSpPr>
        <p:spPr>
          <a:xfrm>
            <a:off x="2639568" y="4882896"/>
            <a:ext cx="475488" cy="475488"/>
          </a:xfrm>
          <a:prstGeom prst="ellipse">
            <a:avLst/>
          </a:prstGeom>
          <a:solidFill>
            <a:schemeClr val="accent6"/>
          </a:solidFill>
          <a:ln/>
        </p:spPr>
      </p:sp>
      <p:pic>
        <p:nvPicPr>
          <p:cNvPr id="70" name="icon-154" descr="Lock icon">    </p:cNvPr>
          <p:cNvPicPr>
            <a:picLocks noChangeAspect="1"/>
          </p:cNvPicPr>
          <p:nvPr/>
        </p:nvPicPr>
        <p:blipFill>
          <a:blip r:embed="rId14"/>
          <a:stretch>
            <a:fillRect/>
          </a:stretch>
        </p:blipFill>
        <p:spPr>
          <a:xfrm>
            <a:off x="2758440" y="5001768"/>
            <a:ext cx="237744" cy="237744"/>
          </a:xfrm>
          <a:prstGeom prst="rect">
            <a:avLst/>
          </a:prstGeom>
        </p:spPr>
      </p:pic>
      <p:sp>
        <p:nvSpPr>
          <p:cNvPr id="71" name="text-155"/>
          <p:cNvSpPr txBox="1"/>
          <p:nvPr/>
        </p:nvSpPr>
        <p:spPr>
          <a:xfrm>
            <a:off x="3560064" y="4919472"/>
            <a:ext cx="411480" cy="365760"/>
          </a:xfrm>
          <a:prstGeom prst="rect">
            <a:avLst/>
          </a:prstGeom>
          <a:noFill/>
          <a:ln/>
        </p:spPr>
        <p:txBody>
          <a:bodyPr wrap="square" lIns="0" tIns="0" rIns="0" bIns="0" rtlCol="0" anchor="t"/>
          <a:lstStyle/>
          <a:p>
            <a:pPr algn="r" indent="0" marL="0">
              <a:buNone/>
            </a:pPr>
            <a:r>
              <a:rPr lang="en-US" sz="1400" b="1" dirty="0">
                <a:solidFill>
                  <a:schemeClr val="accent6"/>
                </a:solidFill>
              </a:rPr>
              <a:t>14</a:t>
            </a:r>
            <a:endParaRPr lang="en-US" sz="1400" dirty="0"/>
          </a:p>
        </p:txBody>
      </p:sp>
      <p:sp>
        <p:nvSpPr>
          <p:cNvPr id="72" name="text-156"/>
          <p:cNvSpPr txBox="1"/>
          <p:nvPr/>
        </p:nvSpPr>
        <p:spPr>
          <a:xfrm>
            <a:off x="2602992" y="5504688"/>
            <a:ext cx="1414272" cy="548640"/>
          </a:xfrm>
          <a:prstGeom prst="rect">
            <a:avLst/>
          </a:prstGeom>
          <a:noFill/>
          <a:ln/>
        </p:spPr>
        <p:txBody>
          <a:bodyPr wrap="square" lIns="0" tIns="0" rIns="0" bIns="0" rtlCol="0" anchor="t"/>
          <a:lstStyle/>
          <a:p>
            <a:pPr indent="0" marL="0">
              <a:buNone/>
            </a:pPr>
            <a:r>
              <a:rPr lang="en-US" sz="1400" b="1" dirty="0">
                <a:solidFill>
                  <a:schemeClr val="tx1"/>
                </a:solidFill>
              </a:rPr>
              <a:t>Security &amp; Access</a:t>
            </a:r>
            <a:endParaRPr lang="en-US" sz="1400" dirty="0"/>
          </a:p>
        </p:txBody>
      </p:sp>
      <p:sp>
        <p:nvSpPr>
          <p:cNvPr id="73" name="card-157"/>
          <p:cNvSpPr/>
          <p:nvPr/>
        </p:nvSpPr>
        <p:spPr>
          <a:xfrm>
            <a:off x="4291584" y="4663440"/>
            <a:ext cx="1734312" cy="1463040"/>
          </a:xfrm>
          <a:prstGeom prst="roundRect">
            <a:avLst>
              <a:gd name="adj" fmla="val 6250"/>
            </a:avLst>
          </a:prstGeom>
          <a:solidFill>
            <a:schemeClr val="bg2"/>
          </a:solidFill>
          <a:ln/>
        </p:spPr>
      </p:sp>
      <p:sp>
        <p:nvSpPr>
          <p:cNvPr id="74" name="icon-bg-158"/>
          <p:cNvSpPr/>
          <p:nvPr/>
        </p:nvSpPr>
        <p:spPr>
          <a:xfrm>
            <a:off x="4511040" y="4882896"/>
            <a:ext cx="475488" cy="475488"/>
          </a:xfrm>
          <a:prstGeom prst="ellipse">
            <a:avLst/>
          </a:prstGeom>
          <a:solidFill>
            <a:schemeClr val="accent6"/>
          </a:solidFill>
          <a:ln/>
        </p:spPr>
      </p:sp>
      <p:pic>
        <p:nvPicPr>
          <p:cNvPr id="75" name="icon-159" descr="ShieldAlt icon">    </p:cNvPr>
          <p:cNvPicPr>
            <a:picLocks noChangeAspect="1"/>
          </p:cNvPicPr>
          <p:nvPr/>
        </p:nvPicPr>
        <p:blipFill>
          <a:blip r:embed="rId15"/>
          <a:stretch>
            <a:fillRect/>
          </a:stretch>
        </p:blipFill>
        <p:spPr>
          <a:xfrm>
            <a:off x="4629912" y="5001768"/>
            <a:ext cx="237744" cy="237744"/>
          </a:xfrm>
          <a:prstGeom prst="rect">
            <a:avLst/>
          </a:prstGeom>
        </p:spPr>
      </p:pic>
      <p:sp>
        <p:nvSpPr>
          <p:cNvPr id="76" name="text-160"/>
          <p:cNvSpPr txBox="1"/>
          <p:nvPr/>
        </p:nvSpPr>
        <p:spPr>
          <a:xfrm>
            <a:off x="5431536" y="4919472"/>
            <a:ext cx="411480" cy="365760"/>
          </a:xfrm>
          <a:prstGeom prst="rect">
            <a:avLst/>
          </a:prstGeom>
          <a:noFill/>
          <a:ln/>
        </p:spPr>
        <p:txBody>
          <a:bodyPr wrap="square" lIns="0" tIns="0" rIns="0" bIns="0" rtlCol="0" anchor="t"/>
          <a:lstStyle/>
          <a:p>
            <a:pPr algn="r" indent="0" marL="0">
              <a:buNone/>
            </a:pPr>
            <a:r>
              <a:rPr lang="en-US" sz="1400" b="1" dirty="0">
                <a:solidFill>
                  <a:schemeClr val="accent6"/>
                </a:solidFill>
              </a:rPr>
              <a:t>15</a:t>
            </a:r>
            <a:endParaRPr lang="en-US" sz="1400" dirty="0"/>
          </a:p>
        </p:txBody>
      </p:sp>
      <p:sp>
        <p:nvSpPr>
          <p:cNvPr id="77" name="text-161"/>
          <p:cNvSpPr txBox="1"/>
          <p:nvPr/>
        </p:nvSpPr>
        <p:spPr>
          <a:xfrm>
            <a:off x="4474464" y="5504688"/>
            <a:ext cx="1414272" cy="548640"/>
          </a:xfrm>
          <a:prstGeom prst="rect">
            <a:avLst/>
          </a:prstGeom>
          <a:noFill/>
          <a:ln/>
        </p:spPr>
        <p:txBody>
          <a:bodyPr wrap="square" lIns="0" tIns="0" rIns="0" bIns="0" rtlCol="0" anchor="t"/>
          <a:lstStyle/>
          <a:p>
            <a:pPr indent="0" marL="0">
              <a:buNone/>
            </a:pPr>
            <a:r>
              <a:rPr lang="en-US" sz="1400" b="1" dirty="0">
                <a:solidFill>
                  <a:schemeClr val="tx1"/>
                </a:solidFill>
              </a:rPr>
              <a:t>AI Guardrails</a:t>
            </a:r>
            <a:endParaRPr lang="en-US" sz="1400" dirty="0"/>
          </a:p>
        </p:txBody>
      </p:sp>
      <p:sp>
        <p:nvSpPr>
          <p:cNvPr id="78" name="card-162"/>
          <p:cNvSpPr/>
          <p:nvPr/>
        </p:nvSpPr>
        <p:spPr>
          <a:xfrm>
            <a:off x="6163056" y="4663440"/>
            <a:ext cx="1734312" cy="1463040"/>
          </a:xfrm>
          <a:prstGeom prst="roundRect">
            <a:avLst>
              <a:gd name="adj" fmla="val 6250"/>
            </a:avLst>
          </a:prstGeom>
          <a:solidFill>
            <a:schemeClr val="bg2"/>
          </a:solidFill>
          <a:ln/>
        </p:spPr>
      </p:sp>
      <p:sp>
        <p:nvSpPr>
          <p:cNvPr id="79" name="icon-bg-163"/>
          <p:cNvSpPr/>
          <p:nvPr/>
        </p:nvSpPr>
        <p:spPr>
          <a:xfrm>
            <a:off x="6382512" y="4882896"/>
            <a:ext cx="475488" cy="475488"/>
          </a:xfrm>
          <a:prstGeom prst="ellipse">
            <a:avLst/>
          </a:prstGeom>
          <a:solidFill>
            <a:schemeClr val="accent5"/>
          </a:solidFill>
          <a:ln/>
        </p:spPr>
      </p:sp>
      <p:pic>
        <p:nvPicPr>
          <p:cNvPr id="80" name="icon-164" descr="ChartLine icon">    </p:cNvPr>
          <p:cNvPicPr>
            <a:picLocks noChangeAspect="1"/>
          </p:cNvPicPr>
          <p:nvPr/>
        </p:nvPicPr>
        <p:blipFill>
          <a:blip r:embed="rId16"/>
          <a:stretch>
            <a:fillRect/>
          </a:stretch>
        </p:blipFill>
        <p:spPr>
          <a:xfrm>
            <a:off x="6501384" y="5001768"/>
            <a:ext cx="237744" cy="237744"/>
          </a:xfrm>
          <a:prstGeom prst="rect">
            <a:avLst/>
          </a:prstGeom>
        </p:spPr>
      </p:pic>
      <p:sp>
        <p:nvSpPr>
          <p:cNvPr id="81" name="text-165"/>
          <p:cNvSpPr txBox="1"/>
          <p:nvPr/>
        </p:nvSpPr>
        <p:spPr>
          <a:xfrm>
            <a:off x="7303008" y="4919472"/>
            <a:ext cx="411480" cy="365760"/>
          </a:xfrm>
          <a:prstGeom prst="rect">
            <a:avLst/>
          </a:prstGeom>
          <a:noFill/>
          <a:ln/>
        </p:spPr>
        <p:txBody>
          <a:bodyPr wrap="square" lIns="0" tIns="0" rIns="0" bIns="0" rtlCol="0" anchor="t"/>
          <a:lstStyle/>
          <a:p>
            <a:pPr algn="r" indent="0" marL="0">
              <a:buNone/>
            </a:pPr>
            <a:r>
              <a:rPr lang="en-US" sz="1400" b="1" dirty="0">
                <a:solidFill>
                  <a:schemeClr val="accent6"/>
                </a:solidFill>
              </a:rPr>
              <a:t>16</a:t>
            </a:r>
            <a:endParaRPr lang="en-US" sz="1400" dirty="0"/>
          </a:p>
        </p:txBody>
      </p:sp>
      <p:sp>
        <p:nvSpPr>
          <p:cNvPr id="82" name="text-166"/>
          <p:cNvSpPr txBox="1"/>
          <p:nvPr/>
        </p:nvSpPr>
        <p:spPr>
          <a:xfrm>
            <a:off x="6345936" y="5504688"/>
            <a:ext cx="1414272" cy="548640"/>
          </a:xfrm>
          <a:prstGeom prst="rect">
            <a:avLst/>
          </a:prstGeom>
          <a:noFill/>
          <a:ln/>
        </p:spPr>
        <p:txBody>
          <a:bodyPr wrap="square" lIns="0" tIns="0" rIns="0" bIns="0" rtlCol="0" anchor="t"/>
          <a:lstStyle/>
          <a:p>
            <a:pPr indent="0" marL="0">
              <a:buNone/>
            </a:pPr>
            <a:r>
              <a:rPr lang="en-US" sz="1400" b="1" dirty="0">
                <a:solidFill>
                  <a:schemeClr val="tx1"/>
                </a:solidFill>
              </a:rPr>
              <a:t>AI Quality &amp; Evaluation</a:t>
            </a:r>
            <a:endParaRPr lang="en-US" sz="1400" dirty="0"/>
          </a:p>
        </p:txBody>
      </p:sp>
      <p:sp>
        <p:nvSpPr>
          <p:cNvPr id="83" name="card-167"/>
          <p:cNvSpPr/>
          <p:nvPr/>
        </p:nvSpPr>
        <p:spPr>
          <a:xfrm>
            <a:off x="8034528" y="4663440"/>
            <a:ext cx="1734312" cy="1463040"/>
          </a:xfrm>
          <a:prstGeom prst="roundRect">
            <a:avLst>
              <a:gd name="adj" fmla="val 6250"/>
            </a:avLst>
          </a:prstGeom>
          <a:solidFill>
            <a:schemeClr val="bg2"/>
          </a:solidFill>
          <a:ln/>
        </p:spPr>
      </p:sp>
      <p:sp>
        <p:nvSpPr>
          <p:cNvPr id="84" name="icon-bg-168"/>
          <p:cNvSpPr/>
          <p:nvPr/>
        </p:nvSpPr>
        <p:spPr>
          <a:xfrm>
            <a:off x="8253984" y="4882896"/>
            <a:ext cx="475488" cy="475488"/>
          </a:xfrm>
          <a:prstGeom prst="ellipse">
            <a:avLst/>
          </a:prstGeom>
          <a:solidFill>
            <a:schemeClr val="accent6"/>
          </a:solidFill>
          <a:ln/>
        </p:spPr>
      </p:sp>
      <p:pic>
        <p:nvPicPr>
          <p:cNvPr id="85" name="icon-169" descr="ClipboardList icon">    </p:cNvPr>
          <p:cNvPicPr>
            <a:picLocks noChangeAspect="1"/>
          </p:cNvPicPr>
          <p:nvPr/>
        </p:nvPicPr>
        <p:blipFill>
          <a:blip r:embed="rId17"/>
          <a:stretch>
            <a:fillRect/>
          </a:stretch>
        </p:blipFill>
        <p:spPr>
          <a:xfrm>
            <a:off x="8372856" y="5001768"/>
            <a:ext cx="237744" cy="237744"/>
          </a:xfrm>
          <a:prstGeom prst="rect">
            <a:avLst/>
          </a:prstGeom>
        </p:spPr>
      </p:pic>
      <p:sp>
        <p:nvSpPr>
          <p:cNvPr id="86" name="text-170"/>
          <p:cNvSpPr txBox="1"/>
          <p:nvPr/>
        </p:nvSpPr>
        <p:spPr>
          <a:xfrm>
            <a:off x="9174480" y="4919472"/>
            <a:ext cx="411480" cy="365760"/>
          </a:xfrm>
          <a:prstGeom prst="rect">
            <a:avLst/>
          </a:prstGeom>
          <a:noFill/>
          <a:ln/>
        </p:spPr>
        <p:txBody>
          <a:bodyPr wrap="square" lIns="0" tIns="0" rIns="0" bIns="0" rtlCol="0" anchor="t"/>
          <a:lstStyle/>
          <a:p>
            <a:pPr algn="r" indent="0" marL="0">
              <a:buNone/>
            </a:pPr>
            <a:r>
              <a:rPr lang="en-US" sz="1400" b="1" dirty="0">
                <a:solidFill>
                  <a:schemeClr val="accent6"/>
                </a:solidFill>
              </a:rPr>
              <a:t>17</a:t>
            </a:r>
            <a:endParaRPr lang="en-US" sz="1400" dirty="0"/>
          </a:p>
        </p:txBody>
      </p:sp>
      <p:sp>
        <p:nvSpPr>
          <p:cNvPr id="87" name="text-171"/>
          <p:cNvSpPr txBox="1"/>
          <p:nvPr/>
        </p:nvSpPr>
        <p:spPr>
          <a:xfrm>
            <a:off x="8217408" y="5504688"/>
            <a:ext cx="1414272" cy="548640"/>
          </a:xfrm>
          <a:prstGeom prst="rect">
            <a:avLst/>
          </a:prstGeom>
          <a:noFill/>
          <a:ln/>
        </p:spPr>
        <p:txBody>
          <a:bodyPr wrap="square" lIns="0" tIns="0" rIns="0" bIns="0" rtlCol="0" anchor="t"/>
          <a:lstStyle/>
          <a:p>
            <a:pPr indent="0" marL="0">
              <a:buNone/>
            </a:pPr>
            <a:r>
              <a:rPr lang="en-US" sz="1400" b="1" dirty="0">
                <a:solidFill>
                  <a:schemeClr val="tx1"/>
                </a:solidFill>
              </a:rPr>
              <a:t>Audit &amp; Transparency</a:t>
            </a:r>
            <a:endParaRPr lang="en-US" sz="1400" dirty="0"/>
          </a:p>
        </p:txBody>
      </p:sp>
      <p:sp>
        <p:nvSpPr>
          <p:cNvPr id="88" name="card-172"/>
          <p:cNvSpPr/>
          <p:nvPr/>
        </p:nvSpPr>
        <p:spPr>
          <a:xfrm>
            <a:off x="9906000" y="4663440"/>
            <a:ext cx="1734312" cy="1463040"/>
          </a:xfrm>
          <a:prstGeom prst="roundRect">
            <a:avLst>
              <a:gd name="adj" fmla="val 6250"/>
            </a:avLst>
          </a:prstGeom>
          <a:solidFill>
            <a:schemeClr val="bg2"/>
          </a:solidFill>
          <a:ln/>
        </p:spPr>
      </p:sp>
      <p:sp>
        <p:nvSpPr>
          <p:cNvPr id="89" name="icon-bg-173"/>
          <p:cNvSpPr/>
          <p:nvPr/>
        </p:nvSpPr>
        <p:spPr>
          <a:xfrm>
            <a:off x="10125456" y="4882896"/>
            <a:ext cx="475488" cy="475488"/>
          </a:xfrm>
          <a:prstGeom prst="ellipse">
            <a:avLst/>
          </a:prstGeom>
          <a:solidFill>
            <a:schemeClr val="accent5"/>
          </a:solidFill>
          <a:ln/>
        </p:spPr>
      </p:sp>
      <p:pic>
        <p:nvPicPr>
          <p:cNvPr id="90" name="icon-174" descr="SyncAlt icon">    </p:cNvPr>
          <p:cNvPicPr>
            <a:picLocks noChangeAspect="1"/>
          </p:cNvPicPr>
          <p:nvPr/>
        </p:nvPicPr>
        <p:blipFill>
          <a:blip r:embed="rId18"/>
          <a:stretch>
            <a:fillRect/>
          </a:stretch>
        </p:blipFill>
        <p:spPr>
          <a:xfrm>
            <a:off x="10244328" y="5001768"/>
            <a:ext cx="237744" cy="237744"/>
          </a:xfrm>
          <a:prstGeom prst="rect">
            <a:avLst/>
          </a:prstGeom>
        </p:spPr>
      </p:pic>
      <p:sp>
        <p:nvSpPr>
          <p:cNvPr id="91" name="text-175"/>
          <p:cNvSpPr txBox="1"/>
          <p:nvPr/>
        </p:nvSpPr>
        <p:spPr>
          <a:xfrm>
            <a:off x="11045952" y="4919472"/>
            <a:ext cx="411480" cy="365760"/>
          </a:xfrm>
          <a:prstGeom prst="rect">
            <a:avLst/>
          </a:prstGeom>
          <a:noFill/>
          <a:ln/>
        </p:spPr>
        <p:txBody>
          <a:bodyPr wrap="square" lIns="0" tIns="0" rIns="0" bIns="0" rtlCol="0" anchor="t"/>
          <a:lstStyle/>
          <a:p>
            <a:pPr algn="r" indent="0" marL="0">
              <a:buNone/>
            </a:pPr>
            <a:r>
              <a:rPr lang="en-US" sz="1400" b="1" dirty="0">
                <a:solidFill>
                  <a:schemeClr val="accent6"/>
                </a:solidFill>
              </a:rPr>
              <a:t>18</a:t>
            </a:r>
            <a:endParaRPr lang="en-US" sz="1400" dirty="0"/>
          </a:p>
        </p:txBody>
      </p:sp>
      <p:sp>
        <p:nvSpPr>
          <p:cNvPr id="92" name="text-176"/>
          <p:cNvSpPr txBox="1"/>
          <p:nvPr/>
        </p:nvSpPr>
        <p:spPr>
          <a:xfrm>
            <a:off x="10088880" y="5504688"/>
            <a:ext cx="1414272" cy="548640"/>
          </a:xfrm>
          <a:prstGeom prst="rect">
            <a:avLst/>
          </a:prstGeom>
          <a:noFill/>
          <a:ln/>
        </p:spPr>
        <p:txBody>
          <a:bodyPr wrap="square" lIns="0" tIns="0" rIns="0" bIns="0" rtlCol="0" anchor="t"/>
          <a:lstStyle/>
          <a:p>
            <a:pPr indent="0" marL="0">
              <a:buNone/>
            </a:pPr>
            <a:r>
              <a:rPr lang="en-US" sz="1400" b="1" dirty="0">
                <a:solidFill>
                  <a:schemeClr val="tx1"/>
                </a:solidFill>
              </a:rPr>
              <a:t>Continuous Improvement</a:t>
            </a:r>
            <a:endParaRPr lang="en-US" sz="1400" dirty="0"/>
          </a:p>
        </p:txBody>
      </p:sp>
      <p:sp>
        <p:nvSpPr>
          <p:cNvPr id="25" name="Slide Number Placeholder 0"/>
          <p:cNvSpPr>
            <a:spLocks noGrp="1"/>
          </p:cNvSpPr>
          <p:nvPr>
            <p:ph type="sldNum" sz="quarter" idx="4294967295"/>
          </p:nvPr>
        </p:nvSpPr>
        <p:spPr>
          <a:xfrm>
            <a:off x="10972800" y="6419088"/>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200" b="1" dirty="0">
                <a:solidFill>
                  <a:schemeClr val="tx1"/>
                </a:solidFill>
              </a:rPr>
              <a:t>Project Flow: Citizen to Closure</a:t>
            </a:r>
            <a:endParaRPr lang="en-US" sz="3200" dirty="0"/>
          </a:p>
        </p:txBody>
      </p:sp>
      <p:sp>
        <p:nvSpPr>
          <p:cNvPr id="3" name="shape-177"/>
          <p:cNvSpPr/>
          <p:nvPr/>
        </p:nvSpPr>
        <p:spPr>
          <a:xfrm>
            <a:off x="548640" y="1371600"/>
            <a:ext cx="1371600" cy="777240"/>
          </a:xfrm>
          <a:prstGeom prst="homePlate">
            <a:avLst/>
          </a:prstGeom>
          <a:solidFill>
            <a:schemeClr val="accent4"/>
          </a:solidFill>
          <a:ln w="25400">
            <a:solidFill>
              <a:schemeClr val="bg1"/>
            </a:solidFill>
            <a:prstDash val="solid"/>
          </a:ln>
        </p:spPr>
      </p:sp>
      <p:sp>
        <p:nvSpPr>
          <p:cNvPr id="4" name="text-178"/>
          <p:cNvSpPr txBox="1"/>
          <p:nvPr/>
        </p:nvSpPr>
        <p:spPr>
          <a:xfrm>
            <a:off x="640080" y="1371600"/>
            <a:ext cx="868680" cy="777240"/>
          </a:xfrm>
          <a:prstGeom prst="rect">
            <a:avLst/>
          </a:prstGeom>
          <a:noFill/>
          <a:ln/>
        </p:spPr>
        <p:txBody>
          <a:bodyPr wrap="square" lIns="0" tIns="0" rIns="0" bIns="0" rtlCol="0" anchor="ctr"/>
          <a:lstStyle/>
          <a:p>
            <a:pPr algn="ctr" indent="0" marL="0">
              <a:buNone/>
            </a:pPr>
            <a:r>
              <a:rPr lang="en-US" sz="1400" b="1" dirty="0">
                <a:solidFill>
                  <a:schemeClr val="bg1"/>
                </a:solidFill>
              </a:rPr>
              <a:t>Submit</a:t>
            </a:r>
            <a:endParaRPr lang="en-US" sz="1400" dirty="0"/>
          </a:p>
        </p:txBody>
      </p:sp>
      <p:sp>
        <p:nvSpPr>
          <p:cNvPr id="5" name="shape-179"/>
          <p:cNvSpPr/>
          <p:nvPr/>
        </p:nvSpPr>
        <p:spPr>
          <a:xfrm>
            <a:off x="1763878" y="1371600"/>
            <a:ext cx="1371600" cy="777240"/>
          </a:xfrm>
          <a:prstGeom prst="chevron">
            <a:avLst/>
          </a:prstGeom>
          <a:solidFill>
            <a:schemeClr val="accent1"/>
          </a:solidFill>
          <a:ln w="25400">
            <a:solidFill>
              <a:schemeClr val="bg1"/>
            </a:solidFill>
            <a:prstDash val="solid"/>
          </a:ln>
        </p:spPr>
      </p:sp>
      <p:sp>
        <p:nvSpPr>
          <p:cNvPr id="6" name="text-180"/>
          <p:cNvSpPr txBox="1"/>
          <p:nvPr/>
        </p:nvSpPr>
        <p:spPr>
          <a:xfrm>
            <a:off x="2056486" y="1371600"/>
            <a:ext cx="868680" cy="777240"/>
          </a:xfrm>
          <a:prstGeom prst="rect">
            <a:avLst/>
          </a:prstGeom>
          <a:noFill/>
          <a:ln/>
        </p:spPr>
        <p:txBody>
          <a:bodyPr wrap="square" lIns="0" tIns="0" rIns="0" bIns="0" rtlCol="0" anchor="ctr"/>
          <a:lstStyle/>
          <a:p>
            <a:pPr algn="ctr" indent="0" marL="0">
              <a:buNone/>
            </a:pPr>
            <a:r>
              <a:rPr lang="en-US" sz="1400" b="1" dirty="0">
                <a:solidFill>
                  <a:schemeClr val="bg1"/>
                </a:solidFill>
              </a:rPr>
              <a:t>Analyze</a:t>
            </a:r>
            <a:endParaRPr lang="en-US" sz="1400" dirty="0"/>
          </a:p>
        </p:txBody>
      </p:sp>
      <p:sp>
        <p:nvSpPr>
          <p:cNvPr id="7" name="shape-181"/>
          <p:cNvSpPr/>
          <p:nvPr/>
        </p:nvSpPr>
        <p:spPr>
          <a:xfrm>
            <a:off x="2979115" y="1371600"/>
            <a:ext cx="1371600" cy="777240"/>
          </a:xfrm>
          <a:prstGeom prst="chevron">
            <a:avLst/>
          </a:prstGeom>
          <a:solidFill>
            <a:schemeClr val="accent1"/>
          </a:solidFill>
          <a:ln w="25400">
            <a:solidFill>
              <a:schemeClr val="bg1"/>
            </a:solidFill>
            <a:prstDash val="solid"/>
          </a:ln>
        </p:spPr>
      </p:sp>
      <p:sp>
        <p:nvSpPr>
          <p:cNvPr id="8" name="text-182"/>
          <p:cNvSpPr txBox="1"/>
          <p:nvPr/>
        </p:nvSpPr>
        <p:spPr>
          <a:xfrm>
            <a:off x="3271723" y="1371600"/>
            <a:ext cx="868680" cy="777240"/>
          </a:xfrm>
          <a:prstGeom prst="rect">
            <a:avLst/>
          </a:prstGeom>
          <a:noFill/>
          <a:ln/>
        </p:spPr>
        <p:txBody>
          <a:bodyPr wrap="square" lIns="0" tIns="0" rIns="0" bIns="0" rtlCol="0" anchor="ctr"/>
          <a:lstStyle/>
          <a:p>
            <a:pPr algn="ctr" indent="0" marL="0">
              <a:buNone/>
            </a:pPr>
            <a:r>
              <a:rPr lang="en-US" sz="1400" b="1" dirty="0">
                <a:solidFill>
                  <a:schemeClr val="bg1"/>
                </a:solidFill>
              </a:rPr>
              <a:t>Validate</a:t>
            </a:r>
            <a:endParaRPr lang="en-US" sz="1400" dirty="0"/>
          </a:p>
        </p:txBody>
      </p:sp>
      <p:sp>
        <p:nvSpPr>
          <p:cNvPr id="9" name="shape-183"/>
          <p:cNvSpPr/>
          <p:nvPr/>
        </p:nvSpPr>
        <p:spPr>
          <a:xfrm>
            <a:off x="4194353" y="1371600"/>
            <a:ext cx="1371600" cy="777240"/>
          </a:xfrm>
          <a:prstGeom prst="chevron">
            <a:avLst/>
          </a:prstGeom>
          <a:solidFill>
            <a:schemeClr val="accent1"/>
          </a:solidFill>
          <a:ln w="25400">
            <a:solidFill>
              <a:schemeClr val="bg1"/>
            </a:solidFill>
            <a:prstDash val="solid"/>
          </a:ln>
        </p:spPr>
      </p:sp>
      <p:sp>
        <p:nvSpPr>
          <p:cNvPr id="10" name="text-184"/>
          <p:cNvSpPr txBox="1"/>
          <p:nvPr/>
        </p:nvSpPr>
        <p:spPr>
          <a:xfrm>
            <a:off x="4486961" y="1371600"/>
            <a:ext cx="868680" cy="777240"/>
          </a:xfrm>
          <a:prstGeom prst="rect">
            <a:avLst/>
          </a:prstGeom>
          <a:noFill/>
          <a:ln/>
        </p:spPr>
        <p:txBody>
          <a:bodyPr wrap="square" lIns="0" tIns="0" rIns="0" bIns="0" rtlCol="0" anchor="ctr"/>
          <a:lstStyle/>
          <a:p>
            <a:pPr algn="ctr" indent="0" marL="0">
              <a:buNone/>
            </a:pPr>
            <a:r>
              <a:rPr lang="en-US" sz="1400" b="1" dirty="0">
                <a:solidFill>
                  <a:schemeClr val="bg1"/>
                </a:solidFill>
              </a:rPr>
              <a:t>Route</a:t>
            </a:r>
            <a:endParaRPr lang="en-US" sz="1400" dirty="0"/>
          </a:p>
        </p:txBody>
      </p:sp>
      <p:sp>
        <p:nvSpPr>
          <p:cNvPr id="11" name="shape-185"/>
          <p:cNvSpPr/>
          <p:nvPr/>
        </p:nvSpPr>
        <p:spPr>
          <a:xfrm>
            <a:off x="5409590" y="1371600"/>
            <a:ext cx="1371600" cy="777240"/>
          </a:xfrm>
          <a:prstGeom prst="chevron">
            <a:avLst/>
          </a:prstGeom>
          <a:solidFill>
            <a:schemeClr val="accent1"/>
          </a:solidFill>
          <a:ln w="25400">
            <a:solidFill>
              <a:schemeClr val="bg1"/>
            </a:solidFill>
            <a:prstDash val="solid"/>
          </a:ln>
        </p:spPr>
      </p:sp>
      <p:sp>
        <p:nvSpPr>
          <p:cNvPr id="12" name="text-186"/>
          <p:cNvSpPr txBox="1"/>
          <p:nvPr/>
        </p:nvSpPr>
        <p:spPr>
          <a:xfrm>
            <a:off x="5702198" y="1371600"/>
            <a:ext cx="868680" cy="777240"/>
          </a:xfrm>
          <a:prstGeom prst="rect">
            <a:avLst/>
          </a:prstGeom>
          <a:noFill/>
          <a:ln/>
        </p:spPr>
        <p:txBody>
          <a:bodyPr wrap="square" lIns="0" tIns="0" rIns="0" bIns="0" rtlCol="0" anchor="ctr"/>
          <a:lstStyle/>
          <a:p>
            <a:pPr algn="ctr" indent="0" marL="0">
              <a:buNone/>
            </a:pPr>
            <a:r>
              <a:rPr lang="en-US" sz="1400" b="1" dirty="0">
                <a:solidFill>
                  <a:schemeClr val="bg1"/>
                </a:solidFill>
              </a:rPr>
              <a:t>Assign</a:t>
            </a:r>
            <a:endParaRPr lang="en-US" sz="1400" dirty="0"/>
          </a:p>
        </p:txBody>
      </p:sp>
      <p:sp>
        <p:nvSpPr>
          <p:cNvPr id="13" name="shape-187"/>
          <p:cNvSpPr/>
          <p:nvPr/>
        </p:nvSpPr>
        <p:spPr>
          <a:xfrm>
            <a:off x="6624828" y="1371600"/>
            <a:ext cx="1371600" cy="777240"/>
          </a:xfrm>
          <a:prstGeom prst="chevron">
            <a:avLst/>
          </a:prstGeom>
          <a:solidFill>
            <a:schemeClr val="accent1"/>
          </a:solidFill>
          <a:ln w="25400">
            <a:solidFill>
              <a:schemeClr val="bg1"/>
            </a:solidFill>
            <a:prstDash val="solid"/>
          </a:ln>
        </p:spPr>
      </p:sp>
      <p:sp>
        <p:nvSpPr>
          <p:cNvPr id="14" name="text-188"/>
          <p:cNvSpPr txBox="1"/>
          <p:nvPr/>
        </p:nvSpPr>
        <p:spPr>
          <a:xfrm>
            <a:off x="6917436" y="1371600"/>
            <a:ext cx="868680" cy="777240"/>
          </a:xfrm>
          <a:prstGeom prst="rect">
            <a:avLst/>
          </a:prstGeom>
          <a:noFill/>
          <a:ln/>
        </p:spPr>
        <p:txBody>
          <a:bodyPr wrap="square" lIns="0" tIns="0" rIns="0" bIns="0" rtlCol="0" anchor="ctr"/>
          <a:lstStyle/>
          <a:p>
            <a:pPr algn="ctr" indent="0" marL="0">
              <a:buNone/>
            </a:pPr>
            <a:r>
              <a:rPr lang="en-US" sz="1400" b="1" dirty="0">
                <a:solidFill>
                  <a:schemeClr val="bg1"/>
                </a:solidFill>
              </a:rPr>
              <a:t>Monitor</a:t>
            </a:r>
            <a:endParaRPr lang="en-US" sz="1400" dirty="0"/>
          </a:p>
        </p:txBody>
      </p:sp>
      <p:sp>
        <p:nvSpPr>
          <p:cNvPr id="15" name="shape-189"/>
          <p:cNvSpPr/>
          <p:nvPr/>
        </p:nvSpPr>
        <p:spPr>
          <a:xfrm>
            <a:off x="7840066" y="1371600"/>
            <a:ext cx="1371600" cy="777240"/>
          </a:xfrm>
          <a:prstGeom prst="chevron">
            <a:avLst/>
          </a:prstGeom>
          <a:solidFill>
            <a:schemeClr val="accent3"/>
          </a:solidFill>
          <a:ln w="25400">
            <a:solidFill>
              <a:schemeClr val="bg1"/>
            </a:solidFill>
            <a:prstDash val="solid"/>
          </a:ln>
        </p:spPr>
      </p:sp>
      <p:sp>
        <p:nvSpPr>
          <p:cNvPr id="16" name="text-190"/>
          <p:cNvSpPr txBox="1"/>
          <p:nvPr/>
        </p:nvSpPr>
        <p:spPr>
          <a:xfrm>
            <a:off x="8132674" y="1371600"/>
            <a:ext cx="868680" cy="777240"/>
          </a:xfrm>
          <a:prstGeom prst="rect">
            <a:avLst/>
          </a:prstGeom>
          <a:noFill/>
          <a:ln/>
        </p:spPr>
        <p:txBody>
          <a:bodyPr wrap="square" lIns="0" tIns="0" rIns="0" bIns="0" rtlCol="0" anchor="ctr"/>
          <a:lstStyle/>
          <a:p>
            <a:pPr algn="ctr" indent="0" marL="0">
              <a:buNone/>
            </a:pPr>
            <a:r>
              <a:rPr lang="en-US" sz="1400" b="1" dirty="0">
                <a:solidFill>
                  <a:schemeClr val="bg1"/>
                </a:solidFill>
              </a:rPr>
              <a:t>Escalate</a:t>
            </a:r>
            <a:endParaRPr lang="en-US" sz="1400" dirty="0"/>
          </a:p>
        </p:txBody>
      </p:sp>
      <p:sp>
        <p:nvSpPr>
          <p:cNvPr id="17" name="shape-191"/>
          <p:cNvSpPr/>
          <p:nvPr/>
        </p:nvSpPr>
        <p:spPr>
          <a:xfrm>
            <a:off x="9055303" y="1371600"/>
            <a:ext cx="1371600" cy="777240"/>
          </a:xfrm>
          <a:prstGeom prst="chevron">
            <a:avLst/>
          </a:prstGeom>
          <a:solidFill>
            <a:schemeClr val="accent5"/>
          </a:solidFill>
          <a:ln w="25400">
            <a:solidFill>
              <a:schemeClr val="bg1"/>
            </a:solidFill>
            <a:prstDash val="solid"/>
          </a:ln>
        </p:spPr>
      </p:sp>
      <p:sp>
        <p:nvSpPr>
          <p:cNvPr id="18" name="text-192"/>
          <p:cNvSpPr txBox="1"/>
          <p:nvPr/>
        </p:nvSpPr>
        <p:spPr>
          <a:xfrm>
            <a:off x="9347911" y="1371600"/>
            <a:ext cx="868680" cy="777240"/>
          </a:xfrm>
          <a:prstGeom prst="rect">
            <a:avLst/>
          </a:prstGeom>
          <a:noFill/>
          <a:ln/>
        </p:spPr>
        <p:txBody>
          <a:bodyPr wrap="square" lIns="0" tIns="0" rIns="0" bIns="0" rtlCol="0" anchor="ctr"/>
          <a:lstStyle/>
          <a:p>
            <a:pPr algn="ctr" indent="0" marL="0">
              <a:buNone/>
            </a:pPr>
            <a:r>
              <a:rPr lang="en-US" sz="1400" b="1" dirty="0">
                <a:solidFill>
                  <a:schemeClr val="bg1"/>
                </a:solidFill>
              </a:rPr>
              <a:t>Resolve</a:t>
            </a:r>
            <a:endParaRPr lang="en-US" sz="1400" dirty="0"/>
          </a:p>
        </p:txBody>
      </p:sp>
      <p:sp>
        <p:nvSpPr>
          <p:cNvPr id="19" name="shape-193"/>
          <p:cNvSpPr/>
          <p:nvPr/>
        </p:nvSpPr>
        <p:spPr>
          <a:xfrm>
            <a:off x="10270541" y="1371600"/>
            <a:ext cx="1371600" cy="777240"/>
          </a:xfrm>
          <a:prstGeom prst="chevron">
            <a:avLst/>
          </a:prstGeom>
          <a:solidFill>
            <a:schemeClr val="accent5"/>
          </a:solidFill>
          <a:ln w="25400">
            <a:solidFill>
              <a:schemeClr val="bg1"/>
            </a:solidFill>
            <a:prstDash val="solid"/>
          </a:ln>
        </p:spPr>
      </p:sp>
      <p:sp>
        <p:nvSpPr>
          <p:cNvPr id="20" name="text-194"/>
          <p:cNvSpPr txBox="1"/>
          <p:nvPr/>
        </p:nvSpPr>
        <p:spPr>
          <a:xfrm>
            <a:off x="10563149" y="1371600"/>
            <a:ext cx="868680" cy="777240"/>
          </a:xfrm>
          <a:prstGeom prst="rect">
            <a:avLst/>
          </a:prstGeom>
          <a:noFill/>
          <a:ln/>
        </p:spPr>
        <p:txBody>
          <a:bodyPr wrap="square" lIns="0" tIns="0" rIns="0" bIns="0" rtlCol="0" anchor="ctr"/>
          <a:lstStyle/>
          <a:p>
            <a:pPr algn="ctr" indent="0" marL="0">
              <a:buNone/>
            </a:pPr>
            <a:r>
              <a:rPr lang="en-US" sz="1400" b="1" dirty="0">
                <a:solidFill>
                  <a:schemeClr val="bg1"/>
                </a:solidFill>
              </a:rPr>
              <a:t>Close</a:t>
            </a:r>
            <a:endParaRPr lang="en-US" sz="1400" dirty="0"/>
          </a:p>
        </p:txBody>
      </p:sp>
      <p:sp>
        <p:nvSpPr>
          <p:cNvPr id="21" name="card-195"/>
          <p:cNvSpPr/>
          <p:nvPr/>
        </p:nvSpPr>
        <p:spPr>
          <a:xfrm>
            <a:off x="548640" y="2514600"/>
            <a:ext cx="3749040" cy="3611880"/>
          </a:xfrm>
          <a:prstGeom prst="roundRect">
            <a:avLst>
              <a:gd name="adj" fmla="val 2532"/>
            </a:avLst>
          </a:prstGeom>
          <a:solidFill>
            <a:schemeClr val="tx1"/>
          </a:solidFill>
          <a:ln/>
        </p:spPr>
      </p:sp>
      <p:sp>
        <p:nvSpPr>
          <p:cNvPr id="22" name="text-196"/>
          <p:cNvSpPr txBox="1"/>
          <p:nvPr/>
        </p:nvSpPr>
        <p:spPr>
          <a:xfrm>
            <a:off x="868680" y="2788920"/>
            <a:ext cx="310896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EXAMPLE COMPLAINT</a:t>
            </a:r>
            <a:endParaRPr lang="en-US" sz="1200" dirty="0"/>
          </a:p>
        </p:txBody>
      </p:sp>
      <p:sp>
        <p:nvSpPr>
          <p:cNvPr id="23" name="text-197"/>
          <p:cNvSpPr txBox="1"/>
          <p:nvPr/>
        </p:nvSpPr>
        <p:spPr>
          <a:xfrm>
            <a:off x="868680" y="3154680"/>
            <a:ext cx="3108960" cy="1554480"/>
          </a:xfrm>
          <a:prstGeom prst="rect">
            <a:avLst/>
          </a:prstGeom>
          <a:noFill/>
          <a:ln/>
        </p:spPr>
        <p:txBody>
          <a:bodyPr wrap="square" lIns="0" tIns="0" rIns="0" bIns="0" rtlCol="0" anchor="t"/>
          <a:lstStyle/>
          <a:p>
            <a:pPr indent="0" marL="0">
              <a:buNone/>
            </a:pPr>
            <a:r>
              <a:rPr lang="en-US" sz="2200" i="1" dirty="0">
                <a:solidFill>
                  <a:schemeClr val="bg1"/>
                </a:solidFill>
                <a:latin typeface="+mj-lt" pitchFamily="34" charset="0"/>
                <a:ea typeface="+mj-lt" pitchFamily="34" charset="-122"/>
                <a:cs typeface="+mj-lt" pitchFamily="34" charset="-120"/>
              </a:rPr>
              <a:t>“Garbage has not been collected for 5 days near the school.”</a:t>
            </a:r>
            <a:endParaRPr lang="en-US" sz="2200" dirty="0"/>
          </a:p>
        </p:txBody>
      </p:sp>
      <p:sp>
        <p:nvSpPr>
          <p:cNvPr id="24" name="text-198"/>
          <p:cNvSpPr txBox="1"/>
          <p:nvPr/>
        </p:nvSpPr>
        <p:spPr>
          <a:xfrm>
            <a:off x="868680" y="4983480"/>
            <a:ext cx="3108960" cy="914400"/>
          </a:xfrm>
          <a:prstGeom prst="rect">
            <a:avLst/>
          </a:prstGeom>
          <a:noFill/>
          <a:ln/>
        </p:spPr>
        <p:txBody>
          <a:bodyPr wrap="square" lIns="0" tIns="0" rIns="0" bIns="0" rtlCol="0" anchor="t"/>
          <a:lstStyle/>
          <a:p>
            <a:pPr indent="0" marL="0">
              <a:buNone/>
            </a:pPr>
            <a:r>
              <a:rPr lang="en-US" sz="1400" dirty="0">
                <a:solidFill>
                  <a:schemeClr val="bg2"/>
                </a:solidFill>
              </a:rPr>
              <a:t>The system creates a complaint record and generates a unique complaint ID.</a:t>
            </a:r>
            <a:endParaRPr lang="en-US" sz="1400" dirty="0"/>
          </a:p>
        </p:txBody>
      </p:sp>
      <p:sp>
        <p:nvSpPr>
          <p:cNvPr id="25" name="card-199"/>
          <p:cNvSpPr/>
          <p:nvPr/>
        </p:nvSpPr>
        <p:spPr>
          <a:xfrm>
            <a:off x="4572000" y="2514600"/>
            <a:ext cx="3447288" cy="1719072"/>
          </a:xfrm>
          <a:prstGeom prst="roundRect">
            <a:avLst>
              <a:gd name="adj" fmla="val 5319"/>
            </a:avLst>
          </a:prstGeom>
          <a:solidFill>
            <a:schemeClr val="bg2"/>
          </a:solidFill>
          <a:ln/>
        </p:spPr>
      </p:sp>
      <p:sp>
        <p:nvSpPr>
          <p:cNvPr id="26" name="icon-bg-200"/>
          <p:cNvSpPr/>
          <p:nvPr/>
        </p:nvSpPr>
        <p:spPr>
          <a:xfrm>
            <a:off x="4777740" y="2720340"/>
            <a:ext cx="502920" cy="502920"/>
          </a:xfrm>
          <a:prstGeom prst="ellipse">
            <a:avLst/>
          </a:prstGeom>
          <a:solidFill>
            <a:schemeClr val="accent1"/>
          </a:solidFill>
          <a:ln/>
        </p:spPr>
      </p:sp>
      <p:pic>
        <p:nvPicPr>
          <p:cNvPr id="27" name="icon-201" descr="Search icon">    </p:cNvPr>
          <p:cNvPicPr>
            <a:picLocks noChangeAspect="1"/>
          </p:cNvPicPr>
          <p:nvPr/>
        </p:nvPicPr>
        <p:blipFill>
          <a:blip r:embed="rId1"/>
          <a:stretch>
            <a:fillRect/>
          </a:stretch>
        </p:blipFill>
        <p:spPr>
          <a:xfrm>
            <a:off x="4903470" y="2846070"/>
            <a:ext cx="251460" cy="251460"/>
          </a:xfrm>
          <a:prstGeom prst="rect">
            <a:avLst/>
          </a:prstGeom>
        </p:spPr>
      </p:pic>
      <p:sp>
        <p:nvSpPr>
          <p:cNvPr id="28" name="text-202"/>
          <p:cNvSpPr txBox="1"/>
          <p:nvPr/>
        </p:nvSpPr>
        <p:spPr>
          <a:xfrm>
            <a:off x="5440680" y="2743200"/>
            <a:ext cx="2441448" cy="457200"/>
          </a:xfrm>
          <a:prstGeom prst="rect">
            <a:avLst/>
          </a:prstGeom>
          <a:noFill/>
          <a:ln/>
        </p:spPr>
        <p:txBody>
          <a:bodyPr wrap="square" lIns="0" tIns="0" rIns="0" bIns="0" rtlCol="0" anchor="ctr"/>
          <a:lstStyle/>
          <a:p>
            <a:pPr indent="0" marL="0">
              <a:buNone/>
            </a:pPr>
            <a:r>
              <a:rPr lang="en-US" sz="1600" b="1" dirty="0">
                <a:solidFill>
                  <a:schemeClr val="tx1"/>
                </a:solidFill>
              </a:rPr>
              <a:t>Analyze  ·  Agent 1</a:t>
            </a:r>
            <a:endParaRPr lang="en-US" sz="1600" dirty="0"/>
          </a:p>
        </p:txBody>
      </p:sp>
      <p:sp>
        <p:nvSpPr>
          <p:cNvPr id="29" name="text-203"/>
          <p:cNvSpPr txBox="1"/>
          <p:nvPr/>
        </p:nvSpPr>
        <p:spPr>
          <a:xfrm>
            <a:off x="4800600" y="3383280"/>
            <a:ext cx="2990088" cy="777240"/>
          </a:xfrm>
          <a:prstGeom prst="rect">
            <a:avLst/>
          </a:prstGeom>
          <a:noFill/>
          <a:ln/>
        </p:spPr>
        <p:txBody>
          <a:bodyPr wrap="square" lIns="0" tIns="0" rIns="0" bIns="0" rtlCol="0" anchor="t"/>
          <a:lstStyle/>
          <a:p>
            <a:pPr indent="0" marL="0">
              <a:buNone/>
            </a:pPr>
            <a:r>
              <a:rPr lang="en-US" sz="1400" dirty="0">
                <a:solidFill>
                  <a:schemeClr val="tx2"/>
                </a:solidFill>
              </a:rPr>
              <a:t>Issue, category, location and severity; flags missing information and duplicates</a:t>
            </a:r>
            <a:endParaRPr lang="en-US" sz="1400" dirty="0"/>
          </a:p>
        </p:txBody>
      </p:sp>
      <p:sp>
        <p:nvSpPr>
          <p:cNvPr id="30" name="card-204"/>
          <p:cNvSpPr/>
          <p:nvPr/>
        </p:nvSpPr>
        <p:spPr>
          <a:xfrm>
            <a:off x="8193024" y="2514600"/>
            <a:ext cx="3447288" cy="1719072"/>
          </a:xfrm>
          <a:prstGeom prst="roundRect">
            <a:avLst>
              <a:gd name="adj" fmla="val 5319"/>
            </a:avLst>
          </a:prstGeom>
          <a:solidFill>
            <a:schemeClr val="bg2"/>
          </a:solidFill>
          <a:ln/>
        </p:spPr>
      </p:sp>
      <p:sp>
        <p:nvSpPr>
          <p:cNvPr id="31" name="icon-bg-205"/>
          <p:cNvSpPr/>
          <p:nvPr/>
        </p:nvSpPr>
        <p:spPr>
          <a:xfrm>
            <a:off x="8398764" y="2720340"/>
            <a:ext cx="502920" cy="502920"/>
          </a:xfrm>
          <a:prstGeom prst="ellipse">
            <a:avLst/>
          </a:prstGeom>
          <a:solidFill>
            <a:schemeClr val="accent1"/>
          </a:solidFill>
          <a:ln/>
        </p:spPr>
      </p:sp>
      <p:pic>
        <p:nvPicPr>
          <p:cNvPr id="32" name="icon-206" descr="Route icon">    </p:cNvPr>
          <p:cNvPicPr>
            <a:picLocks noChangeAspect="1"/>
          </p:cNvPicPr>
          <p:nvPr/>
        </p:nvPicPr>
        <p:blipFill>
          <a:blip r:embed="rId2"/>
          <a:stretch>
            <a:fillRect/>
          </a:stretch>
        </p:blipFill>
        <p:spPr>
          <a:xfrm>
            <a:off x="8524494" y="2846070"/>
            <a:ext cx="251460" cy="251460"/>
          </a:xfrm>
          <a:prstGeom prst="rect">
            <a:avLst/>
          </a:prstGeom>
        </p:spPr>
      </p:pic>
      <p:sp>
        <p:nvSpPr>
          <p:cNvPr id="33" name="text-207"/>
          <p:cNvSpPr txBox="1"/>
          <p:nvPr/>
        </p:nvSpPr>
        <p:spPr>
          <a:xfrm>
            <a:off x="9061704" y="2743200"/>
            <a:ext cx="2441448" cy="457200"/>
          </a:xfrm>
          <a:prstGeom prst="rect">
            <a:avLst/>
          </a:prstGeom>
          <a:noFill/>
          <a:ln/>
        </p:spPr>
        <p:txBody>
          <a:bodyPr wrap="square" lIns="0" tIns="0" rIns="0" bIns="0" rtlCol="0" anchor="ctr"/>
          <a:lstStyle/>
          <a:p>
            <a:pPr indent="0" marL="0">
              <a:buNone/>
            </a:pPr>
            <a:r>
              <a:rPr lang="en-US" sz="1600" b="1" dirty="0">
                <a:solidFill>
                  <a:schemeClr val="tx1"/>
                </a:solidFill>
              </a:rPr>
              <a:t>Route &amp; assign  ·  Agent 2</a:t>
            </a:r>
            <a:endParaRPr lang="en-US" sz="1600" dirty="0"/>
          </a:p>
        </p:txBody>
      </p:sp>
      <p:sp>
        <p:nvSpPr>
          <p:cNvPr id="34" name="text-208"/>
          <p:cNvSpPr txBox="1"/>
          <p:nvPr/>
        </p:nvSpPr>
        <p:spPr>
          <a:xfrm>
            <a:off x="8421624" y="3383280"/>
            <a:ext cx="2990088" cy="777240"/>
          </a:xfrm>
          <a:prstGeom prst="rect">
            <a:avLst/>
          </a:prstGeom>
          <a:noFill/>
          <a:ln/>
        </p:spPr>
        <p:txBody>
          <a:bodyPr wrap="square" lIns="0" tIns="0" rIns="0" bIns="0" rtlCol="0" anchor="t"/>
          <a:lstStyle/>
          <a:p>
            <a:pPr indent="0" marL="0">
              <a:buNone/>
            </a:pPr>
            <a:r>
              <a:rPr lang="en-US" sz="1400" dirty="0">
                <a:solidFill>
                  <a:schemeClr val="tx2"/>
                </a:solidFill>
              </a:rPr>
              <a:t>Department, jurisdiction, officer or team, SLA and required action</a:t>
            </a:r>
            <a:endParaRPr lang="en-US" sz="1400" dirty="0"/>
          </a:p>
        </p:txBody>
      </p:sp>
      <p:sp>
        <p:nvSpPr>
          <p:cNvPr id="35" name="card-209"/>
          <p:cNvSpPr/>
          <p:nvPr/>
        </p:nvSpPr>
        <p:spPr>
          <a:xfrm>
            <a:off x="4572000" y="4407408"/>
            <a:ext cx="3447288" cy="1719072"/>
          </a:xfrm>
          <a:prstGeom prst="roundRect">
            <a:avLst>
              <a:gd name="adj" fmla="val 5319"/>
            </a:avLst>
          </a:prstGeom>
          <a:solidFill>
            <a:schemeClr val="bg2"/>
          </a:solidFill>
          <a:ln/>
        </p:spPr>
      </p:sp>
      <p:sp>
        <p:nvSpPr>
          <p:cNvPr id="36" name="icon-bg-210"/>
          <p:cNvSpPr/>
          <p:nvPr/>
        </p:nvSpPr>
        <p:spPr>
          <a:xfrm>
            <a:off x="4777740" y="4613148"/>
            <a:ext cx="502920" cy="502920"/>
          </a:xfrm>
          <a:prstGeom prst="ellipse">
            <a:avLst/>
          </a:prstGeom>
          <a:solidFill>
            <a:schemeClr val="accent1"/>
          </a:solidFill>
          <a:ln/>
        </p:spPr>
      </p:sp>
      <p:pic>
        <p:nvPicPr>
          <p:cNvPr id="37" name="icon-211" descr="Eye icon">    </p:cNvPr>
          <p:cNvPicPr>
            <a:picLocks noChangeAspect="1"/>
          </p:cNvPicPr>
          <p:nvPr/>
        </p:nvPicPr>
        <p:blipFill>
          <a:blip r:embed="rId3"/>
          <a:stretch>
            <a:fillRect/>
          </a:stretch>
        </p:blipFill>
        <p:spPr>
          <a:xfrm>
            <a:off x="4903470" y="4738878"/>
            <a:ext cx="251460" cy="251460"/>
          </a:xfrm>
          <a:prstGeom prst="rect">
            <a:avLst/>
          </a:prstGeom>
        </p:spPr>
      </p:pic>
      <p:sp>
        <p:nvSpPr>
          <p:cNvPr id="38" name="text-212"/>
          <p:cNvSpPr txBox="1"/>
          <p:nvPr/>
        </p:nvSpPr>
        <p:spPr>
          <a:xfrm>
            <a:off x="5440680" y="4636008"/>
            <a:ext cx="2441448" cy="457200"/>
          </a:xfrm>
          <a:prstGeom prst="rect">
            <a:avLst/>
          </a:prstGeom>
          <a:noFill/>
          <a:ln/>
        </p:spPr>
        <p:txBody>
          <a:bodyPr wrap="square" lIns="0" tIns="0" rIns="0" bIns="0" rtlCol="0" anchor="ctr"/>
          <a:lstStyle/>
          <a:p>
            <a:pPr indent="0" marL="0">
              <a:buNone/>
            </a:pPr>
            <a:r>
              <a:rPr lang="en-US" sz="1600" b="1" dirty="0">
                <a:solidFill>
                  <a:schemeClr val="tx1"/>
                </a:solidFill>
              </a:rPr>
              <a:t>Monitor  ·  Agent 3</a:t>
            </a:r>
            <a:endParaRPr lang="en-US" sz="1600" dirty="0"/>
          </a:p>
        </p:txBody>
      </p:sp>
      <p:sp>
        <p:nvSpPr>
          <p:cNvPr id="39" name="text-213"/>
          <p:cNvSpPr txBox="1"/>
          <p:nvPr/>
        </p:nvSpPr>
        <p:spPr>
          <a:xfrm>
            <a:off x="4800600" y="5276088"/>
            <a:ext cx="2990088" cy="777240"/>
          </a:xfrm>
          <a:prstGeom prst="rect">
            <a:avLst/>
          </a:prstGeom>
          <a:noFill/>
          <a:ln/>
        </p:spPr>
        <p:txBody>
          <a:bodyPr wrap="square" lIns="0" tIns="0" rIns="0" bIns="0" rtlCol="0" anchor="t"/>
          <a:lstStyle/>
          <a:p>
            <a:pPr indent="0" marL="0">
              <a:buNone/>
            </a:pPr>
            <a:r>
              <a:rPr lang="en-US" sz="1400" dirty="0">
                <a:solidFill>
                  <a:schemeClr val="tx2"/>
                </a:solidFill>
              </a:rPr>
              <a:t>Tracks status, progress and the SLA deadline; updates the citizen</a:t>
            </a:r>
            <a:endParaRPr lang="en-US" sz="1400" dirty="0"/>
          </a:p>
        </p:txBody>
      </p:sp>
      <p:sp>
        <p:nvSpPr>
          <p:cNvPr id="40" name="card-214"/>
          <p:cNvSpPr/>
          <p:nvPr/>
        </p:nvSpPr>
        <p:spPr>
          <a:xfrm>
            <a:off x="8193024" y="4407408"/>
            <a:ext cx="3447288" cy="1719072"/>
          </a:xfrm>
          <a:prstGeom prst="roundRect">
            <a:avLst>
              <a:gd name="adj" fmla="val 5319"/>
            </a:avLst>
          </a:prstGeom>
          <a:solidFill>
            <a:schemeClr val="bg2"/>
          </a:solidFill>
          <a:ln/>
        </p:spPr>
      </p:sp>
      <p:sp>
        <p:nvSpPr>
          <p:cNvPr id="41" name="icon-bg-215"/>
          <p:cNvSpPr/>
          <p:nvPr/>
        </p:nvSpPr>
        <p:spPr>
          <a:xfrm>
            <a:off x="8398764" y="4613148"/>
            <a:ext cx="502920" cy="502920"/>
          </a:xfrm>
          <a:prstGeom prst="ellipse">
            <a:avLst/>
          </a:prstGeom>
          <a:solidFill>
            <a:schemeClr val="accent5"/>
          </a:solidFill>
          <a:ln/>
        </p:spPr>
      </p:sp>
      <p:pic>
        <p:nvPicPr>
          <p:cNvPr id="42" name="icon-216" descr="CheckCircle icon">    </p:cNvPr>
          <p:cNvPicPr>
            <a:picLocks noChangeAspect="1"/>
          </p:cNvPicPr>
          <p:nvPr/>
        </p:nvPicPr>
        <p:blipFill>
          <a:blip r:embed="rId4"/>
          <a:stretch>
            <a:fillRect/>
          </a:stretch>
        </p:blipFill>
        <p:spPr>
          <a:xfrm>
            <a:off x="8524494" y="4738878"/>
            <a:ext cx="251460" cy="251460"/>
          </a:xfrm>
          <a:prstGeom prst="rect">
            <a:avLst/>
          </a:prstGeom>
        </p:spPr>
      </p:pic>
      <p:sp>
        <p:nvSpPr>
          <p:cNvPr id="43" name="text-217"/>
          <p:cNvSpPr txBox="1"/>
          <p:nvPr/>
        </p:nvSpPr>
        <p:spPr>
          <a:xfrm>
            <a:off x="9061704" y="4636008"/>
            <a:ext cx="2441448" cy="457200"/>
          </a:xfrm>
          <a:prstGeom prst="rect">
            <a:avLst/>
          </a:prstGeom>
          <a:noFill/>
          <a:ln/>
        </p:spPr>
        <p:txBody>
          <a:bodyPr wrap="square" lIns="0" tIns="0" rIns="0" bIns="0" rtlCol="0" anchor="ctr"/>
          <a:lstStyle/>
          <a:p>
            <a:pPr indent="0" marL="0">
              <a:buNone/>
            </a:pPr>
            <a:r>
              <a:rPr lang="en-US" sz="1600" b="1" dirty="0">
                <a:solidFill>
                  <a:schemeClr val="tx1"/>
                </a:solidFill>
              </a:rPr>
              <a:t>Escalate or resolve</a:t>
            </a:r>
            <a:endParaRPr lang="en-US" sz="1600" dirty="0"/>
          </a:p>
        </p:txBody>
      </p:sp>
      <p:sp>
        <p:nvSpPr>
          <p:cNvPr id="44" name="text-218"/>
          <p:cNvSpPr txBox="1"/>
          <p:nvPr/>
        </p:nvSpPr>
        <p:spPr>
          <a:xfrm>
            <a:off x="8421624" y="5276088"/>
            <a:ext cx="2990088" cy="777240"/>
          </a:xfrm>
          <a:prstGeom prst="rect">
            <a:avLst/>
          </a:prstGeom>
          <a:noFill/>
          <a:ln/>
        </p:spPr>
        <p:txBody>
          <a:bodyPr wrap="square" lIns="0" tIns="0" rIns="0" bIns="0" rtlCol="0" anchor="t"/>
          <a:lstStyle/>
          <a:p>
            <a:pPr indent="0" marL="0">
              <a:buNone/>
            </a:pPr>
            <a:r>
              <a:rPr lang="en-US" sz="1400" dirty="0">
                <a:solidFill>
                  <a:schemeClr val="tx2"/>
                </a:solidFill>
              </a:rPr>
              <a:t>SLA breached: senior authority. Resolved: closed and citizen notified</a:t>
            </a:r>
            <a:endParaRPr lang="en-US" sz="1400" dirty="0"/>
          </a:p>
        </p:txBody>
      </p:sp>
      <p:sp>
        <p:nvSpPr>
          <p:cNvPr id="25" name="Slide Number Placeholder 0"/>
          <p:cNvSpPr>
            <a:spLocks noGrp="1"/>
          </p:cNvSpPr>
          <p:nvPr>
            <p:ph type="sldNum" sz="quarter" idx="4294967295"/>
          </p:nvPr>
        </p:nvSpPr>
        <p:spPr>
          <a:xfrm>
            <a:off x="10972800" y="6419088"/>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200" b="1" dirty="0">
                <a:solidFill>
                  <a:schemeClr val="tx1"/>
                </a:solidFill>
              </a:rPr>
              <a:t>Agent 1: Complaint Analyst</a:t>
            </a:r>
            <a:endParaRPr lang="en-US" sz="3200" dirty="0"/>
          </a:p>
        </p:txBody>
      </p:sp>
      <p:sp>
        <p:nvSpPr>
          <p:cNvPr id="3" name="card-219"/>
          <p:cNvSpPr/>
          <p:nvPr/>
        </p:nvSpPr>
        <p:spPr>
          <a:xfrm>
            <a:off x="548640" y="1371600"/>
            <a:ext cx="3566160" cy="4754880"/>
          </a:xfrm>
          <a:prstGeom prst="roundRect">
            <a:avLst>
              <a:gd name="adj" fmla="val 2564"/>
            </a:avLst>
          </a:prstGeom>
          <a:solidFill>
            <a:schemeClr val="bg2"/>
          </a:solidFill>
          <a:ln/>
        </p:spPr>
      </p:sp>
      <p:sp>
        <p:nvSpPr>
          <p:cNvPr id="4" name="icon-bg-220"/>
          <p:cNvSpPr/>
          <p:nvPr/>
        </p:nvSpPr>
        <p:spPr>
          <a:xfrm>
            <a:off x="777240" y="1691640"/>
            <a:ext cx="548640" cy="548640"/>
          </a:xfrm>
          <a:prstGeom prst="ellipse">
            <a:avLst/>
          </a:prstGeom>
          <a:solidFill>
            <a:schemeClr val="accent4"/>
          </a:solidFill>
          <a:ln/>
        </p:spPr>
      </p:sp>
      <p:pic>
        <p:nvPicPr>
          <p:cNvPr id="5" name="icon-221" descr="PaperPlane icon">    </p:cNvPr>
          <p:cNvPicPr>
            <a:picLocks noChangeAspect="1"/>
          </p:cNvPicPr>
          <p:nvPr/>
        </p:nvPicPr>
        <p:blipFill>
          <a:blip r:embed="rId1"/>
          <a:stretch>
            <a:fillRect/>
          </a:stretch>
        </p:blipFill>
        <p:spPr>
          <a:xfrm>
            <a:off x="914400" y="1828800"/>
            <a:ext cx="274320" cy="274320"/>
          </a:xfrm>
          <a:prstGeom prst="rect">
            <a:avLst/>
          </a:prstGeom>
        </p:spPr>
      </p:pic>
      <p:sp>
        <p:nvSpPr>
          <p:cNvPr id="6" name="text-222"/>
          <p:cNvSpPr txBox="1"/>
          <p:nvPr/>
        </p:nvSpPr>
        <p:spPr>
          <a:xfrm>
            <a:off x="1508760" y="1691640"/>
            <a:ext cx="2468880" cy="548640"/>
          </a:xfrm>
          <a:prstGeom prst="rect">
            <a:avLst/>
          </a:prstGeom>
          <a:noFill/>
          <a:ln/>
        </p:spPr>
        <p:txBody>
          <a:bodyPr wrap="square" lIns="0" tIns="0" rIns="0" bIns="0" rtlCol="0" anchor="ctr"/>
          <a:lstStyle/>
          <a:p>
            <a:pPr indent="0" marL="0">
              <a:buNone/>
            </a:pPr>
            <a:r>
              <a:rPr lang="en-US" sz="1800" b="1" dirty="0">
                <a:solidFill>
                  <a:schemeClr val="tx1"/>
                </a:solidFill>
              </a:rPr>
              <a:t>Complaint submission</a:t>
            </a:r>
            <a:endParaRPr lang="en-US" sz="1800" dirty="0"/>
          </a:p>
        </p:txBody>
      </p:sp>
      <p:sp>
        <p:nvSpPr>
          <p:cNvPr id="7" name="text-223"/>
          <p:cNvSpPr txBox="1"/>
          <p:nvPr/>
        </p:nvSpPr>
        <p:spPr>
          <a:xfrm>
            <a:off x="777240" y="2514600"/>
            <a:ext cx="3108960" cy="173736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2"/>
                </a:solidFill>
              </a:rPr>
              <a:t>Web or mobile app</a:t>
            </a:r>
            <a:endParaRPr lang="en-US" sz="1500" dirty="0"/>
          </a:p>
          <a:p>
            <a:pPr marL="177800" indent="-177800">
              <a:spcAft>
                <a:spcPts val="600"/>
              </a:spcAft>
              <a:buSzPct val="100000"/>
              <a:buChar char="•"/>
            </a:pPr>
            <a:r>
              <a:rPr lang="en-US" sz="1500" dirty="0">
                <a:solidFill>
                  <a:schemeClr val="tx2"/>
                </a:solidFill>
              </a:rPr>
              <a:t>Text-based description</a:t>
            </a:r>
            <a:endParaRPr lang="en-US" sz="1500" dirty="0"/>
          </a:p>
          <a:p>
            <a:pPr marL="177800" indent="-177800">
              <a:spcAft>
                <a:spcPts val="600"/>
              </a:spcAft>
              <a:buSzPct val="100000"/>
              <a:buChar char="•"/>
            </a:pPr>
            <a:r>
              <a:rPr lang="en-US" sz="1500" dirty="0">
                <a:solidFill>
                  <a:schemeClr val="tx2"/>
                </a:solidFill>
              </a:rPr>
              <a:t>Location and details captured</a:t>
            </a:r>
            <a:endParaRPr lang="en-US" sz="1500" dirty="0"/>
          </a:p>
          <a:p>
            <a:pPr marL="177800" indent="-177800">
              <a:spcAft>
                <a:spcPts val="600"/>
              </a:spcAft>
              <a:buSzPct val="100000"/>
              <a:buChar char="•"/>
            </a:pPr>
            <a:r>
              <a:rPr lang="en-US" sz="1500" dirty="0">
                <a:solidFill>
                  <a:schemeClr val="tx2"/>
                </a:solidFill>
              </a:rPr>
              <a:t>Unique complaint ID generated</a:t>
            </a:r>
            <a:endParaRPr lang="en-US" sz="1500" dirty="0"/>
          </a:p>
        </p:txBody>
      </p:sp>
      <p:sp>
        <p:nvSpPr>
          <p:cNvPr id="8" name="card-224"/>
          <p:cNvSpPr/>
          <p:nvPr/>
        </p:nvSpPr>
        <p:spPr>
          <a:xfrm>
            <a:off x="777240" y="4434840"/>
            <a:ext cx="3108960" cy="1463040"/>
          </a:xfrm>
          <a:prstGeom prst="roundRect">
            <a:avLst>
              <a:gd name="adj" fmla="val 6250"/>
            </a:avLst>
          </a:prstGeom>
          <a:solidFill>
            <a:schemeClr val="tx1"/>
          </a:solidFill>
          <a:ln/>
        </p:spPr>
      </p:sp>
      <p:sp>
        <p:nvSpPr>
          <p:cNvPr id="9" name="text-225"/>
          <p:cNvSpPr txBox="1"/>
          <p:nvPr/>
        </p:nvSpPr>
        <p:spPr>
          <a:xfrm>
            <a:off x="960120" y="4434840"/>
            <a:ext cx="2743200" cy="1463040"/>
          </a:xfrm>
          <a:prstGeom prst="rect">
            <a:avLst/>
          </a:prstGeom>
          <a:noFill/>
          <a:ln/>
        </p:spPr>
        <p:txBody>
          <a:bodyPr wrap="square" lIns="0" tIns="0" rIns="0" bIns="0" rtlCol="0" anchor="ctr"/>
          <a:lstStyle/>
          <a:p>
            <a:pPr indent="0" marL="0">
              <a:buNone/>
            </a:pPr>
            <a:r>
              <a:rPr lang="en-US" sz="1500" i="1" dirty="0">
                <a:solidFill>
                  <a:schemeClr val="bg1"/>
                </a:solidFill>
              </a:rPr>
              <a:t>“Garbage has not been collected for 5 days near the school.”</a:t>
            </a:r>
            <a:endParaRPr lang="en-US" sz="1500" dirty="0"/>
          </a:p>
        </p:txBody>
      </p:sp>
      <p:sp>
        <p:nvSpPr>
          <p:cNvPr id="10" name="card-226"/>
          <p:cNvSpPr/>
          <p:nvPr/>
        </p:nvSpPr>
        <p:spPr>
          <a:xfrm>
            <a:off x="4389120" y="1371600"/>
            <a:ext cx="3493008" cy="914400"/>
          </a:xfrm>
          <a:prstGeom prst="roundRect">
            <a:avLst>
              <a:gd name="adj" fmla="val 10000"/>
            </a:avLst>
          </a:prstGeom>
          <a:solidFill>
            <a:schemeClr val="bg2"/>
          </a:solidFill>
          <a:ln/>
        </p:spPr>
      </p:sp>
      <p:sp>
        <p:nvSpPr>
          <p:cNvPr id="11" name="icon-bg-227"/>
          <p:cNvSpPr/>
          <p:nvPr/>
        </p:nvSpPr>
        <p:spPr>
          <a:xfrm>
            <a:off x="4594860" y="1577340"/>
            <a:ext cx="502920" cy="502920"/>
          </a:xfrm>
          <a:prstGeom prst="ellipse">
            <a:avLst/>
          </a:prstGeom>
          <a:solidFill>
            <a:schemeClr val="accent1"/>
          </a:solidFill>
          <a:ln/>
        </p:spPr>
      </p:sp>
      <p:pic>
        <p:nvPicPr>
          <p:cNvPr id="12" name="icon-228" descr="Brain icon">    </p:cNvPr>
          <p:cNvPicPr>
            <a:picLocks noChangeAspect="1"/>
          </p:cNvPicPr>
          <p:nvPr/>
        </p:nvPicPr>
        <p:blipFill>
          <a:blip r:embed="rId2"/>
          <a:stretch>
            <a:fillRect/>
          </a:stretch>
        </p:blipFill>
        <p:spPr>
          <a:xfrm>
            <a:off x="4720590" y="1703070"/>
            <a:ext cx="251460" cy="251460"/>
          </a:xfrm>
          <a:prstGeom prst="rect">
            <a:avLst/>
          </a:prstGeom>
        </p:spPr>
      </p:pic>
      <p:sp>
        <p:nvSpPr>
          <p:cNvPr id="13" name="text-229"/>
          <p:cNvSpPr txBox="1"/>
          <p:nvPr/>
        </p:nvSpPr>
        <p:spPr>
          <a:xfrm>
            <a:off x="5257800" y="1527048"/>
            <a:ext cx="2532888" cy="274320"/>
          </a:xfrm>
          <a:prstGeom prst="rect">
            <a:avLst/>
          </a:prstGeom>
          <a:noFill/>
          <a:ln/>
        </p:spPr>
        <p:txBody>
          <a:bodyPr wrap="square" lIns="0" tIns="0" rIns="0" bIns="0" rtlCol="0" anchor="t"/>
          <a:lstStyle/>
          <a:p>
            <a:pPr indent="0" marL="0">
              <a:buNone/>
            </a:pPr>
            <a:r>
              <a:rPr lang="en-US" sz="1500" b="1" dirty="0">
                <a:solidFill>
                  <a:schemeClr val="tx1"/>
                </a:solidFill>
              </a:rPr>
              <a:t>Understands the issue</a:t>
            </a:r>
            <a:endParaRPr lang="en-US" sz="1500" dirty="0"/>
          </a:p>
        </p:txBody>
      </p:sp>
      <p:sp>
        <p:nvSpPr>
          <p:cNvPr id="14" name="text-230"/>
          <p:cNvSpPr txBox="1"/>
          <p:nvPr/>
        </p:nvSpPr>
        <p:spPr>
          <a:xfrm>
            <a:off x="5257800" y="1847088"/>
            <a:ext cx="2532888" cy="274320"/>
          </a:xfrm>
          <a:prstGeom prst="rect">
            <a:avLst/>
          </a:prstGeom>
          <a:noFill/>
          <a:ln/>
        </p:spPr>
        <p:txBody>
          <a:bodyPr wrap="square" lIns="0" tIns="0" rIns="0" bIns="0" rtlCol="0" anchor="t"/>
          <a:lstStyle/>
          <a:p>
            <a:pPr indent="0" marL="0">
              <a:buNone/>
            </a:pPr>
            <a:r>
              <a:rPr lang="en-US" sz="1400" dirty="0">
                <a:solidFill>
                  <a:schemeClr val="tx2"/>
                </a:solidFill>
              </a:rPr>
              <a:t>Reads the complaint text</a:t>
            </a:r>
            <a:endParaRPr lang="en-US" sz="1400" dirty="0"/>
          </a:p>
        </p:txBody>
      </p:sp>
      <p:sp>
        <p:nvSpPr>
          <p:cNvPr id="15" name="card-231"/>
          <p:cNvSpPr/>
          <p:nvPr/>
        </p:nvSpPr>
        <p:spPr>
          <a:xfrm>
            <a:off x="8147304" y="1371600"/>
            <a:ext cx="3493008" cy="914400"/>
          </a:xfrm>
          <a:prstGeom prst="roundRect">
            <a:avLst>
              <a:gd name="adj" fmla="val 10000"/>
            </a:avLst>
          </a:prstGeom>
          <a:solidFill>
            <a:schemeClr val="bg2"/>
          </a:solidFill>
          <a:ln/>
        </p:spPr>
      </p:sp>
      <p:sp>
        <p:nvSpPr>
          <p:cNvPr id="16" name="icon-bg-232"/>
          <p:cNvSpPr/>
          <p:nvPr/>
        </p:nvSpPr>
        <p:spPr>
          <a:xfrm>
            <a:off x="8353044" y="1577340"/>
            <a:ext cx="502920" cy="502920"/>
          </a:xfrm>
          <a:prstGeom prst="ellipse">
            <a:avLst/>
          </a:prstGeom>
          <a:solidFill>
            <a:schemeClr val="accent1"/>
          </a:solidFill>
          <a:ln/>
        </p:spPr>
      </p:sp>
      <p:pic>
        <p:nvPicPr>
          <p:cNvPr id="17" name="icon-233" descr="Tasks icon">    </p:cNvPr>
          <p:cNvPicPr>
            <a:picLocks noChangeAspect="1"/>
          </p:cNvPicPr>
          <p:nvPr/>
        </p:nvPicPr>
        <p:blipFill>
          <a:blip r:embed="rId3"/>
          <a:stretch>
            <a:fillRect/>
          </a:stretch>
        </p:blipFill>
        <p:spPr>
          <a:xfrm>
            <a:off x="8478774" y="1703070"/>
            <a:ext cx="251460" cy="251460"/>
          </a:xfrm>
          <a:prstGeom prst="rect">
            <a:avLst/>
          </a:prstGeom>
        </p:spPr>
      </p:pic>
      <p:sp>
        <p:nvSpPr>
          <p:cNvPr id="18" name="text-234"/>
          <p:cNvSpPr txBox="1"/>
          <p:nvPr/>
        </p:nvSpPr>
        <p:spPr>
          <a:xfrm>
            <a:off x="9015984" y="1527048"/>
            <a:ext cx="2532888" cy="274320"/>
          </a:xfrm>
          <a:prstGeom prst="rect">
            <a:avLst/>
          </a:prstGeom>
          <a:noFill/>
          <a:ln/>
        </p:spPr>
        <p:txBody>
          <a:bodyPr wrap="square" lIns="0" tIns="0" rIns="0" bIns="0" rtlCol="0" anchor="t"/>
          <a:lstStyle/>
          <a:p>
            <a:pPr indent="0" marL="0">
              <a:buNone/>
            </a:pPr>
            <a:r>
              <a:rPr lang="en-US" sz="1500" b="1" dirty="0">
                <a:solidFill>
                  <a:schemeClr val="tx1"/>
                </a:solidFill>
              </a:rPr>
              <a:t>Category &amp; subcategory</a:t>
            </a:r>
            <a:endParaRPr lang="en-US" sz="1500" dirty="0"/>
          </a:p>
        </p:txBody>
      </p:sp>
      <p:sp>
        <p:nvSpPr>
          <p:cNvPr id="19" name="text-235"/>
          <p:cNvSpPr txBox="1"/>
          <p:nvPr/>
        </p:nvSpPr>
        <p:spPr>
          <a:xfrm>
            <a:off x="9015984" y="1847088"/>
            <a:ext cx="2532888" cy="274320"/>
          </a:xfrm>
          <a:prstGeom prst="rect">
            <a:avLst/>
          </a:prstGeom>
          <a:noFill/>
          <a:ln/>
        </p:spPr>
        <p:txBody>
          <a:bodyPr wrap="square" lIns="0" tIns="0" rIns="0" bIns="0" rtlCol="0" anchor="t"/>
          <a:lstStyle/>
          <a:p>
            <a:pPr indent="0" marL="0">
              <a:buNone/>
            </a:pPr>
            <a:r>
              <a:rPr lang="en-US" sz="1400" dirty="0">
                <a:solidFill>
                  <a:schemeClr val="tx2"/>
                </a:solidFill>
              </a:rPr>
              <a:t>What kind of issue it is</a:t>
            </a:r>
            <a:endParaRPr lang="en-US" sz="1400" dirty="0"/>
          </a:p>
        </p:txBody>
      </p:sp>
      <p:sp>
        <p:nvSpPr>
          <p:cNvPr id="20" name="card-236"/>
          <p:cNvSpPr/>
          <p:nvPr/>
        </p:nvSpPr>
        <p:spPr>
          <a:xfrm>
            <a:off x="4389120" y="2468880"/>
            <a:ext cx="3493008" cy="914400"/>
          </a:xfrm>
          <a:prstGeom prst="roundRect">
            <a:avLst>
              <a:gd name="adj" fmla="val 10000"/>
            </a:avLst>
          </a:prstGeom>
          <a:solidFill>
            <a:schemeClr val="bg2"/>
          </a:solidFill>
          <a:ln/>
        </p:spPr>
      </p:sp>
      <p:sp>
        <p:nvSpPr>
          <p:cNvPr id="21" name="icon-bg-237"/>
          <p:cNvSpPr/>
          <p:nvPr/>
        </p:nvSpPr>
        <p:spPr>
          <a:xfrm>
            <a:off x="4594860" y="2674620"/>
            <a:ext cx="502920" cy="502920"/>
          </a:xfrm>
          <a:prstGeom prst="ellipse">
            <a:avLst/>
          </a:prstGeom>
          <a:solidFill>
            <a:schemeClr val="accent1"/>
          </a:solidFill>
          <a:ln/>
        </p:spPr>
      </p:sp>
      <p:pic>
        <p:nvPicPr>
          <p:cNvPr id="22" name="icon-238" descr="MapMarkerAlt icon">    </p:cNvPr>
          <p:cNvPicPr>
            <a:picLocks noChangeAspect="1"/>
          </p:cNvPicPr>
          <p:nvPr/>
        </p:nvPicPr>
        <p:blipFill>
          <a:blip r:embed="rId4"/>
          <a:stretch>
            <a:fillRect/>
          </a:stretch>
        </p:blipFill>
        <p:spPr>
          <a:xfrm>
            <a:off x="4720590" y="2800350"/>
            <a:ext cx="251460" cy="251460"/>
          </a:xfrm>
          <a:prstGeom prst="rect">
            <a:avLst/>
          </a:prstGeom>
        </p:spPr>
      </p:pic>
      <p:sp>
        <p:nvSpPr>
          <p:cNvPr id="23" name="text-239"/>
          <p:cNvSpPr txBox="1"/>
          <p:nvPr/>
        </p:nvSpPr>
        <p:spPr>
          <a:xfrm>
            <a:off x="5257800" y="2624328"/>
            <a:ext cx="2532888" cy="274320"/>
          </a:xfrm>
          <a:prstGeom prst="rect">
            <a:avLst/>
          </a:prstGeom>
          <a:noFill/>
          <a:ln/>
        </p:spPr>
        <p:txBody>
          <a:bodyPr wrap="square" lIns="0" tIns="0" rIns="0" bIns="0" rtlCol="0" anchor="t"/>
          <a:lstStyle/>
          <a:p>
            <a:pPr indent="0" marL="0">
              <a:buNone/>
            </a:pPr>
            <a:r>
              <a:rPr lang="en-US" sz="1500" b="1" dirty="0">
                <a:solidFill>
                  <a:schemeClr val="tx1"/>
                </a:solidFill>
              </a:rPr>
              <a:t>Location &amp; details</a:t>
            </a:r>
            <a:endParaRPr lang="en-US" sz="1500" dirty="0"/>
          </a:p>
        </p:txBody>
      </p:sp>
      <p:sp>
        <p:nvSpPr>
          <p:cNvPr id="24" name="text-240"/>
          <p:cNvSpPr txBox="1"/>
          <p:nvPr/>
        </p:nvSpPr>
        <p:spPr>
          <a:xfrm>
            <a:off x="5257800" y="2944368"/>
            <a:ext cx="2532888" cy="274320"/>
          </a:xfrm>
          <a:prstGeom prst="rect">
            <a:avLst/>
          </a:prstGeom>
          <a:noFill/>
          <a:ln/>
        </p:spPr>
        <p:txBody>
          <a:bodyPr wrap="square" lIns="0" tIns="0" rIns="0" bIns="0" rtlCol="0" anchor="t"/>
          <a:lstStyle/>
          <a:p>
            <a:pPr indent="0" marL="0">
              <a:buNone/>
            </a:pPr>
            <a:r>
              <a:rPr lang="en-US" sz="1400" dirty="0">
                <a:solidFill>
                  <a:schemeClr val="tx2"/>
                </a:solidFill>
              </a:rPr>
              <a:t>Where, and key facts</a:t>
            </a:r>
            <a:endParaRPr lang="en-US" sz="1400" dirty="0"/>
          </a:p>
        </p:txBody>
      </p:sp>
      <p:sp>
        <p:nvSpPr>
          <p:cNvPr id="25" name="card-241"/>
          <p:cNvSpPr/>
          <p:nvPr/>
        </p:nvSpPr>
        <p:spPr>
          <a:xfrm>
            <a:off x="8147304" y="2468880"/>
            <a:ext cx="3493008" cy="914400"/>
          </a:xfrm>
          <a:prstGeom prst="roundRect">
            <a:avLst>
              <a:gd name="adj" fmla="val 10000"/>
            </a:avLst>
          </a:prstGeom>
          <a:solidFill>
            <a:schemeClr val="bg2"/>
          </a:solidFill>
          <a:ln/>
        </p:spPr>
      </p:sp>
      <p:sp>
        <p:nvSpPr>
          <p:cNvPr id="26" name="icon-bg-242"/>
          <p:cNvSpPr/>
          <p:nvPr/>
        </p:nvSpPr>
        <p:spPr>
          <a:xfrm>
            <a:off x="8353044" y="2674620"/>
            <a:ext cx="502920" cy="502920"/>
          </a:xfrm>
          <a:prstGeom prst="ellipse">
            <a:avLst/>
          </a:prstGeom>
          <a:solidFill>
            <a:schemeClr val="accent2"/>
          </a:solidFill>
          <a:ln/>
        </p:spPr>
      </p:sp>
      <p:pic>
        <p:nvPicPr>
          <p:cNvPr id="27" name="icon-243" descr="Bolt icon">    </p:cNvPr>
          <p:cNvPicPr>
            <a:picLocks noChangeAspect="1"/>
          </p:cNvPicPr>
          <p:nvPr/>
        </p:nvPicPr>
        <p:blipFill>
          <a:blip r:embed="rId5"/>
          <a:stretch>
            <a:fillRect/>
          </a:stretch>
        </p:blipFill>
        <p:spPr>
          <a:xfrm>
            <a:off x="8478774" y="2800350"/>
            <a:ext cx="251460" cy="251460"/>
          </a:xfrm>
          <a:prstGeom prst="rect">
            <a:avLst/>
          </a:prstGeom>
        </p:spPr>
      </p:pic>
      <p:sp>
        <p:nvSpPr>
          <p:cNvPr id="28" name="text-244"/>
          <p:cNvSpPr txBox="1"/>
          <p:nvPr/>
        </p:nvSpPr>
        <p:spPr>
          <a:xfrm>
            <a:off x="9015984" y="2624328"/>
            <a:ext cx="2532888" cy="274320"/>
          </a:xfrm>
          <a:prstGeom prst="rect">
            <a:avLst/>
          </a:prstGeom>
          <a:noFill/>
          <a:ln/>
        </p:spPr>
        <p:txBody>
          <a:bodyPr wrap="square" lIns="0" tIns="0" rIns="0" bIns="0" rtlCol="0" anchor="t"/>
          <a:lstStyle/>
          <a:p>
            <a:pPr indent="0" marL="0">
              <a:buNone/>
            </a:pPr>
            <a:r>
              <a:rPr lang="en-US" sz="1500" b="1" dirty="0">
                <a:solidFill>
                  <a:schemeClr val="tx1"/>
                </a:solidFill>
              </a:rPr>
              <a:t>Severity &amp; priority</a:t>
            </a:r>
            <a:endParaRPr lang="en-US" sz="1500" dirty="0"/>
          </a:p>
        </p:txBody>
      </p:sp>
      <p:sp>
        <p:nvSpPr>
          <p:cNvPr id="29" name="text-245"/>
          <p:cNvSpPr txBox="1"/>
          <p:nvPr/>
        </p:nvSpPr>
        <p:spPr>
          <a:xfrm>
            <a:off x="9015984" y="2944368"/>
            <a:ext cx="2532888" cy="274320"/>
          </a:xfrm>
          <a:prstGeom prst="rect">
            <a:avLst/>
          </a:prstGeom>
          <a:noFill/>
          <a:ln/>
        </p:spPr>
        <p:txBody>
          <a:bodyPr wrap="square" lIns="0" tIns="0" rIns="0" bIns="0" rtlCol="0" anchor="t"/>
          <a:lstStyle/>
          <a:p>
            <a:pPr indent="0" marL="0">
              <a:buNone/>
            </a:pPr>
            <a:r>
              <a:rPr lang="en-US" sz="1400" dirty="0">
                <a:solidFill>
                  <a:schemeClr val="tx2"/>
                </a:solidFill>
              </a:rPr>
              <a:t>How urgent it is</a:t>
            </a:r>
            <a:endParaRPr lang="en-US" sz="1400" dirty="0"/>
          </a:p>
        </p:txBody>
      </p:sp>
      <p:sp>
        <p:nvSpPr>
          <p:cNvPr id="30" name="card-246"/>
          <p:cNvSpPr/>
          <p:nvPr/>
        </p:nvSpPr>
        <p:spPr>
          <a:xfrm>
            <a:off x="4389120" y="3566160"/>
            <a:ext cx="3493008" cy="914400"/>
          </a:xfrm>
          <a:prstGeom prst="roundRect">
            <a:avLst>
              <a:gd name="adj" fmla="val 10000"/>
            </a:avLst>
          </a:prstGeom>
          <a:solidFill>
            <a:schemeClr val="bg2"/>
          </a:solidFill>
          <a:ln/>
        </p:spPr>
      </p:sp>
      <p:sp>
        <p:nvSpPr>
          <p:cNvPr id="31" name="icon-bg-247"/>
          <p:cNvSpPr/>
          <p:nvPr/>
        </p:nvSpPr>
        <p:spPr>
          <a:xfrm>
            <a:off x="4594860" y="3771900"/>
            <a:ext cx="502920" cy="502920"/>
          </a:xfrm>
          <a:prstGeom prst="ellipse">
            <a:avLst/>
          </a:prstGeom>
          <a:solidFill>
            <a:schemeClr val="accent3"/>
          </a:solidFill>
          <a:ln/>
        </p:spPr>
      </p:sp>
      <p:pic>
        <p:nvPicPr>
          <p:cNvPr id="32" name="icon-248" descr="ExclamationTriangle icon">    </p:cNvPr>
          <p:cNvPicPr>
            <a:picLocks noChangeAspect="1"/>
          </p:cNvPicPr>
          <p:nvPr/>
        </p:nvPicPr>
        <p:blipFill>
          <a:blip r:embed="rId6"/>
          <a:stretch>
            <a:fillRect/>
          </a:stretch>
        </p:blipFill>
        <p:spPr>
          <a:xfrm>
            <a:off x="4720590" y="3897630"/>
            <a:ext cx="251460" cy="251460"/>
          </a:xfrm>
          <a:prstGeom prst="rect">
            <a:avLst/>
          </a:prstGeom>
        </p:spPr>
      </p:pic>
      <p:sp>
        <p:nvSpPr>
          <p:cNvPr id="33" name="text-249"/>
          <p:cNvSpPr txBox="1"/>
          <p:nvPr/>
        </p:nvSpPr>
        <p:spPr>
          <a:xfrm>
            <a:off x="5257800" y="3721608"/>
            <a:ext cx="2532888" cy="274320"/>
          </a:xfrm>
          <a:prstGeom prst="rect">
            <a:avLst/>
          </a:prstGeom>
          <a:noFill/>
          <a:ln/>
        </p:spPr>
        <p:txBody>
          <a:bodyPr wrap="square" lIns="0" tIns="0" rIns="0" bIns="0" rtlCol="0" anchor="t"/>
          <a:lstStyle/>
          <a:p>
            <a:pPr indent="0" marL="0">
              <a:buNone/>
            </a:pPr>
            <a:r>
              <a:rPr lang="en-US" sz="1500" b="1" dirty="0">
                <a:solidFill>
                  <a:schemeClr val="tx1"/>
                </a:solidFill>
              </a:rPr>
              <a:t>Safety-critical flag</a:t>
            </a:r>
            <a:endParaRPr lang="en-US" sz="1500" dirty="0"/>
          </a:p>
        </p:txBody>
      </p:sp>
      <p:sp>
        <p:nvSpPr>
          <p:cNvPr id="34" name="text-250"/>
          <p:cNvSpPr txBox="1"/>
          <p:nvPr/>
        </p:nvSpPr>
        <p:spPr>
          <a:xfrm>
            <a:off x="5257800" y="4041648"/>
            <a:ext cx="2532888" cy="274320"/>
          </a:xfrm>
          <a:prstGeom prst="rect">
            <a:avLst/>
          </a:prstGeom>
          <a:noFill/>
          <a:ln/>
        </p:spPr>
        <p:txBody>
          <a:bodyPr wrap="square" lIns="0" tIns="0" rIns="0" bIns="0" rtlCol="0" anchor="t"/>
          <a:lstStyle/>
          <a:p>
            <a:pPr indent="0" marL="0">
              <a:buNone/>
            </a:pPr>
            <a:r>
              <a:rPr lang="en-US" sz="1400" dirty="0">
                <a:solidFill>
                  <a:schemeClr val="tx2"/>
                </a:solidFill>
              </a:rPr>
              <a:t>Detects possible danger</a:t>
            </a:r>
            <a:endParaRPr lang="en-US" sz="1400" dirty="0"/>
          </a:p>
        </p:txBody>
      </p:sp>
      <p:sp>
        <p:nvSpPr>
          <p:cNvPr id="35" name="card-251"/>
          <p:cNvSpPr/>
          <p:nvPr/>
        </p:nvSpPr>
        <p:spPr>
          <a:xfrm>
            <a:off x="8147304" y="3566160"/>
            <a:ext cx="3493008" cy="914400"/>
          </a:xfrm>
          <a:prstGeom prst="roundRect">
            <a:avLst>
              <a:gd name="adj" fmla="val 10000"/>
            </a:avLst>
          </a:prstGeom>
          <a:solidFill>
            <a:schemeClr val="bg2"/>
          </a:solidFill>
          <a:ln/>
        </p:spPr>
      </p:sp>
      <p:sp>
        <p:nvSpPr>
          <p:cNvPr id="36" name="icon-bg-252"/>
          <p:cNvSpPr/>
          <p:nvPr/>
        </p:nvSpPr>
        <p:spPr>
          <a:xfrm>
            <a:off x="8353044" y="3771900"/>
            <a:ext cx="502920" cy="502920"/>
          </a:xfrm>
          <a:prstGeom prst="ellipse">
            <a:avLst/>
          </a:prstGeom>
          <a:solidFill>
            <a:schemeClr val="accent1"/>
          </a:solidFill>
          <a:ln/>
        </p:spPr>
      </p:sp>
      <p:pic>
        <p:nvPicPr>
          <p:cNvPr id="37" name="icon-253" descr="Copy icon">    </p:cNvPr>
          <p:cNvPicPr>
            <a:picLocks noChangeAspect="1"/>
          </p:cNvPicPr>
          <p:nvPr/>
        </p:nvPicPr>
        <p:blipFill>
          <a:blip r:embed="rId7"/>
          <a:stretch>
            <a:fillRect/>
          </a:stretch>
        </p:blipFill>
        <p:spPr>
          <a:xfrm>
            <a:off x="8478774" y="3897630"/>
            <a:ext cx="251460" cy="251460"/>
          </a:xfrm>
          <a:prstGeom prst="rect">
            <a:avLst/>
          </a:prstGeom>
        </p:spPr>
      </p:pic>
      <p:sp>
        <p:nvSpPr>
          <p:cNvPr id="38" name="text-254"/>
          <p:cNvSpPr txBox="1"/>
          <p:nvPr/>
        </p:nvSpPr>
        <p:spPr>
          <a:xfrm>
            <a:off x="9015984" y="3721608"/>
            <a:ext cx="2532888" cy="274320"/>
          </a:xfrm>
          <a:prstGeom prst="rect">
            <a:avLst/>
          </a:prstGeom>
          <a:noFill/>
          <a:ln/>
        </p:spPr>
        <p:txBody>
          <a:bodyPr wrap="square" lIns="0" tIns="0" rIns="0" bIns="0" rtlCol="0" anchor="t"/>
          <a:lstStyle/>
          <a:p>
            <a:pPr indent="0" marL="0">
              <a:buNone/>
            </a:pPr>
            <a:r>
              <a:rPr lang="en-US" sz="1500" b="1" dirty="0">
                <a:solidFill>
                  <a:schemeClr val="tx1"/>
                </a:solidFill>
              </a:rPr>
              <a:t>Duplicate detection</a:t>
            </a:r>
            <a:endParaRPr lang="en-US" sz="1500" dirty="0"/>
          </a:p>
        </p:txBody>
      </p:sp>
      <p:sp>
        <p:nvSpPr>
          <p:cNvPr id="39" name="text-255"/>
          <p:cNvSpPr txBox="1"/>
          <p:nvPr/>
        </p:nvSpPr>
        <p:spPr>
          <a:xfrm>
            <a:off x="9015984" y="4041648"/>
            <a:ext cx="2532888" cy="274320"/>
          </a:xfrm>
          <a:prstGeom prst="rect">
            <a:avLst/>
          </a:prstGeom>
          <a:noFill/>
          <a:ln/>
        </p:spPr>
        <p:txBody>
          <a:bodyPr wrap="square" lIns="0" tIns="0" rIns="0" bIns="0" rtlCol="0" anchor="t"/>
          <a:lstStyle/>
          <a:p>
            <a:pPr indent="0" marL="0">
              <a:buNone/>
            </a:pPr>
            <a:r>
              <a:rPr lang="en-US" sz="1400" dirty="0">
                <a:solidFill>
                  <a:schemeClr val="tx2"/>
                </a:solidFill>
              </a:rPr>
              <a:t>Finds similar complaints</a:t>
            </a:r>
            <a:endParaRPr lang="en-US" sz="1400" dirty="0"/>
          </a:p>
        </p:txBody>
      </p:sp>
      <p:sp>
        <p:nvSpPr>
          <p:cNvPr id="40" name="card-256"/>
          <p:cNvSpPr/>
          <p:nvPr/>
        </p:nvSpPr>
        <p:spPr>
          <a:xfrm>
            <a:off x="4389120" y="4663440"/>
            <a:ext cx="3493008" cy="914400"/>
          </a:xfrm>
          <a:prstGeom prst="roundRect">
            <a:avLst>
              <a:gd name="adj" fmla="val 10000"/>
            </a:avLst>
          </a:prstGeom>
          <a:solidFill>
            <a:schemeClr val="bg2"/>
          </a:solidFill>
          <a:ln/>
        </p:spPr>
      </p:sp>
      <p:sp>
        <p:nvSpPr>
          <p:cNvPr id="41" name="icon-bg-257"/>
          <p:cNvSpPr/>
          <p:nvPr/>
        </p:nvSpPr>
        <p:spPr>
          <a:xfrm>
            <a:off x="4594860" y="4869180"/>
            <a:ext cx="502920" cy="502920"/>
          </a:xfrm>
          <a:prstGeom prst="ellipse">
            <a:avLst/>
          </a:prstGeom>
          <a:solidFill>
            <a:schemeClr val="accent4"/>
          </a:solidFill>
          <a:ln/>
        </p:spPr>
      </p:sp>
      <p:pic>
        <p:nvPicPr>
          <p:cNvPr id="42" name="icon-258" descr="QuestionCircle icon">    </p:cNvPr>
          <p:cNvPicPr>
            <a:picLocks noChangeAspect="1"/>
          </p:cNvPicPr>
          <p:nvPr/>
        </p:nvPicPr>
        <p:blipFill>
          <a:blip r:embed="rId8"/>
          <a:stretch>
            <a:fillRect/>
          </a:stretch>
        </p:blipFill>
        <p:spPr>
          <a:xfrm>
            <a:off x="4720590" y="4994910"/>
            <a:ext cx="251460" cy="251460"/>
          </a:xfrm>
          <a:prstGeom prst="rect">
            <a:avLst/>
          </a:prstGeom>
        </p:spPr>
      </p:pic>
      <p:sp>
        <p:nvSpPr>
          <p:cNvPr id="43" name="text-259"/>
          <p:cNvSpPr txBox="1"/>
          <p:nvPr/>
        </p:nvSpPr>
        <p:spPr>
          <a:xfrm>
            <a:off x="5257800" y="4818888"/>
            <a:ext cx="2532888" cy="274320"/>
          </a:xfrm>
          <a:prstGeom prst="rect">
            <a:avLst/>
          </a:prstGeom>
          <a:noFill/>
          <a:ln/>
        </p:spPr>
        <p:txBody>
          <a:bodyPr wrap="square" lIns="0" tIns="0" rIns="0" bIns="0" rtlCol="0" anchor="t"/>
          <a:lstStyle/>
          <a:p>
            <a:pPr indent="0" marL="0">
              <a:buNone/>
            </a:pPr>
            <a:r>
              <a:rPr lang="en-US" sz="1500" b="1" dirty="0">
                <a:solidFill>
                  <a:schemeClr val="tx1"/>
                </a:solidFill>
              </a:rPr>
              <a:t>Missing information</a:t>
            </a:r>
            <a:endParaRPr lang="en-US" sz="1500" dirty="0"/>
          </a:p>
        </p:txBody>
      </p:sp>
      <p:sp>
        <p:nvSpPr>
          <p:cNvPr id="44" name="text-260"/>
          <p:cNvSpPr txBox="1"/>
          <p:nvPr/>
        </p:nvSpPr>
        <p:spPr>
          <a:xfrm>
            <a:off x="5257800" y="5138928"/>
            <a:ext cx="2532888" cy="274320"/>
          </a:xfrm>
          <a:prstGeom prst="rect">
            <a:avLst/>
          </a:prstGeom>
          <a:noFill/>
          <a:ln/>
        </p:spPr>
        <p:txBody>
          <a:bodyPr wrap="square" lIns="0" tIns="0" rIns="0" bIns="0" rtlCol="0" anchor="t"/>
          <a:lstStyle/>
          <a:p>
            <a:pPr indent="0" marL="0">
              <a:buNone/>
            </a:pPr>
            <a:r>
              <a:rPr lang="en-US" sz="1400" dirty="0">
                <a:solidFill>
                  <a:schemeClr val="tx2"/>
                </a:solidFill>
              </a:rPr>
              <a:t>Detects incomplete reports</a:t>
            </a:r>
            <a:endParaRPr lang="en-US" sz="1400" dirty="0"/>
          </a:p>
        </p:txBody>
      </p:sp>
      <p:sp>
        <p:nvSpPr>
          <p:cNvPr id="45" name="card-261"/>
          <p:cNvSpPr/>
          <p:nvPr/>
        </p:nvSpPr>
        <p:spPr>
          <a:xfrm>
            <a:off x="8147304" y="4663440"/>
            <a:ext cx="3493008" cy="914400"/>
          </a:xfrm>
          <a:prstGeom prst="roundRect">
            <a:avLst>
              <a:gd name="adj" fmla="val 10000"/>
            </a:avLst>
          </a:prstGeom>
          <a:solidFill>
            <a:schemeClr val="bg2"/>
          </a:solidFill>
          <a:ln/>
        </p:spPr>
      </p:sp>
      <p:sp>
        <p:nvSpPr>
          <p:cNvPr id="46" name="icon-bg-262"/>
          <p:cNvSpPr/>
          <p:nvPr/>
        </p:nvSpPr>
        <p:spPr>
          <a:xfrm>
            <a:off x="8353044" y="4869180"/>
            <a:ext cx="502920" cy="502920"/>
          </a:xfrm>
          <a:prstGeom prst="ellipse">
            <a:avLst/>
          </a:prstGeom>
          <a:solidFill>
            <a:schemeClr val="accent5"/>
          </a:solidFill>
          <a:ln/>
        </p:spPr>
      </p:sp>
      <p:pic>
        <p:nvPicPr>
          <p:cNvPr id="47" name="icon-263" descr="ChartLine icon">    </p:cNvPr>
          <p:cNvPicPr>
            <a:picLocks noChangeAspect="1"/>
          </p:cNvPicPr>
          <p:nvPr/>
        </p:nvPicPr>
        <p:blipFill>
          <a:blip r:embed="rId9"/>
          <a:stretch>
            <a:fillRect/>
          </a:stretch>
        </p:blipFill>
        <p:spPr>
          <a:xfrm>
            <a:off x="8478774" y="4994910"/>
            <a:ext cx="251460" cy="251460"/>
          </a:xfrm>
          <a:prstGeom prst="rect">
            <a:avLst/>
          </a:prstGeom>
        </p:spPr>
      </p:pic>
      <p:sp>
        <p:nvSpPr>
          <p:cNvPr id="48" name="text-264"/>
          <p:cNvSpPr txBox="1"/>
          <p:nvPr/>
        </p:nvSpPr>
        <p:spPr>
          <a:xfrm>
            <a:off x="9015984" y="4818888"/>
            <a:ext cx="2532888" cy="274320"/>
          </a:xfrm>
          <a:prstGeom prst="rect">
            <a:avLst/>
          </a:prstGeom>
          <a:noFill/>
          <a:ln/>
        </p:spPr>
        <p:txBody>
          <a:bodyPr wrap="square" lIns="0" tIns="0" rIns="0" bIns="0" rtlCol="0" anchor="t"/>
          <a:lstStyle/>
          <a:p>
            <a:pPr indent="0" marL="0">
              <a:buNone/>
            </a:pPr>
            <a:r>
              <a:rPr lang="en-US" sz="1500" b="1" dirty="0">
                <a:solidFill>
                  <a:schemeClr val="tx1"/>
                </a:solidFill>
              </a:rPr>
              <a:t>Confidence score</a:t>
            </a:r>
            <a:endParaRPr lang="en-US" sz="1500" dirty="0"/>
          </a:p>
        </p:txBody>
      </p:sp>
      <p:sp>
        <p:nvSpPr>
          <p:cNvPr id="49" name="text-265"/>
          <p:cNvSpPr txBox="1"/>
          <p:nvPr/>
        </p:nvSpPr>
        <p:spPr>
          <a:xfrm>
            <a:off x="9015984" y="5138928"/>
            <a:ext cx="2532888" cy="274320"/>
          </a:xfrm>
          <a:prstGeom prst="rect">
            <a:avLst/>
          </a:prstGeom>
          <a:noFill/>
          <a:ln/>
        </p:spPr>
        <p:txBody>
          <a:bodyPr wrap="square" lIns="0" tIns="0" rIns="0" bIns="0" rtlCol="0" anchor="t"/>
          <a:lstStyle/>
          <a:p>
            <a:pPr indent="0" marL="0">
              <a:buNone/>
            </a:pPr>
            <a:r>
              <a:rPr lang="en-US" sz="1400" dirty="0">
                <a:solidFill>
                  <a:schemeClr val="tx2"/>
                </a:solidFill>
              </a:rPr>
              <a:t>Drives human review</a:t>
            </a:r>
            <a:endParaRPr lang="en-US" sz="1400" dirty="0"/>
          </a:p>
        </p:txBody>
      </p:sp>
      <p:sp>
        <p:nvSpPr>
          <p:cNvPr id="50" name="card-266"/>
          <p:cNvSpPr/>
          <p:nvPr/>
        </p:nvSpPr>
        <p:spPr>
          <a:xfrm>
            <a:off x="4389120" y="5760720"/>
            <a:ext cx="7251192" cy="365760"/>
          </a:xfrm>
          <a:prstGeom prst="roundRect">
            <a:avLst>
              <a:gd name="adj" fmla="val 25000"/>
            </a:avLst>
          </a:prstGeom>
          <a:solidFill>
            <a:schemeClr val="tx1"/>
          </a:solidFill>
          <a:ln/>
        </p:spPr>
      </p:sp>
      <p:sp>
        <p:nvSpPr>
          <p:cNvPr id="51" name="text-267"/>
          <p:cNvSpPr txBox="1"/>
          <p:nvPr/>
        </p:nvSpPr>
        <p:spPr>
          <a:xfrm>
            <a:off x="4617720" y="5760720"/>
            <a:ext cx="6858000" cy="365760"/>
          </a:xfrm>
          <a:prstGeom prst="rect">
            <a:avLst/>
          </a:prstGeom>
          <a:noFill/>
          <a:ln/>
        </p:spPr>
        <p:txBody>
          <a:bodyPr wrap="square" lIns="0" tIns="0" rIns="0" bIns="0" rtlCol="0" anchor="ctr"/>
          <a:lstStyle/>
          <a:p>
            <a:pPr indent="0" marL="0">
              <a:buNone/>
            </a:pPr>
            <a:r>
              <a:rPr lang="en-US" sz="1400" dirty="0">
                <a:solidFill>
                  <a:schemeClr val="bg1"/>
                </a:solidFill>
              </a:rPr>
              <a:t>Incomplete? Ask the citizen, then re-analyze. Complete? Hand off to Agent 2.</a:t>
            </a:r>
            <a:endParaRPr lang="en-US" sz="1400" dirty="0"/>
          </a:p>
        </p:txBody>
      </p:sp>
      <p:sp>
        <p:nvSpPr>
          <p:cNvPr id="25" name="Slide Number Placeholder 0"/>
          <p:cNvSpPr>
            <a:spLocks noGrp="1"/>
          </p:cNvSpPr>
          <p:nvPr>
            <p:ph type="sldNum" sz="quarter" idx="4294967295"/>
          </p:nvPr>
        </p:nvSpPr>
        <p:spPr>
          <a:xfrm>
            <a:off x="10972800" y="6419088"/>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200" b="1" dirty="0">
                <a:solidFill>
                  <a:schemeClr val="tx1"/>
                </a:solidFill>
              </a:rPr>
              <a:t>Agent 2: Resolution &amp; Routing</a:t>
            </a:r>
            <a:endParaRPr lang="en-US" sz="3200" dirty="0"/>
          </a:p>
        </p:txBody>
      </p:sp>
      <p:sp>
        <p:nvSpPr>
          <p:cNvPr id="3" name="card-268"/>
          <p:cNvSpPr/>
          <p:nvPr/>
        </p:nvSpPr>
        <p:spPr>
          <a:xfrm>
            <a:off x="548640" y="1371600"/>
            <a:ext cx="1889150" cy="2468880"/>
          </a:xfrm>
          <a:prstGeom prst="roundRect">
            <a:avLst>
              <a:gd name="adj" fmla="val 4840"/>
            </a:avLst>
          </a:prstGeom>
          <a:solidFill>
            <a:schemeClr val="bg2"/>
          </a:solidFill>
          <a:ln/>
        </p:spPr>
      </p:sp>
      <p:sp>
        <p:nvSpPr>
          <p:cNvPr id="4" name="icon-bg-269"/>
          <p:cNvSpPr/>
          <p:nvPr/>
        </p:nvSpPr>
        <p:spPr>
          <a:xfrm>
            <a:off x="731520" y="1645920"/>
            <a:ext cx="548640" cy="548640"/>
          </a:xfrm>
          <a:prstGeom prst="ellipse">
            <a:avLst/>
          </a:prstGeom>
          <a:solidFill>
            <a:schemeClr val="accent1"/>
          </a:solidFill>
          <a:ln/>
        </p:spPr>
      </p:sp>
      <p:pic>
        <p:nvPicPr>
          <p:cNvPr id="5" name="icon-270" descr="Sitemap icon">    </p:cNvPr>
          <p:cNvPicPr>
            <a:picLocks noChangeAspect="1"/>
          </p:cNvPicPr>
          <p:nvPr/>
        </p:nvPicPr>
        <p:blipFill>
          <a:blip r:embed="rId1"/>
          <a:stretch>
            <a:fillRect/>
          </a:stretch>
        </p:blipFill>
        <p:spPr>
          <a:xfrm>
            <a:off x="868680" y="1783080"/>
            <a:ext cx="274320" cy="274320"/>
          </a:xfrm>
          <a:prstGeom prst="rect">
            <a:avLst/>
          </a:prstGeom>
        </p:spPr>
      </p:pic>
      <p:sp>
        <p:nvSpPr>
          <p:cNvPr id="6" name="text-271"/>
          <p:cNvSpPr txBox="1"/>
          <p:nvPr/>
        </p:nvSpPr>
        <p:spPr>
          <a:xfrm>
            <a:off x="749808" y="2423160"/>
            <a:ext cx="1569110" cy="320040"/>
          </a:xfrm>
          <a:prstGeom prst="rect">
            <a:avLst/>
          </a:prstGeom>
          <a:noFill/>
          <a:ln/>
        </p:spPr>
        <p:txBody>
          <a:bodyPr wrap="square" lIns="0" tIns="0" rIns="0" bIns="0" rtlCol="0" anchor="t"/>
          <a:lstStyle/>
          <a:p>
            <a:pPr indent="0" marL="0">
              <a:buNone/>
            </a:pPr>
            <a:r>
              <a:rPr lang="en-US" sz="1700" b="1" dirty="0">
                <a:solidFill>
                  <a:schemeClr val="tx1"/>
                </a:solidFill>
              </a:rPr>
              <a:t>Department</a:t>
            </a:r>
            <a:endParaRPr lang="en-US" sz="1700" dirty="0"/>
          </a:p>
        </p:txBody>
      </p:sp>
      <p:sp>
        <p:nvSpPr>
          <p:cNvPr id="7" name="text-272"/>
          <p:cNvSpPr txBox="1"/>
          <p:nvPr/>
        </p:nvSpPr>
        <p:spPr>
          <a:xfrm>
            <a:off x="749808" y="2788920"/>
            <a:ext cx="1569110" cy="914400"/>
          </a:xfrm>
          <a:prstGeom prst="rect">
            <a:avLst/>
          </a:prstGeom>
          <a:noFill/>
          <a:ln/>
        </p:spPr>
        <p:txBody>
          <a:bodyPr wrap="square" lIns="0" tIns="0" rIns="0" bIns="0" rtlCol="0" anchor="t"/>
          <a:lstStyle/>
          <a:p>
            <a:pPr indent="0" marL="0">
              <a:buNone/>
            </a:pPr>
            <a:r>
              <a:rPr lang="en-US" sz="1400" dirty="0">
                <a:solidFill>
                  <a:schemeClr val="tx2"/>
                </a:solidFill>
              </a:rPr>
              <a:t>Identifies the responsible department or authority</a:t>
            </a:r>
            <a:endParaRPr lang="en-US" sz="1400" dirty="0"/>
          </a:p>
        </p:txBody>
      </p:sp>
      <p:sp>
        <p:nvSpPr>
          <p:cNvPr id="8" name="shape-273"/>
          <p:cNvSpPr/>
          <p:nvPr/>
        </p:nvSpPr>
        <p:spPr>
          <a:xfrm rot="5400000">
            <a:off x="2547518" y="2514600"/>
            <a:ext cx="201168" cy="256032"/>
          </a:xfrm>
          <a:prstGeom prst="triangle">
            <a:avLst/>
          </a:prstGeom>
          <a:solidFill>
            <a:schemeClr val="accent2"/>
          </a:solidFill>
          <a:ln/>
        </p:spPr>
      </p:sp>
      <p:sp>
        <p:nvSpPr>
          <p:cNvPr id="9" name="card-274"/>
          <p:cNvSpPr/>
          <p:nvPr/>
        </p:nvSpPr>
        <p:spPr>
          <a:xfrm>
            <a:off x="2849270" y="1371600"/>
            <a:ext cx="1889150" cy="2468880"/>
          </a:xfrm>
          <a:prstGeom prst="roundRect">
            <a:avLst>
              <a:gd name="adj" fmla="val 4840"/>
            </a:avLst>
          </a:prstGeom>
          <a:solidFill>
            <a:schemeClr val="bg2"/>
          </a:solidFill>
          <a:ln/>
        </p:spPr>
      </p:sp>
      <p:sp>
        <p:nvSpPr>
          <p:cNvPr id="10" name="icon-bg-275"/>
          <p:cNvSpPr/>
          <p:nvPr/>
        </p:nvSpPr>
        <p:spPr>
          <a:xfrm>
            <a:off x="3032150" y="1645920"/>
            <a:ext cx="548640" cy="548640"/>
          </a:xfrm>
          <a:prstGeom prst="ellipse">
            <a:avLst/>
          </a:prstGeom>
          <a:solidFill>
            <a:schemeClr val="accent1"/>
          </a:solidFill>
          <a:ln/>
        </p:spPr>
      </p:sp>
      <p:pic>
        <p:nvPicPr>
          <p:cNvPr id="11" name="icon-276" descr="MapMarkerAlt icon">    </p:cNvPr>
          <p:cNvPicPr>
            <a:picLocks noChangeAspect="1"/>
          </p:cNvPicPr>
          <p:nvPr/>
        </p:nvPicPr>
        <p:blipFill>
          <a:blip r:embed="rId2"/>
          <a:stretch>
            <a:fillRect/>
          </a:stretch>
        </p:blipFill>
        <p:spPr>
          <a:xfrm>
            <a:off x="3169310" y="1783080"/>
            <a:ext cx="274320" cy="274320"/>
          </a:xfrm>
          <a:prstGeom prst="rect">
            <a:avLst/>
          </a:prstGeom>
        </p:spPr>
      </p:pic>
      <p:sp>
        <p:nvSpPr>
          <p:cNvPr id="12" name="text-277"/>
          <p:cNvSpPr txBox="1"/>
          <p:nvPr/>
        </p:nvSpPr>
        <p:spPr>
          <a:xfrm>
            <a:off x="3050438" y="2423160"/>
            <a:ext cx="1569110" cy="320040"/>
          </a:xfrm>
          <a:prstGeom prst="rect">
            <a:avLst/>
          </a:prstGeom>
          <a:noFill/>
          <a:ln/>
        </p:spPr>
        <p:txBody>
          <a:bodyPr wrap="square" lIns="0" tIns="0" rIns="0" bIns="0" rtlCol="0" anchor="t"/>
          <a:lstStyle/>
          <a:p>
            <a:pPr indent="0" marL="0">
              <a:buNone/>
            </a:pPr>
            <a:r>
              <a:rPr lang="en-US" sz="1700" b="1" dirty="0">
                <a:solidFill>
                  <a:schemeClr val="tx1"/>
                </a:solidFill>
              </a:rPr>
              <a:t>Jurisdiction</a:t>
            </a:r>
            <a:endParaRPr lang="en-US" sz="1700" dirty="0"/>
          </a:p>
        </p:txBody>
      </p:sp>
      <p:sp>
        <p:nvSpPr>
          <p:cNvPr id="13" name="text-278"/>
          <p:cNvSpPr txBox="1"/>
          <p:nvPr/>
        </p:nvSpPr>
        <p:spPr>
          <a:xfrm>
            <a:off x="3050438" y="2788920"/>
            <a:ext cx="1569110" cy="914400"/>
          </a:xfrm>
          <a:prstGeom prst="rect">
            <a:avLst/>
          </a:prstGeom>
          <a:noFill/>
          <a:ln/>
        </p:spPr>
        <p:txBody>
          <a:bodyPr wrap="square" lIns="0" tIns="0" rIns="0" bIns="0" rtlCol="0" anchor="t"/>
          <a:lstStyle/>
          <a:p>
            <a:pPr indent="0" marL="0">
              <a:buNone/>
            </a:pPr>
            <a:r>
              <a:rPr lang="en-US" sz="1400" dirty="0">
                <a:solidFill>
                  <a:schemeClr val="tx2"/>
                </a:solidFill>
              </a:rPr>
              <a:t>Determined from the complaint location</a:t>
            </a:r>
            <a:endParaRPr lang="en-US" sz="1400" dirty="0"/>
          </a:p>
        </p:txBody>
      </p:sp>
      <p:sp>
        <p:nvSpPr>
          <p:cNvPr id="14" name="shape-279"/>
          <p:cNvSpPr/>
          <p:nvPr/>
        </p:nvSpPr>
        <p:spPr>
          <a:xfrm rot="5400000">
            <a:off x="4848149" y="2514600"/>
            <a:ext cx="201168" cy="256032"/>
          </a:xfrm>
          <a:prstGeom prst="triangle">
            <a:avLst/>
          </a:prstGeom>
          <a:solidFill>
            <a:schemeClr val="accent2"/>
          </a:solidFill>
          <a:ln/>
        </p:spPr>
      </p:sp>
      <p:sp>
        <p:nvSpPr>
          <p:cNvPr id="15" name="card-280"/>
          <p:cNvSpPr/>
          <p:nvPr/>
        </p:nvSpPr>
        <p:spPr>
          <a:xfrm>
            <a:off x="5149901" y="1371600"/>
            <a:ext cx="1889150" cy="2468880"/>
          </a:xfrm>
          <a:prstGeom prst="roundRect">
            <a:avLst>
              <a:gd name="adj" fmla="val 4840"/>
            </a:avLst>
          </a:prstGeom>
          <a:solidFill>
            <a:schemeClr val="bg2"/>
          </a:solidFill>
          <a:ln/>
        </p:spPr>
      </p:sp>
      <p:sp>
        <p:nvSpPr>
          <p:cNvPr id="16" name="icon-bg-281"/>
          <p:cNvSpPr/>
          <p:nvPr/>
        </p:nvSpPr>
        <p:spPr>
          <a:xfrm>
            <a:off x="5332781" y="1645920"/>
            <a:ext cx="548640" cy="548640"/>
          </a:xfrm>
          <a:prstGeom prst="ellipse">
            <a:avLst/>
          </a:prstGeom>
          <a:solidFill>
            <a:schemeClr val="accent1"/>
          </a:solidFill>
          <a:ln/>
        </p:spPr>
      </p:sp>
      <p:pic>
        <p:nvPicPr>
          <p:cNvPr id="17" name="icon-282" descr="Users icon">    </p:cNvPr>
          <p:cNvPicPr>
            <a:picLocks noChangeAspect="1"/>
          </p:cNvPicPr>
          <p:nvPr/>
        </p:nvPicPr>
        <p:blipFill>
          <a:blip r:embed="rId3"/>
          <a:stretch>
            <a:fillRect/>
          </a:stretch>
        </p:blipFill>
        <p:spPr>
          <a:xfrm>
            <a:off x="5469941" y="1783080"/>
            <a:ext cx="274320" cy="274320"/>
          </a:xfrm>
          <a:prstGeom prst="rect">
            <a:avLst/>
          </a:prstGeom>
        </p:spPr>
      </p:pic>
      <p:sp>
        <p:nvSpPr>
          <p:cNvPr id="18" name="text-283"/>
          <p:cNvSpPr txBox="1"/>
          <p:nvPr/>
        </p:nvSpPr>
        <p:spPr>
          <a:xfrm>
            <a:off x="5351069" y="2423160"/>
            <a:ext cx="1569110" cy="320040"/>
          </a:xfrm>
          <a:prstGeom prst="rect">
            <a:avLst/>
          </a:prstGeom>
          <a:noFill/>
          <a:ln/>
        </p:spPr>
        <p:txBody>
          <a:bodyPr wrap="square" lIns="0" tIns="0" rIns="0" bIns="0" rtlCol="0" anchor="t"/>
          <a:lstStyle/>
          <a:p>
            <a:pPr indent="0" marL="0">
              <a:buNone/>
            </a:pPr>
            <a:r>
              <a:rPr lang="en-US" sz="1700" b="1" dirty="0">
                <a:solidFill>
                  <a:schemeClr val="tx1"/>
                </a:solidFill>
              </a:rPr>
              <a:t>Officer or team</a:t>
            </a:r>
            <a:endParaRPr lang="en-US" sz="1700" dirty="0"/>
          </a:p>
        </p:txBody>
      </p:sp>
      <p:sp>
        <p:nvSpPr>
          <p:cNvPr id="19" name="text-284"/>
          <p:cNvSpPr txBox="1"/>
          <p:nvPr/>
        </p:nvSpPr>
        <p:spPr>
          <a:xfrm>
            <a:off x="5351069" y="2788920"/>
            <a:ext cx="1569110" cy="914400"/>
          </a:xfrm>
          <a:prstGeom prst="rect">
            <a:avLst/>
          </a:prstGeom>
          <a:noFill/>
          <a:ln/>
        </p:spPr>
        <p:txBody>
          <a:bodyPr wrap="square" lIns="0" tIns="0" rIns="0" bIns="0" rtlCol="0" anchor="t"/>
          <a:lstStyle/>
          <a:p>
            <a:pPr indent="0" marL="0">
              <a:buNone/>
            </a:pPr>
            <a:r>
              <a:rPr lang="en-US" sz="1400" dirty="0">
                <a:solidFill>
                  <a:schemeClr val="tx2"/>
                </a:solidFill>
              </a:rPr>
              <a:t>Selects the appropriate officer or team</a:t>
            </a:r>
            <a:endParaRPr lang="en-US" sz="1400" dirty="0"/>
          </a:p>
        </p:txBody>
      </p:sp>
      <p:sp>
        <p:nvSpPr>
          <p:cNvPr id="20" name="shape-285"/>
          <p:cNvSpPr/>
          <p:nvPr/>
        </p:nvSpPr>
        <p:spPr>
          <a:xfrm rot="5400000">
            <a:off x="7148779" y="2514600"/>
            <a:ext cx="201168" cy="256032"/>
          </a:xfrm>
          <a:prstGeom prst="triangle">
            <a:avLst/>
          </a:prstGeom>
          <a:solidFill>
            <a:schemeClr val="accent2"/>
          </a:solidFill>
          <a:ln/>
        </p:spPr>
      </p:sp>
      <p:sp>
        <p:nvSpPr>
          <p:cNvPr id="21" name="card-286"/>
          <p:cNvSpPr/>
          <p:nvPr/>
        </p:nvSpPr>
        <p:spPr>
          <a:xfrm>
            <a:off x="7450531" y="1371600"/>
            <a:ext cx="1889150" cy="2468880"/>
          </a:xfrm>
          <a:prstGeom prst="roundRect">
            <a:avLst>
              <a:gd name="adj" fmla="val 4840"/>
            </a:avLst>
          </a:prstGeom>
          <a:solidFill>
            <a:schemeClr val="bg2"/>
          </a:solidFill>
          <a:ln/>
        </p:spPr>
      </p:sp>
      <p:sp>
        <p:nvSpPr>
          <p:cNvPr id="22" name="icon-bg-287"/>
          <p:cNvSpPr/>
          <p:nvPr/>
        </p:nvSpPr>
        <p:spPr>
          <a:xfrm>
            <a:off x="7633411" y="1645920"/>
            <a:ext cx="548640" cy="548640"/>
          </a:xfrm>
          <a:prstGeom prst="ellipse">
            <a:avLst/>
          </a:prstGeom>
          <a:solidFill>
            <a:schemeClr val="accent1"/>
          </a:solidFill>
          <a:ln/>
        </p:spPr>
      </p:sp>
      <p:pic>
        <p:nvPicPr>
          <p:cNvPr id="23" name="icon-288" descr="Clock icon">    </p:cNvPr>
          <p:cNvPicPr>
            <a:picLocks noChangeAspect="1"/>
          </p:cNvPicPr>
          <p:nvPr/>
        </p:nvPicPr>
        <p:blipFill>
          <a:blip r:embed="rId4"/>
          <a:stretch>
            <a:fillRect/>
          </a:stretch>
        </p:blipFill>
        <p:spPr>
          <a:xfrm>
            <a:off x="7770571" y="1783080"/>
            <a:ext cx="274320" cy="274320"/>
          </a:xfrm>
          <a:prstGeom prst="rect">
            <a:avLst/>
          </a:prstGeom>
        </p:spPr>
      </p:pic>
      <p:sp>
        <p:nvSpPr>
          <p:cNvPr id="24" name="text-289"/>
          <p:cNvSpPr txBox="1"/>
          <p:nvPr/>
        </p:nvSpPr>
        <p:spPr>
          <a:xfrm>
            <a:off x="7651699" y="2423160"/>
            <a:ext cx="1569110" cy="320040"/>
          </a:xfrm>
          <a:prstGeom prst="rect">
            <a:avLst/>
          </a:prstGeom>
          <a:noFill/>
          <a:ln/>
        </p:spPr>
        <p:txBody>
          <a:bodyPr wrap="square" lIns="0" tIns="0" rIns="0" bIns="0" rtlCol="0" anchor="t"/>
          <a:lstStyle/>
          <a:p>
            <a:pPr indent="0" marL="0">
              <a:buNone/>
            </a:pPr>
            <a:r>
              <a:rPr lang="en-US" sz="1700" b="1" dirty="0">
                <a:solidFill>
                  <a:schemeClr val="tx1"/>
                </a:solidFill>
              </a:rPr>
              <a:t>SLA</a:t>
            </a:r>
            <a:endParaRPr lang="en-US" sz="1700" dirty="0"/>
          </a:p>
        </p:txBody>
      </p:sp>
      <p:sp>
        <p:nvSpPr>
          <p:cNvPr id="25" name="text-290"/>
          <p:cNvSpPr txBox="1"/>
          <p:nvPr/>
        </p:nvSpPr>
        <p:spPr>
          <a:xfrm>
            <a:off x="7651699" y="2788920"/>
            <a:ext cx="1569110" cy="914400"/>
          </a:xfrm>
          <a:prstGeom prst="rect">
            <a:avLst/>
          </a:prstGeom>
          <a:noFill/>
          <a:ln/>
        </p:spPr>
        <p:txBody>
          <a:bodyPr wrap="square" lIns="0" tIns="0" rIns="0" bIns="0" rtlCol="0" anchor="t"/>
          <a:lstStyle/>
          <a:p>
            <a:pPr indent="0" marL="0">
              <a:buNone/>
            </a:pPr>
            <a:r>
              <a:rPr lang="en-US" sz="1400" dirty="0">
                <a:solidFill>
                  <a:schemeClr val="tx2"/>
                </a:solidFill>
              </a:rPr>
              <a:t>Sets the applicable SLA and deadline</a:t>
            </a:r>
            <a:endParaRPr lang="en-US" sz="1400" dirty="0"/>
          </a:p>
        </p:txBody>
      </p:sp>
      <p:sp>
        <p:nvSpPr>
          <p:cNvPr id="26" name="shape-291"/>
          <p:cNvSpPr/>
          <p:nvPr/>
        </p:nvSpPr>
        <p:spPr>
          <a:xfrm rot="5400000">
            <a:off x="9449410" y="2514600"/>
            <a:ext cx="201168" cy="256032"/>
          </a:xfrm>
          <a:prstGeom prst="triangle">
            <a:avLst/>
          </a:prstGeom>
          <a:solidFill>
            <a:schemeClr val="accent2"/>
          </a:solidFill>
          <a:ln/>
        </p:spPr>
      </p:sp>
      <p:sp>
        <p:nvSpPr>
          <p:cNvPr id="27" name="card-292"/>
          <p:cNvSpPr/>
          <p:nvPr/>
        </p:nvSpPr>
        <p:spPr>
          <a:xfrm>
            <a:off x="9751162" y="1371600"/>
            <a:ext cx="1889150" cy="2468880"/>
          </a:xfrm>
          <a:prstGeom prst="roundRect">
            <a:avLst>
              <a:gd name="adj" fmla="val 4840"/>
            </a:avLst>
          </a:prstGeom>
          <a:solidFill>
            <a:schemeClr val="bg2"/>
          </a:solidFill>
          <a:ln/>
        </p:spPr>
      </p:sp>
      <p:sp>
        <p:nvSpPr>
          <p:cNvPr id="28" name="icon-bg-293"/>
          <p:cNvSpPr/>
          <p:nvPr/>
        </p:nvSpPr>
        <p:spPr>
          <a:xfrm>
            <a:off x="9934042" y="1645920"/>
            <a:ext cx="548640" cy="548640"/>
          </a:xfrm>
          <a:prstGeom prst="ellipse">
            <a:avLst/>
          </a:prstGeom>
          <a:solidFill>
            <a:schemeClr val="accent1"/>
          </a:solidFill>
          <a:ln/>
        </p:spPr>
      </p:sp>
      <p:pic>
        <p:nvPicPr>
          <p:cNvPr id="29" name="icon-294" descr="UserCheck icon">    </p:cNvPr>
          <p:cNvPicPr>
            <a:picLocks noChangeAspect="1"/>
          </p:cNvPicPr>
          <p:nvPr/>
        </p:nvPicPr>
        <p:blipFill>
          <a:blip r:embed="rId5"/>
          <a:stretch>
            <a:fillRect/>
          </a:stretch>
        </p:blipFill>
        <p:spPr>
          <a:xfrm>
            <a:off x="10071202" y="1783080"/>
            <a:ext cx="274320" cy="274320"/>
          </a:xfrm>
          <a:prstGeom prst="rect">
            <a:avLst/>
          </a:prstGeom>
        </p:spPr>
      </p:pic>
      <p:sp>
        <p:nvSpPr>
          <p:cNvPr id="30" name="text-295"/>
          <p:cNvSpPr txBox="1"/>
          <p:nvPr/>
        </p:nvSpPr>
        <p:spPr>
          <a:xfrm>
            <a:off x="9952330" y="2423160"/>
            <a:ext cx="1569110" cy="320040"/>
          </a:xfrm>
          <a:prstGeom prst="rect">
            <a:avLst/>
          </a:prstGeom>
          <a:noFill/>
          <a:ln/>
        </p:spPr>
        <p:txBody>
          <a:bodyPr wrap="square" lIns="0" tIns="0" rIns="0" bIns="0" rtlCol="0" anchor="t"/>
          <a:lstStyle/>
          <a:p>
            <a:pPr indent="0" marL="0">
              <a:buNone/>
            </a:pPr>
            <a:r>
              <a:rPr lang="en-US" sz="1700" b="1" dirty="0">
                <a:solidFill>
                  <a:schemeClr val="tx1"/>
                </a:solidFill>
              </a:rPr>
              <a:t>Assignment</a:t>
            </a:r>
            <a:endParaRPr lang="en-US" sz="1700" dirty="0"/>
          </a:p>
        </p:txBody>
      </p:sp>
      <p:sp>
        <p:nvSpPr>
          <p:cNvPr id="31" name="text-296"/>
          <p:cNvSpPr txBox="1"/>
          <p:nvPr/>
        </p:nvSpPr>
        <p:spPr>
          <a:xfrm>
            <a:off x="9952330" y="2788920"/>
            <a:ext cx="1569110" cy="914400"/>
          </a:xfrm>
          <a:prstGeom prst="rect">
            <a:avLst/>
          </a:prstGeom>
          <a:noFill/>
          <a:ln/>
        </p:spPr>
        <p:txBody>
          <a:bodyPr wrap="square" lIns="0" tIns="0" rIns="0" bIns="0" rtlCol="0" anchor="t"/>
          <a:lstStyle/>
          <a:p>
            <a:pPr indent="0" marL="0">
              <a:buNone/>
            </a:pPr>
            <a:r>
              <a:rPr lang="en-US" sz="1400" dirty="0">
                <a:solidFill>
                  <a:schemeClr val="tx2"/>
                </a:solidFill>
              </a:rPr>
              <a:t>Assigns automatically and notifies the officer</a:t>
            </a:r>
            <a:endParaRPr lang="en-US" sz="1400" dirty="0"/>
          </a:p>
        </p:txBody>
      </p:sp>
      <p:sp>
        <p:nvSpPr>
          <p:cNvPr id="32" name="card-297"/>
          <p:cNvSpPr/>
          <p:nvPr/>
        </p:nvSpPr>
        <p:spPr>
          <a:xfrm>
            <a:off x="548640" y="4114800"/>
            <a:ext cx="3520440" cy="2011680"/>
          </a:xfrm>
          <a:prstGeom prst="roundRect">
            <a:avLst>
              <a:gd name="adj" fmla="val 4545"/>
            </a:avLst>
          </a:prstGeom>
          <a:solidFill>
            <a:schemeClr val="tx1"/>
          </a:solidFill>
          <a:ln/>
        </p:spPr>
      </p:sp>
      <p:sp>
        <p:nvSpPr>
          <p:cNvPr id="33" name="text-298"/>
          <p:cNvSpPr txBox="1"/>
          <p:nvPr/>
        </p:nvSpPr>
        <p:spPr>
          <a:xfrm>
            <a:off x="822960" y="4343400"/>
            <a:ext cx="301752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RECEIVES FROM AGENT 1</a:t>
            </a:r>
            <a:endParaRPr lang="en-US" sz="1200" dirty="0"/>
          </a:p>
        </p:txBody>
      </p:sp>
      <p:sp>
        <p:nvSpPr>
          <p:cNvPr id="34" name="text-299"/>
          <p:cNvSpPr txBox="1"/>
          <p:nvPr/>
        </p:nvSpPr>
        <p:spPr>
          <a:xfrm>
            <a:off x="822960" y="4754880"/>
            <a:ext cx="3017520" cy="1188720"/>
          </a:xfrm>
          <a:prstGeom prst="rect">
            <a:avLst/>
          </a:prstGeom>
          <a:noFill/>
          <a:ln/>
        </p:spPr>
        <p:txBody>
          <a:bodyPr wrap="square" lIns="0" tIns="0" rIns="0" bIns="0" rtlCol="0" anchor="t"/>
          <a:lstStyle/>
          <a:p>
            <a:pPr indent="0" marL="0">
              <a:buNone/>
            </a:pPr>
            <a:r>
              <a:rPr lang="en-US" sz="1500" dirty="0">
                <a:solidFill>
                  <a:schemeClr val="bg1"/>
                </a:solidFill>
              </a:rPr>
              <a:t>A structured analysis: category, location, severity, duplicates and confidence score.</a:t>
            </a:r>
            <a:endParaRPr lang="en-US" sz="1500" dirty="0"/>
          </a:p>
        </p:txBody>
      </p:sp>
      <p:sp>
        <p:nvSpPr>
          <p:cNvPr id="35" name="card-300"/>
          <p:cNvSpPr/>
          <p:nvPr/>
        </p:nvSpPr>
        <p:spPr>
          <a:xfrm>
            <a:off x="4334256" y="4114800"/>
            <a:ext cx="3520440" cy="2011680"/>
          </a:xfrm>
          <a:prstGeom prst="roundRect">
            <a:avLst>
              <a:gd name="adj" fmla="val 4545"/>
            </a:avLst>
          </a:prstGeom>
          <a:solidFill>
            <a:schemeClr val="bg2"/>
          </a:solidFill>
          <a:ln/>
        </p:spPr>
      </p:sp>
      <p:sp>
        <p:nvSpPr>
          <p:cNvPr id="36" name="text-301"/>
          <p:cNvSpPr txBox="1"/>
          <p:nvPr/>
        </p:nvSpPr>
        <p:spPr>
          <a:xfrm>
            <a:off x="4608576" y="4343400"/>
            <a:ext cx="3017520"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IF INFORMATION IS MISSING</a:t>
            </a:r>
            <a:endParaRPr lang="en-US" sz="1200" dirty="0"/>
          </a:p>
        </p:txBody>
      </p:sp>
      <p:sp>
        <p:nvSpPr>
          <p:cNvPr id="37" name="shape-302"/>
          <p:cNvSpPr/>
          <p:nvPr/>
        </p:nvSpPr>
        <p:spPr>
          <a:xfrm>
            <a:off x="4608576" y="4782312"/>
            <a:ext cx="292608" cy="292608"/>
          </a:xfrm>
          <a:prstGeom prst="ellipse">
            <a:avLst/>
          </a:prstGeom>
          <a:solidFill>
            <a:schemeClr val="accent4"/>
          </a:solidFill>
          <a:ln/>
        </p:spPr>
      </p:sp>
      <p:sp>
        <p:nvSpPr>
          <p:cNvPr id="38" name="text-303"/>
          <p:cNvSpPr txBox="1"/>
          <p:nvPr/>
        </p:nvSpPr>
        <p:spPr>
          <a:xfrm>
            <a:off x="4608576" y="4782312"/>
            <a:ext cx="292608" cy="29260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39" name="text-304"/>
          <p:cNvSpPr txBox="1"/>
          <p:nvPr/>
        </p:nvSpPr>
        <p:spPr>
          <a:xfrm>
            <a:off x="5047488" y="4754880"/>
            <a:ext cx="2606040" cy="347472"/>
          </a:xfrm>
          <a:prstGeom prst="rect">
            <a:avLst/>
          </a:prstGeom>
          <a:noFill/>
          <a:ln/>
        </p:spPr>
        <p:txBody>
          <a:bodyPr wrap="square" lIns="0" tIns="0" rIns="0" bIns="0" rtlCol="0" anchor="ctr"/>
          <a:lstStyle/>
          <a:p>
            <a:pPr indent="0" marL="0">
              <a:buNone/>
            </a:pPr>
            <a:r>
              <a:rPr lang="en-US" sz="1500" dirty="0">
                <a:solidFill>
                  <a:schemeClr val="tx2"/>
                </a:solidFill>
              </a:rPr>
              <a:t>Detect incomplete complaint</a:t>
            </a:r>
            <a:endParaRPr lang="en-US" sz="1500" dirty="0"/>
          </a:p>
        </p:txBody>
      </p:sp>
      <p:sp>
        <p:nvSpPr>
          <p:cNvPr id="40" name="shape-305"/>
          <p:cNvSpPr/>
          <p:nvPr/>
        </p:nvSpPr>
        <p:spPr>
          <a:xfrm>
            <a:off x="4608576" y="5202936"/>
            <a:ext cx="292608" cy="292608"/>
          </a:xfrm>
          <a:prstGeom prst="ellipse">
            <a:avLst/>
          </a:prstGeom>
          <a:solidFill>
            <a:schemeClr val="accent4"/>
          </a:solidFill>
          <a:ln/>
        </p:spPr>
      </p:sp>
      <p:sp>
        <p:nvSpPr>
          <p:cNvPr id="41" name="text-306"/>
          <p:cNvSpPr txBox="1"/>
          <p:nvPr/>
        </p:nvSpPr>
        <p:spPr>
          <a:xfrm>
            <a:off x="4608576" y="5202936"/>
            <a:ext cx="292608" cy="29260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42" name="text-307"/>
          <p:cNvSpPr txBox="1"/>
          <p:nvPr/>
        </p:nvSpPr>
        <p:spPr>
          <a:xfrm>
            <a:off x="5047488" y="5175504"/>
            <a:ext cx="2606040" cy="347472"/>
          </a:xfrm>
          <a:prstGeom prst="rect">
            <a:avLst/>
          </a:prstGeom>
          <a:noFill/>
          <a:ln/>
        </p:spPr>
        <p:txBody>
          <a:bodyPr wrap="square" lIns="0" tIns="0" rIns="0" bIns="0" rtlCol="0" anchor="ctr"/>
          <a:lstStyle/>
          <a:p>
            <a:pPr indent="0" marL="0">
              <a:buNone/>
            </a:pPr>
            <a:r>
              <a:rPr lang="en-US" sz="1500" dirty="0">
                <a:solidFill>
                  <a:schemeClr val="tx2"/>
                </a:solidFill>
              </a:rPr>
              <a:t>Ask the citizen for details</a:t>
            </a:r>
            <a:endParaRPr lang="en-US" sz="1500" dirty="0"/>
          </a:p>
        </p:txBody>
      </p:sp>
      <p:sp>
        <p:nvSpPr>
          <p:cNvPr id="43" name="shape-308"/>
          <p:cNvSpPr/>
          <p:nvPr/>
        </p:nvSpPr>
        <p:spPr>
          <a:xfrm>
            <a:off x="4608576" y="5623560"/>
            <a:ext cx="292608" cy="292608"/>
          </a:xfrm>
          <a:prstGeom prst="ellipse">
            <a:avLst/>
          </a:prstGeom>
          <a:solidFill>
            <a:schemeClr val="accent4"/>
          </a:solidFill>
          <a:ln/>
        </p:spPr>
      </p:sp>
      <p:sp>
        <p:nvSpPr>
          <p:cNvPr id="44" name="text-309"/>
          <p:cNvSpPr txBox="1"/>
          <p:nvPr/>
        </p:nvSpPr>
        <p:spPr>
          <a:xfrm>
            <a:off x="4608576" y="5623560"/>
            <a:ext cx="292608" cy="29260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45" name="text-310"/>
          <p:cNvSpPr txBox="1"/>
          <p:nvPr/>
        </p:nvSpPr>
        <p:spPr>
          <a:xfrm>
            <a:off x="5047488" y="5596128"/>
            <a:ext cx="2606040" cy="347472"/>
          </a:xfrm>
          <a:prstGeom prst="rect">
            <a:avLst/>
          </a:prstGeom>
          <a:noFill/>
          <a:ln/>
        </p:spPr>
        <p:txBody>
          <a:bodyPr wrap="square" lIns="0" tIns="0" rIns="0" bIns="0" rtlCol="0" anchor="ctr"/>
          <a:lstStyle/>
          <a:p>
            <a:pPr indent="0" marL="0">
              <a:buNone/>
            </a:pPr>
            <a:r>
              <a:rPr lang="en-US" sz="1500" dirty="0">
                <a:solidFill>
                  <a:schemeClr val="tx2"/>
                </a:solidFill>
              </a:rPr>
              <a:t>Re-analyze with the answer</a:t>
            </a:r>
            <a:endParaRPr lang="en-US" sz="1500" dirty="0"/>
          </a:p>
        </p:txBody>
      </p:sp>
      <p:sp>
        <p:nvSpPr>
          <p:cNvPr id="46" name="card-311"/>
          <p:cNvSpPr/>
          <p:nvPr/>
        </p:nvSpPr>
        <p:spPr>
          <a:xfrm>
            <a:off x="8119872" y="4114800"/>
            <a:ext cx="3520440" cy="2011680"/>
          </a:xfrm>
          <a:prstGeom prst="roundRect">
            <a:avLst>
              <a:gd name="adj" fmla="val 4545"/>
            </a:avLst>
          </a:prstGeom>
          <a:solidFill>
            <a:schemeClr val="tx1"/>
          </a:solidFill>
          <a:ln/>
        </p:spPr>
      </p:sp>
      <p:sp>
        <p:nvSpPr>
          <p:cNvPr id="47" name="text-312"/>
          <p:cNvSpPr txBox="1"/>
          <p:nvPr/>
        </p:nvSpPr>
        <p:spPr>
          <a:xfrm>
            <a:off x="8394192" y="4343400"/>
            <a:ext cx="301752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HANDS OFF TO AGENT 3</a:t>
            </a:r>
            <a:endParaRPr lang="en-US" sz="1200" dirty="0"/>
          </a:p>
        </p:txBody>
      </p:sp>
      <p:sp>
        <p:nvSpPr>
          <p:cNvPr id="48" name="text-313"/>
          <p:cNvSpPr txBox="1"/>
          <p:nvPr/>
        </p:nvSpPr>
        <p:spPr>
          <a:xfrm>
            <a:off x="8394192" y="4754880"/>
            <a:ext cx="3017520" cy="777240"/>
          </a:xfrm>
          <a:prstGeom prst="rect">
            <a:avLst/>
          </a:prstGeom>
          <a:noFill/>
          <a:ln/>
        </p:spPr>
        <p:txBody>
          <a:bodyPr wrap="square" lIns="0" tIns="0" rIns="0" bIns="0" rtlCol="0" anchor="t"/>
          <a:lstStyle/>
          <a:p>
            <a:pPr indent="0" marL="0">
              <a:buNone/>
            </a:pPr>
            <a:r>
              <a:rPr lang="en-US" sz="1500" dirty="0">
                <a:solidFill>
                  <a:schemeClr val="bg1"/>
                </a:solidFill>
              </a:rPr>
              <a:t>Department, officer, SLA deadline and assignment, ready for monitoring.</a:t>
            </a:r>
            <a:endParaRPr lang="en-US" sz="1500" dirty="0"/>
          </a:p>
        </p:txBody>
      </p:sp>
      <p:sp>
        <p:nvSpPr>
          <p:cNvPr id="49" name="text-314"/>
          <p:cNvSpPr txBox="1"/>
          <p:nvPr/>
        </p:nvSpPr>
        <p:spPr>
          <a:xfrm>
            <a:off x="8394192" y="5532120"/>
            <a:ext cx="3017520" cy="502920"/>
          </a:xfrm>
          <a:prstGeom prst="rect">
            <a:avLst/>
          </a:prstGeom>
          <a:noFill/>
          <a:ln/>
        </p:spPr>
        <p:txBody>
          <a:bodyPr wrap="square" lIns="0" tIns="0" rIns="0" bIns="0" rtlCol="0" anchor="t"/>
          <a:lstStyle/>
          <a:p>
            <a:pPr indent="0" marL="0">
              <a:buNone/>
            </a:pPr>
            <a:r>
              <a:rPr lang="en-US" sz="1400" dirty="0">
                <a:solidFill>
                  <a:schemeClr val="bg2"/>
                </a:solidFill>
              </a:rPr>
              <a:t>Uses controlled tools: lookup, assignment, notifications.</a:t>
            </a:r>
            <a:endParaRPr lang="en-US" sz="1400" dirty="0"/>
          </a:p>
        </p:txBody>
      </p:sp>
      <p:sp>
        <p:nvSpPr>
          <p:cNvPr id="25" name="Slide Number Placeholder 0"/>
          <p:cNvSpPr>
            <a:spLocks noGrp="1"/>
          </p:cNvSpPr>
          <p:nvPr>
            <p:ph type="sldNum" sz="quarter" idx="4294967295"/>
          </p:nvPr>
        </p:nvSpPr>
        <p:spPr>
          <a:xfrm>
            <a:off x="10972800" y="6419088"/>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200" b="1" dirty="0">
                <a:solidFill>
                  <a:schemeClr val="tx1"/>
                </a:solidFill>
              </a:rPr>
              <a:t>Agent 3: Monitoring &amp; Escalation</a:t>
            </a:r>
            <a:endParaRPr lang="en-US" sz="3200" dirty="0"/>
          </a:p>
        </p:txBody>
      </p:sp>
      <p:sp>
        <p:nvSpPr>
          <p:cNvPr id="3" name="card-315"/>
          <p:cNvSpPr/>
          <p:nvPr/>
        </p:nvSpPr>
        <p:spPr>
          <a:xfrm>
            <a:off x="548640" y="1371600"/>
            <a:ext cx="11091672" cy="2194560"/>
          </a:xfrm>
          <a:prstGeom prst="roundRect">
            <a:avLst>
              <a:gd name="adj" fmla="val 4167"/>
            </a:avLst>
          </a:prstGeom>
          <a:solidFill>
            <a:schemeClr val="tx1"/>
          </a:solidFill>
          <a:ln/>
        </p:spPr>
      </p:sp>
      <p:sp>
        <p:nvSpPr>
          <p:cNvPr id="4" name="text-316"/>
          <p:cNvSpPr txBox="1"/>
          <p:nvPr/>
        </p:nvSpPr>
        <p:spPr>
          <a:xfrm>
            <a:off x="868680" y="1554480"/>
            <a:ext cx="3657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THE SLA CLOCK</a:t>
            </a:r>
            <a:endParaRPr lang="en-US" sz="1200" dirty="0"/>
          </a:p>
        </p:txBody>
      </p:sp>
      <p:sp>
        <p:nvSpPr>
          <p:cNvPr id="5" name="line-317"/>
          <p:cNvSpPr/>
          <p:nvPr/>
        </p:nvSpPr>
        <p:spPr>
          <a:xfrm>
            <a:off x="1783080" y="2286000"/>
            <a:ext cx="8046720" cy="0"/>
          </a:xfrm>
          <a:prstGeom prst="line">
            <a:avLst/>
          </a:prstGeom>
          <a:noFill/>
          <a:ln w="38100">
            <a:solidFill>
              <a:schemeClr val="accent6"/>
            </a:solidFill>
            <a:prstDash val="solid"/>
          </a:ln>
        </p:spPr>
      </p:sp>
      <p:sp>
        <p:nvSpPr>
          <p:cNvPr id="6" name="shape-318"/>
          <p:cNvSpPr/>
          <p:nvPr/>
        </p:nvSpPr>
        <p:spPr>
          <a:xfrm>
            <a:off x="1600200" y="2103120"/>
            <a:ext cx="365760" cy="365760"/>
          </a:xfrm>
          <a:prstGeom prst="ellipse">
            <a:avLst/>
          </a:prstGeom>
          <a:solidFill>
            <a:schemeClr val="accent5"/>
          </a:solidFill>
          <a:ln w="38100">
            <a:solidFill>
              <a:schemeClr val="tx1"/>
            </a:solidFill>
            <a:prstDash val="solid"/>
          </a:ln>
        </p:spPr>
      </p:sp>
      <p:sp>
        <p:nvSpPr>
          <p:cNvPr id="7" name="text-319"/>
          <p:cNvSpPr txBox="1"/>
          <p:nvPr/>
        </p:nvSpPr>
        <p:spPr>
          <a:xfrm>
            <a:off x="868680" y="2651760"/>
            <a:ext cx="1828800" cy="320040"/>
          </a:xfrm>
          <a:prstGeom prst="rect">
            <a:avLst/>
          </a:prstGeom>
          <a:noFill/>
          <a:ln/>
        </p:spPr>
        <p:txBody>
          <a:bodyPr wrap="square" lIns="0" tIns="0" rIns="0" bIns="0" rtlCol="0" anchor="t"/>
          <a:lstStyle/>
          <a:p>
            <a:pPr algn="ctr" indent="0" marL="0">
              <a:buNone/>
            </a:pPr>
            <a:r>
              <a:rPr lang="en-US" sz="1600" b="1" dirty="0">
                <a:solidFill>
                  <a:schemeClr val="bg1"/>
                </a:solidFill>
              </a:rPr>
              <a:t>Assigned</a:t>
            </a:r>
            <a:endParaRPr lang="en-US" sz="1600" dirty="0"/>
          </a:p>
        </p:txBody>
      </p:sp>
      <p:sp>
        <p:nvSpPr>
          <p:cNvPr id="8" name="text-320"/>
          <p:cNvSpPr txBox="1"/>
          <p:nvPr/>
        </p:nvSpPr>
        <p:spPr>
          <a:xfrm>
            <a:off x="868680" y="2999232"/>
            <a:ext cx="1828800" cy="320040"/>
          </a:xfrm>
          <a:prstGeom prst="rect">
            <a:avLst/>
          </a:prstGeom>
          <a:noFill/>
          <a:ln/>
        </p:spPr>
        <p:txBody>
          <a:bodyPr wrap="square" lIns="0" tIns="0" rIns="0" bIns="0" rtlCol="0" anchor="t"/>
          <a:lstStyle/>
          <a:p>
            <a:pPr algn="ctr" indent="0" marL="0">
              <a:buNone/>
            </a:pPr>
            <a:r>
              <a:rPr lang="en-US" sz="1400" dirty="0">
                <a:solidFill>
                  <a:schemeClr val="bg2"/>
                </a:solidFill>
              </a:rPr>
              <a:t>Deadline set</a:t>
            </a:r>
            <a:endParaRPr lang="en-US" sz="1400" dirty="0"/>
          </a:p>
        </p:txBody>
      </p:sp>
      <p:sp>
        <p:nvSpPr>
          <p:cNvPr id="9" name="shape-321"/>
          <p:cNvSpPr/>
          <p:nvPr/>
        </p:nvSpPr>
        <p:spPr>
          <a:xfrm>
            <a:off x="3611880" y="2103120"/>
            <a:ext cx="365760" cy="365760"/>
          </a:xfrm>
          <a:prstGeom prst="ellipse">
            <a:avLst/>
          </a:prstGeom>
          <a:solidFill>
            <a:schemeClr val="accent1"/>
          </a:solidFill>
          <a:ln w="38100">
            <a:solidFill>
              <a:schemeClr val="tx1"/>
            </a:solidFill>
            <a:prstDash val="solid"/>
          </a:ln>
        </p:spPr>
      </p:sp>
      <p:sp>
        <p:nvSpPr>
          <p:cNvPr id="10" name="text-322"/>
          <p:cNvSpPr txBox="1"/>
          <p:nvPr/>
        </p:nvSpPr>
        <p:spPr>
          <a:xfrm>
            <a:off x="2880360" y="2651760"/>
            <a:ext cx="1828800" cy="320040"/>
          </a:xfrm>
          <a:prstGeom prst="rect">
            <a:avLst/>
          </a:prstGeom>
          <a:noFill/>
          <a:ln/>
        </p:spPr>
        <p:txBody>
          <a:bodyPr wrap="square" lIns="0" tIns="0" rIns="0" bIns="0" rtlCol="0" anchor="t"/>
          <a:lstStyle/>
          <a:p>
            <a:pPr algn="ctr" indent="0" marL="0">
              <a:buNone/>
            </a:pPr>
            <a:r>
              <a:rPr lang="en-US" sz="1600" b="1" dirty="0">
                <a:solidFill>
                  <a:schemeClr val="bg1"/>
                </a:solidFill>
              </a:rPr>
              <a:t>Tracked</a:t>
            </a:r>
            <a:endParaRPr lang="en-US" sz="1600" dirty="0"/>
          </a:p>
        </p:txBody>
      </p:sp>
      <p:sp>
        <p:nvSpPr>
          <p:cNvPr id="11" name="text-323"/>
          <p:cNvSpPr txBox="1"/>
          <p:nvPr/>
        </p:nvSpPr>
        <p:spPr>
          <a:xfrm>
            <a:off x="2880360" y="2999232"/>
            <a:ext cx="1828800" cy="320040"/>
          </a:xfrm>
          <a:prstGeom prst="rect">
            <a:avLst/>
          </a:prstGeom>
          <a:noFill/>
          <a:ln/>
        </p:spPr>
        <p:txBody>
          <a:bodyPr wrap="square" lIns="0" tIns="0" rIns="0" bIns="0" rtlCol="0" anchor="t"/>
          <a:lstStyle/>
          <a:p>
            <a:pPr algn="ctr" indent="0" marL="0">
              <a:buNone/>
            </a:pPr>
            <a:r>
              <a:rPr lang="en-US" sz="1400" dirty="0">
                <a:solidFill>
                  <a:schemeClr val="bg2"/>
                </a:solidFill>
              </a:rPr>
              <a:t>Status and progress</a:t>
            </a:r>
            <a:endParaRPr lang="en-US" sz="1400" dirty="0"/>
          </a:p>
        </p:txBody>
      </p:sp>
      <p:sp>
        <p:nvSpPr>
          <p:cNvPr id="12" name="shape-324"/>
          <p:cNvSpPr/>
          <p:nvPr/>
        </p:nvSpPr>
        <p:spPr>
          <a:xfrm>
            <a:off x="5623560" y="2103120"/>
            <a:ext cx="365760" cy="365760"/>
          </a:xfrm>
          <a:prstGeom prst="ellipse">
            <a:avLst/>
          </a:prstGeom>
          <a:solidFill>
            <a:schemeClr val="accent2"/>
          </a:solidFill>
          <a:ln w="38100">
            <a:solidFill>
              <a:schemeClr val="tx1"/>
            </a:solidFill>
            <a:prstDash val="solid"/>
          </a:ln>
        </p:spPr>
      </p:sp>
      <p:sp>
        <p:nvSpPr>
          <p:cNvPr id="13" name="text-325"/>
          <p:cNvSpPr txBox="1"/>
          <p:nvPr/>
        </p:nvSpPr>
        <p:spPr>
          <a:xfrm>
            <a:off x="4892040" y="2651760"/>
            <a:ext cx="1828800" cy="320040"/>
          </a:xfrm>
          <a:prstGeom prst="rect">
            <a:avLst/>
          </a:prstGeom>
          <a:noFill/>
          <a:ln/>
        </p:spPr>
        <p:txBody>
          <a:bodyPr wrap="square" lIns="0" tIns="0" rIns="0" bIns="0" rtlCol="0" anchor="t"/>
          <a:lstStyle/>
          <a:p>
            <a:pPr algn="ctr" indent="0" marL="0">
              <a:buNone/>
            </a:pPr>
            <a:r>
              <a:rPr lang="en-US" sz="1600" b="1" dirty="0">
                <a:solidFill>
                  <a:schemeClr val="bg1"/>
                </a:solidFill>
              </a:rPr>
              <a:t>Reminder</a:t>
            </a:r>
            <a:endParaRPr lang="en-US" sz="1600" dirty="0"/>
          </a:p>
        </p:txBody>
      </p:sp>
      <p:sp>
        <p:nvSpPr>
          <p:cNvPr id="14" name="text-326"/>
          <p:cNvSpPr txBox="1"/>
          <p:nvPr/>
        </p:nvSpPr>
        <p:spPr>
          <a:xfrm>
            <a:off x="4892040" y="2999232"/>
            <a:ext cx="1828800" cy="320040"/>
          </a:xfrm>
          <a:prstGeom prst="rect">
            <a:avLst/>
          </a:prstGeom>
          <a:noFill/>
          <a:ln/>
        </p:spPr>
        <p:txBody>
          <a:bodyPr wrap="square" lIns="0" tIns="0" rIns="0" bIns="0" rtlCol="0" anchor="t"/>
          <a:lstStyle/>
          <a:p>
            <a:pPr algn="ctr" indent="0" marL="0">
              <a:buNone/>
            </a:pPr>
            <a:r>
              <a:rPr lang="en-US" sz="1400" dirty="0">
                <a:solidFill>
                  <a:schemeClr val="bg2"/>
                </a:solidFill>
              </a:rPr>
              <a:t>Before SLA breach</a:t>
            </a:r>
            <a:endParaRPr lang="en-US" sz="1400" dirty="0"/>
          </a:p>
        </p:txBody>
      </p:sp>
      <p:sp>
        <p:nvSpPr>
          <p:cNvPr id="15" name="shape-327"/>
          <p:cNvSpPr/>
          <p:nvPr/>
        </p:nvSpPr>
        <p:spPr>
          <a:xfrm>
            <a:off x="7635240" y="2103120"/>
            <a:ext cx="365760" cy="365760"/>
          </a:xfrm>
          <a:prstGeom prst="ellipse">
            <a:avLst/>
          </a:prstGeom>
          <a:solidFill>
            <a:schemeClr val="accent3"/>
          </a:solidFill>
          <a:ln w="38100">
            <a:solidFill>
              <a:schemeClr val="tx1"/>
            </a:solidFill>
            <a:prstDash val="solid"/>
          </a:ln>
        </p:spPr>
      </p:sp>
      <p:sp>
        <p:nvSpPr>
          <p:cNvPr id="16" name="text-328"/>
          <p:cNvSpPr txBox="1"/>
          <p:nvPr/>
        </p:nvSpPr>
        <p:spPr>
          <a:xfrm>
            <a:off x="6903720" y="2651760"/>
            <a:ext cx="1828800" cy="320040"/>
          </a:xfrm>
          <a:prstGeom prst="rect">
            <a:avLst/>
          </a:prstGeom>
          <a:noFill/>
          <a:ln/>
        </p:spPr>
        <p:txBody>
          <a:bodyPr wrap="square" lIns="0" tIns="0" rIns="0" bIns="0" rtlCol="0" anchor="t"/>
          <a:lstStyle/>
          <a:p>
            <a:pPr algn="ctr" indent="0" marL="0">
              <a:buNone/>
            </a:pPr>
            <a:r>
              <a:rPr lang="en-US" sz="1600" b="1" dirty="0">
                <a:solidFill>
                  <a:schemeClr val="bg1"/>
                </a:solidFill>
              </a:rPr>
              <a:t>Overdue</a:t>
            </a:r>
            <a:endParaRPr lang="en-US" sz="1600" dirty="0"/>
          </a:p>
        </p:txBody>
      </p:sp>
      <p:sp>
        <p:nvSpPr>
          <p:cNvPr id="17" name="text-329"/>
          <p:cNvSpPr txBox="1"/>
          <p:nvPr/>
        </p:nvSpPr>
        <p:spPr>
          <a:xfrm>
            <a:off x="6903720" y="2999232"/>
            <a:ext cx="1828800" cy="320040"/>
          </a:xfrm>
          <a:prstGeom prst="rect">
            <a:avLst/>
          </a:prstGeom>
          <a:noFill/>
          <a:ln/>
        </p:spPr>
        <p:txBody>
          <a:bodyPr wrap="square" lIns="0" tIns="0" rIns="0" bIns="0" rtlCol="0" anchor="t"/>
          <a:lstStyle/>
          <a:p>
            <a:pPr algn="ctr" indent="0" marL="0">
              <a:buNone/>
            </a:pPr>
            <a:r>
              <a:rPr lang="en-US" sz="1400" dirty="0">
                <a:solidFill>
                  <a:schemeClr val="bg2"/>
                </a:solidFill>
              </a:rPr>
              <a:t>SLA breached</a:t>
            </a:r>
            <a:endParaRPr lang="en-US" sz="1400" dirty="0"/>
          </a:p>
        </p:txBody>
      </p:sp>
      <p:sp>
        <p:nvSpPr>
          <p:cNvPr id="18" name="shape-330"/>
          <p:cNvSpPr/>
          <p:nvPr/>
        </p:nvSpPr>
        <p:spPr>
          <a:xfrm>
            <a:off x="9646920" y="2103120"/>
            <a:ext cx="365760" cy="365760"/>
          </a:xfrm>
          <a:prstGeom prst="ellipse">
            <a:avLst/>
          </a:prstGeom>
          <a:solidFill>
            <a:schemeClr val="accent3"/>
          </a:solidFill>
          <a:ln w="38100">
            <a:solidFill>
              <a:schemeClr val="tx1"/>
            </a:solidFill>
            <a:prstDash val="solid"/>
          </a:ln>
        </p:spPr>
      </p:sp>
      <p:sp>
        <p:nvSpPr>
          <p:cNvPr id="19" name="text-331"/>
          <p:cNvSpPr txBox="1"/>
          <p:nvPr/>
        </p:nvSpPr>
        <p:spPr>
          <a:xfrm>
            <a:off x="8915400" y="2651760"/>
            <a:ext cx="1828800" cy="320040"/>
          </a:xfrm>
          <a:prstGeom prst="rect">
            <a:avLst/>
          </a:prstGeom>
          <a:noFill/>
          <a:ln/>
        </p:spPr>
        <p:txBody>
          <a:bodyPr wrap="square" lIns="0" tIns="0" rIns="0" bIns="0" rtlCol="0" anchor="t"/>
          <a:lstStyle/>
          <a:p>
            <a:pPr algn="ctr" indent="0" marL="0">
              <a:buNone/>
            </a:pPr>
            <a:r>
              <a:rPr lang="en-US" sz="1600" b="1" dirty="0">
                <a:solidFill>
                  <a:schemeClr val="bg1"/>
                </a:solidFill>
              </a:rPr>
              <a:t>Escalated</a:t>
            </a:r>
            <a:endParaRPr lang="en-US" sz="1600" dirty="0"/>
          </a:p>
        </p:txBody>
      </p:sp>
      <p:sp>
        <p:nvSpPr>
          <p:cNvPr id="20" name="text-332"/>
          <p:cNvSpPr txBox="1"/>
          <p:nvPr/>
        </p:nvSpPr>
        <p:spPr>
          <a:xfrm>
            <a:off x="8915400" y="2999232"/>
            <a:ext cx="1828800" cy="320040"/>
          </a:xfrm>
          <a:prstGeom prst="rect">
            <a:avLst/>
          </a:prstGeom>
          <a:noFill/>
          <a:ln/>
        </p:spPr>
        <p:txBody>
          <a:bodyPr wrap="square" lIns="0" tIns="0" rIns="0" bIns="0" rtlCol="0" anchor="t"/>
          <a:lstStyle/>
          <a:p>
            <a:pPr algn="ctr" indent="0" marL="0">
              <a:buNone/>
            </a:pPr>
            <a:r>
              <a:rPr lang="en-US" sz="1400" dirty="0">
                <a:solidFill>
                  <a:schemeClr val="bg2"/>
                </a:solidFill>
              </a:rPr>
              <a:t>Senior authority</a:t>
            </a:r>
            <a:endParaRPr lang="en-US" sz="1400" dirty="0"/>
          </a:p>
        </p:txBody>
      </p:sp>
      <p:sp>
        <p:nvSpPr>
          <p:cNvPr id="21" name="card-333"/>
          <p:cNvSpPr/>
          <p:nvPr/>
        </p:nvSpPr>
        <p:spPr>
          <a:xfrm>
            <a:off x="548640" y="3840480"/>
            <a:ext cx="3520440" cy="2286000"/>
          </a:xfrm>
          <a:prstGeom prst="roundRect">
            <a:avLst>
              <a:gd name="adj" fmla="val 4000"/>
            </a:avLst>
          </a:prstGeom>
          <a:solidFill>
            <a:schemeClr val="bg2"/>
          </a:solidFill>
          <a:ln/>
        </p:spPr>
      </p:sp>
      <p:sp>
        <p:nvSpPr>
          <p:cNvPr id="22" name="icon-bg-334"/>
          <p:cNvSpPr/>
          <p:nvPr/>
        </p:nvSpPr>
        <p:spPr>
          <a:xfrm>
            <a:off x="800100" y="4046220"/>
            <a:ext cx="502920" cy="502920"/>
          </a:xfrm>
          <a:prstGeom prst="ellipse">
            <a:avLst/>
          </a:prstGeom>
          <a:solidFill>
            <a:schemeClr val="accent1"/>
          </a:solidFill>
          <a:ln/>
        </p:spPr>
      </p:sp>
      <p:pic>
        <p:nvPicPr>
          <p:cNvPr id="23" name="icon-335" descr="Eye icon">    </p:cNvPr>
          <p:cNvPicPr>
            <a:picLocks noChangeAspect="1"/>
          </p:cNvPicPr>
          <p:nvPr/>
        </p:nvPicPr>
        <p:blipFill>
          <a:blip r:embed="rId1"/>
          <a:stretch>
            <a:fillRect/>
          </a:stretch>
        </p:blipFill>
        <p:spPr>
          <a:xfrm>
            <a:off x="925830" y="4171950"/>
            <a:ext cx="251460" cy="251460"/>
          </a:xfrm>
          <a:prstGeom prst="rect">
            <a:avLst/>
          </a:prstGeom>
        </p:spPr>
      </p:pic>
      <p:sp>
        <p:nvSpPr>
          <p:cNvPr id="24" name="text-336"/>
          <p:cNvSpPr txBox="1"/>
          <p:nvPr/>
        </p:nvSpPr>
        <p:spPr>
          <a:xfrm>
            <a:off x="1508760" y="4069080"/>
            <a:ext cx="2423160" cy="457200"/>
          </a:xfrm>
          <a:prstGeom prst="rect">
            <a:avLst/>
          </a:prstGeom>
          <a:noFill/>
          <a:ln/>
        </p:spPr>
        <p:txBody>
          <a:bodyPr wrap="square" lIns="0" tIns="0" rIns="0" bIns="0" rtlCol="0" anchor="ctr"/>
          <a:lstStyle/>
          <a:p>
            <a:pPr indent="0" marL="0">
              <a:buNone/>
            </a:pPr>
            <a:r>
              <a:rPr lang="en-US" sz="1800" b="1" dirty="0">
                <a:solidFill>
                  <a:schemeClr val="tx1"/>
                </a:solidFill>
              </a:rPr>
              <a:t>Tracks</a:t>
            </a:r>
            <a:endParaRPr lang="en-US" sz="1800" dirty="0"/>
          </a:p>
        </p:txBody>
      </p:sp>
      <p:sp>
        <p:nvSpPr>
          <p:cNvPr id="25" name="text-337"/>
          <p:cNvSpPr txBox="1"/>
          <p:nvPr/>
        </p:nvSpPr>
        <p:spPr>
          <a:xfrm>
            <a:off x="822960" y="4709160"/>
            <a:ext cx="3017520" cy="137160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2"/>
                </a:solidFill>
              </a:rPr>
              <a:t>Current status and progress</a:t>
            </a:r>
            <a:endParaRPr lang="en-US" sz="1400" dirty="0"/>
          </a:p>
          <a:p>
            <a:pPr marL="177800" indent="-177800">
              <a:spcAft>
                <a:spcPts val="300"/>
              </a:spcAft>
              <a:buSzPct val="100000"/>
              <a:buChar char="•"/>
            </a:pPr>
            <a:r>
              <a:rPr lang="en-US" sz="1400" dirty="0">
                <a:solidFill>
                  <a:schemeClr val="tx2"/>
                </a:solidFill>
              </a:rPr>
              <a:t>SLA deadline</a:t>
            </a:r>
            <a:endParaRPr lang="en-US" sz="1400" dirty="0"/>
          </a:p>
          <a:p>
            <a:pPr marL="177800" indent="-177800">
              <a:spcAft>
                <a:spcPts val="300"/>
              </a:spcAft>
              <a:buSzPct val="100000"/>
              <a:buChar char="•"/>
            </a:pPr>
            <a:r>
              <a:rPr lang="en-US" sz="1400" dirty="0">
                <a:solidFill>
                  <a:schemeClr val="tx2"/>
                </a:solidFill>
              </a:rPr>
              <a:t>Whether action was taken</a:t>
            </a:r>
            <a:endParaRPr lang="en-US" sz="1400" dirty="0"/>
          </a:p>
          <a:p>
            <a:pPr marL="177800" indent="-177800">
              <a:spcAft>
                <a:spcPts val="300"/>
              </a:spcAft>
              <a:buSzPct val="100000"/>
              <a:buChar char="•"/>
            </a:pPr>
            <a:r>
              <a:rPr lang="en-US" sz="1400" dirty="0">
                <a:solidFill>
                  <a:schemeClr val="tx2"/>
                </a:solidFill>
              </a:rPr>
              <a:t>Whether the citizen needs an update</a:t>
            </a:r>
            <a:endParaRPr lang="en-US" sz="1400" dirty="0"/>
          </a:p>
        </p:txBody>
      </p:sp>
      <p:sp>
        <p:nvSpPr>
          <p:cNvPr id="26" name="card-338"/>
          <p:cNvSpPr/>
          <p:nvPr/>
        </p:nvSpPr>
        <p:spPr>
          <a:xfrm>
            <a:off x="4334256" y="3840480"/>
            <a:ext cx="3520440" cy="2286000"/>
          </a:xfrm>
          <a:prstGeom prst="roundRect">
            <a:avLst>
              <a:gd name="adj" fmla="val 4000"/>
            </a:avLst>
          </a:prstGeom>
          <a:solidFill>
            <a:schemeClr val="bg2"/>
          </a:solidFill>
          <a:ln/>
        </p:spPr>
      </p:sp>
      <p:sp>
        <p:nvSpPr>
          <p:cNvPr id="27" name="icon-bg-339"/>
          <p:cNvSpPr/>
          <p:nvPr/>
        </p:nvSpPr>
        <p:spPr>
          <a:xfrm>
            <a:off x="4585716" y="4046220"/>
            <a:ext cx="502920" cy="502920"/>
          </a:xfrm>
          <a:prstGeom prst="ellipse">
            <a:avLst/>
          </a:prstGeom>
          <a:solidFill>
            <a:schemeClr val="accent2"/>
          </a:solidFill>
          <a:ln/>
        </p:spPr>
      </p:sp>
      <p:pic>
        <p:nvPicPr>
          <p:cNvPr id="28" name="icon-340" descr="Bell icon">    </p:cNvPr>
          <p:cNvPicPr>
            <a:picLocks noChangeAspect="1"/>
          </p:cNvPicPr>
          <p:nvPr/>
        </p:nvPicPr>
        <p:blipFill>
          <a:blip r:embed="rId2"/>
          <a:stretch>
            <a:fillRect/>
          </a:stretch>
        </p:blipFill>
        <p:spPr>
          <a:xfrm>
            <a:off x="4711446" y="4171950"/>
            <a:ext cx="251460" cy="251460"/>
          </a:xfrm>
          <a:prstGeom prst="rect">
            <a:avLst/>
          </a:prstGeom>
        </p:spPr>
      </p:pic>
      <p:sp>
        <p:nvSpPr>
          <p:cNvPr id="29" name="text-341"/>
          <p:cNvSpPr txBox="1"/>
          <p:nvPr/>
        </p:nvSpPr>
        <p:spPr>
          <a:xfrm>
            <a:off x="5294376" y="4069080"/>
            <a:ext cx="2423160" cy="457200"/>
          </a:xfrm>
          <a:prstGeom prst="rect">
            <a:avLst/>
          </a:prstGeom>
          <a:noFill/>
          <a:ln/>
        </p:spPr>
        <p:txBody>
          <a:bodyPr wrap="square" lIns="0" tIns="0" rIns="0" bIns="0" rtlCol="0" anchor="ctr"/>
          <a:lstStyle/>
          <a:p>
            <a:pPr indent="0" marL="0">
              <a:buNone/>
            </a:pPr>
            <a:r>
              <a:rPr lang="en-US" sz="1800" b="1" dirty="0">
                <a:solidFill>
                  <a:schemeClr val="tx1"/>
                </a:solidFill>
              </a:rPr>
              <a:t>Reminds &amp; detects</a:t>
            </a:r>
            <a:endParaRPr lang="en-US" sz="1800" dirty="0"/>
          </a:p>
        </p:txBody>
      </p:sp>
      <p:sp>
        <p:nvSpPr>
          <p:cNvPr id="30" name="text-342"/>
          <p:cNvSpPr txBox="1"/>
          <p:nvPr/>
        </p:nvSpPr>
        <p:spPr>
          <a:xfrm>
            <a:off x="4608576" y="4709160"/>
            <a:ext cx="3017520" cy="137160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2"/>
                </a:solidFill>
              </a:rPr>
              <a:t>Reminders before SLA breach</a:t>
            </a:r>
            <a:endParaRPr lang="en-US" sz="1400" dirty="0"/>
          </a:p>
          <a:p>
            <a:pPr marL="177800" indent="-177800">
              <a:spcAft>
                <a:spcPts val="300"/>
              </a:spcAft>
              <a:buSzPct val="100000"/>
              <a:buChar char="•"/>
            </a:pPr>
            <a:r>
              <a:rPr lang="en-US" sz="1400" dirty="0">
                <a:solidFill>
                  <a:schemeClr val="tx2"/>
                </a:solidFill>
              </a:rPr>
              <a:t>Monitors pending complaints</a:t>
            </a:r>
            <a:endParaRPr lang="en-US" sz="1400" dirty="0"/>
          </a:p>
          <a:p>
            <a:pPr marL="177800" indent="-177800">
              <a:spcAft>
                <a:spcPts val="300"/>
              </a:spcAft>
              <a:buSzPct val="100000"/>
              <a:buChar char="•"/>
            </a:pPr>
            <a:r>
              <a:rPr lang="en-US" sz="1400" dirty="0">
                <a:solidFill>
                  <a:schemeClr val="tx2"/>
                </a:solidFill>
              </a:rPr>
              <a:t>Detects overdue complaints</a:t>
            </a:r>
            <a:endParaRPr lang="en-US" sz="1400" dirty="0"/>
          </a:p>
          <a:p>
            <a:pPr marL="177800" indent="-177800">
              <a:spcAft>
                <a:spcPts val="300"/>
              </a:spcAft>
              <a:buSzPct val="100000"/>
              <a:buChar char="•"/>
            </a:pPr>
            <a:r>
              <a:rPr lang="en-US" sz="1400" dirty="0">
                <a:solidFill>
                  <a:schemeClr val="tx2"/>
                </a:solidFill>
              </a:rPr>
              <a:t>Notifies the assigned officer</a:t>
            </a:r>
            <a:endParaRPr lang="en-US" sz="1400" dirty="0"/>
          </a:p>
        </p:txBody>
      </p:sp>
      <p:sp>
        <p:nvSpPr>
          <p:cNvPr id="31" name="card-343"/>
          <p:cNvSpPr/>
          <p:nvPr/>
        </p:nvSpPr>
        <p:spPr>
          <a:xfrm>
            <a:off x="8119872" y="3840480"/>
            <a:ext cx="3520440" cy="2286000"/>
          </a:xfrm>
          <a:prstGeom prst="roundRect">
            <a:avLst>
              <a:gd name="adj" fmla="val 4000"/>
            </a:avLst>
          </a:prstGeom>
          <a:solidFill>
            <a:schemeClr val="bg2"/>
          </a:solidFill>
          <a:ln/>
        </p:spPr>
      </p:sp>
      <p:sp>
        <p:nvSpPr>
          <p:cNvPr id="32" name="icon-bg-344"/>
          <p:cNvSpPr/>
          <p:nvPr/>
        </p:nvSpPr>
        <p:spPr>
          <a:xfrm>
            <a:off x="8371332" y="4046220"/>
            <a:ext cx="502920" cy="502920"/>
          </a:xfrm>
          <a:prstGeom prst="ellipse">
            <a:avLst/>
          </a:prstGeom>
          <a:solidFill>
            <a:schemeClr val="accent3"/>
          </a:solidFill>
          <a:ln/>
        </p:spPr>
      </p:sp>
      <p:pic>
        <p:nvPicPr>
          <p:cNvPr id="33" name="icon-345" descr="LevelUpAlt icon">    </p:cNvPr>
          <p:cNvPicPr>
            <a:picLocks noChangeAspect="1"/>
          </p:cNvPicPr>
          <p:nvPr/>
        </p:nvPicPr>
        <p:blipFill>
          <a:blip r:embed="rId3"/>
          <a:stretch>
            <a:fillRect/>
          </a:stretch>
        </p:blipFill>
        <p:spPr>
          <a:xfrm>
            <a:off x="8497062" y="4171950"/>
            <a:ext cx="251460" cy="251460"/>
          </a:xfrm>
          <a:prstGeom prst="rect">
            <a:avLst/>
          </a:prstGeom>
        </p:spPr>
      </p:pic>
      <p:sp>
        <p:nvSpPr>
          <p:cNvPr id="34" name="text-346"/>
          <p:cNvSpPr txBox="1"/>
          <p:nvPr/>
        </p:nvSpPr>
        <p:spPr>
          <a:xfrm>
            <a:off x="9079992" y="4069080"/>
            <a:ext cx="2423160" cy="457200"/>
          </a:xfrm>
          <a:prstGeom prst="rect">
            <a:avLst/>
          </a:prstGeom>
          <a:noFill/>
          <a:ln/>
        </p:spPr>
        <p:txBody>
          <a:bodyPr wrap="square" lIns="0" tIns="0" rIns="0" bIns="0" rtlCol="0" anchor="ctr"/>
          <a:lstStyle/>
          <a:p>
            <a:pPr indent="0" marL="0">
              <a:buNone/>
            </a:pPr>
            <a:r>
              <a:rPr lang="en-US" sz="1800" b="1" dirty="0">
                <a:solidFill>
                  <a:schemeClr val="tx1"/>
                </a:solidFill>
              </a:rPr>
              <a:t>Escalates</a:t>
            </a:r>
            <a:endParaRPr lang="en-US" sz="1800" dirty="0"/>
          </a:p>
        </p:txBody>
      </p:sp>
      <p:sp>
        <p:nvSpPr>
          <p:cNvPr id="35" name="text-347"/>
          <p:cNvSpPr txBox="1"/>
          <p:nvPr/>
        </p:nvSpPr>
        <p:spPr>
          <a:xfrm>
            <a:off x="8394192" y="4709160"/>
            <a:ext cx="3017520" cy="137160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2"/>
                </a:solidFill>
              </a:rPr>
              <a:t>Notifies senior authorities</a:t>
            </a:r>
            <a:endParaRPr lang="en-US" sz="1400" dirty="0"/>
          </a:p>
          <a:p>
            <a:pPr marL="177800" indent="-177800">
              <a:spcAft>
                <a:spcPts val="300"/>
              </a:spcAft>
              <a:buSzPct val="100000"/>
              <a:buChar char="•"/>
            </a:pPr>
            <a:r>
              <a:rPr lang="en-US" sz="1400" dirty="0">
                <a:solidFill>
                  <a:schemeClr val="tx2"/>
                </a:solidFill>
              </a:rPr>
              <a:t>Can reassign to another officer</a:t>
            </a:r>
            <a:endParaRPr lang="en-US" sz="1400" dirty="0"/>
          </a:p>
          <a:p>
            <a:pPr marL="177800" indent="-177800">
              <a:spcAft>
                <a:spcPts val="300"/>
              </a:spcAft>
              <a:buSzPct val="100000"/>
              <a:buChar char="•"/>
            </a:pPr>
            <a:r>
              <a:rPr lang="en-US" sz="1400" dirty="0">
                <a:solidFill>
                  <a:schemeClr val="tx2"/>
                </a:solidFill>
              </a:rPr>
              <a:t>Records escalation history</a:t>
            </a:r>
            <a:endParaRPr lang="en-US" sz="1400" dirty="0"/>
          </a:p>
          <a:p>
            <a:pPr marL="177800" indent="-177800">
              <a:spcAft>
                <a:spcPts val="300"/>
              </a:spcAft>
              <a:buSzPct val="100000"/>
              <a:buChar char="•"/>
            </a:pPr>
            <a:r>
              <a:rPr lang="en-US" sz="1400" dirty="0">
                <a:solidFill>
                  <a:schemeClr val="tx2"/>
                </a:solidFill>
              </a:rPr>
              <a:t>Notifies the citizen</a:t>
            </a:r>
            <a:endParaRPr lang="en-US" sz="1400" dirty="0"/>
          </a:p>
        </p:txBody>
      </p:sp>
      <p:sp>
        <p:nvSpPr>
          <p:cNvPr id="25" name="Slide Number Placeholder 0"/>
          <p:cNvSpPr>
            <a:spLocks noGrp="1"/>
          </p:cNvSpPr>
          <p:nvPr>
            <p:ph type="sldNum" sz="quarter" idx="4294967295"/>
          </p:nvPr>
        </p:nvSpPr>
        <p:spPr>
          <a:xfrm>
            <a:off x="10972800" y="6419088"/>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200" b="1" dirty="0">
                <a:solidFill>
                  <a:schemeClr val="tx1"/>
                </a:solidFill>
              </a:rPr>
              <a:t>Lifecycle Tracking &amp; Notifications</a:t>
            </a:r>
            <a:endParaRPr lang="en-US" sz="3200" dirty="0"/>
          </a:p>
        </p:txBody>
      </p:sp>
      <p:sp>
        <p:nvSpPr>
          <p:cNvPr id="3" name="card-348"/>
          <p:cNvSpPr/>
          <p:nvPr/>
        </p:nvSpPr>
        <p:spPr>
          <a:xfrm>
            <a:off x="548640" y="1371600"/>
            <a:ext cx="1163117" cy="685800"/>
          </a:xfrm>
          <a:prstGeom prst="roundRect">
            <a:avLst>
              <a:gd name="adj" fmla="val 13333"/>
            </a:avLst>
          </a:prstGeom>
          <a:solidFill>
            <a:schemeClr val="accent4"/>
          </a:solidFill>
          <a:ln/>
        </p:spPr>
      </p:sp>
      <p:sp>
        <p:nvSpPr>
          <p:cNvPr id="4" name="text-349"/>
          <p:cNvSpPr txBox="1"/>
          <p:nvPr/>
        </p:nvSpPr>
        <p:spPr>
          <a:xfrm>
            <a:off x="548640" y="1371600"/>
            <a:ext cx="1163117" cy="685800"/>
          </a:xfrm>
          <a:prstGeom prst="rect">
            <a:avLst/>
          </a:prstGeom>
          <a:noFill/>
          <a:ln/>
        </p:spPr>
        <p:txBody>
          <a:bodyPr wrap="square" lIns="0" tIns="0" rIns="0" bIns="0" rtlCol="0" anchor="ctr"/>
          <a:lstStyle/>
          <a:p>
            <a:pPr algn="ctr" indent="0" marL="0">
              <a:buNone/>
            </a:pPr>
            <a:r>
              <a:rPr lang="en-US" sz="1400" b="1" dirty="0">
                <a:solidFill>
                  <a:schemeClr val="bg1"/>
                </a:solidFill>
              </a:rPr>
              <a:t>Submitted</a:t>
            </a:r>
            <a:endParaRPr lang="en-US" sz="1400" dirty="0"/>
          </a:p>
        </p:txBody>
      </p:sp>
      <p:sp>
        <p:nvSpPr>
          <p:cNvPr id="5" name="shape-350"/>
          <p:cNvSpPr/>
          <p:nvPr/>
        </p:nvSpPr>
        <p:spPr>
          <a:xfrm rot="5400000">
            <a:off x="1757477" y="1609344"/>
            <a:ext cx="164592" cy="201168"/>
          </a:xfrm>
          <a:prstGeom prst="triangle">
            <a:avLst/>
          </a:prstGeom>
          <a:solidFill>
            <a:schemeClr val="accent6"/>
          </a:solidFill>
          <a:ln/>
        </p:spPr>
      </p:sp>
      <p:sp>
        <p:nvSpPr>
          <p:cNvPr id="6" name="card-351"/>
          <p:cNvSpPr/>
          <p:nvPr/>
        </p:nvSpPr>
        <p:spPr>
          <a:xfrm>
            <a:off x="1967789" y="1371600"/>
            <a:ext cx="1163117" cy="685800"/>
          </a:xfrm>
          <a:prstGeom prst="roundRect">
            <a:avLst>
              <a:gd name="adj" fmla="val 13333"/>
            </a:avLst>
          </a:prstGeom>
          <a:solidFill>
            <a:schemeClr val="accent1"/>
          </a:solidFill>
          <a:ln/>
        </p:spPr>
      </p:sp>
      <p:sp>
        <p:nvSpPr>
          <p:cNvPr id="7" name="text-352"/>
          <p:cNvSpPr txBox="1"/>
          <p:nvPr/>
        </p:nvSpPr>
        <p:spPr>
          <a:xfrm>
            <a:off x="1967789" y="1371600"/>
            <a:ext cx="1163117" cy="685800"/>
          </a:xfrm>
          <a:prstGeom prst="rect">
            <a:avLst/>
          </a:prstGeom>
          <a:noFill/>
          <a:ln/>
        </p:spPr>
        <p:txBody>
          <a:bodyPr wrap="square" lIns="0" tIns="0" rIns="0" bIns="0" rtlCol="0" anchor="ctr"/>
          <a:lstStyle/>
          <a:p>
            <a:pPr algn="ctr" indent="0" marL="0">
              <a:buNone/>
            </a:pPr>
            <a:r>
              <a:rPr lang="en-US" sz="1400" b="1" dirty="0">
                <a:solidFill>
                  <a:schemeClr val="bg1"/>
                </a:solidFill>
              </a:rPr>
              <a:t>Analyzed</a:t>
            </a:r>
            <a:endParaRPr lang="en-US" sz="1400" dirty="0"/>
          </a:p>
        </p:txBody>
      </p:sp>
      <p:sp>
        <p:nvSpPr>
          <p:cNvPr id="8" name="shape-353"/>
          <p:cNvSpPr/>
          <p:nvPr/>
        </p:nvSpPr>
        <p:spPr>
          <a:xfrm rot="5400000">
            <a:off x="3176626" y="1609344"/>
            <a:ext cx="164592" cy="201168"/>
          </a:xfrm>
          <a:prstGeom prst="triangle">
            <a:avLst/>
          </a:prstGeom>
          <a:solidFill>
            <a:schemeClr val="accent6"/>
          </a:solidFill>
          <a:ln/>
        </p:spPr>
      </p:sp>
      <p:sp>
        <p:nvSpPr>
          <p:cNvPr id="9" name="card-354"/>
          <p:cNvSpPr/>
          <p:nvPr/>
        </p:nvSpPr>
        <p:spPr>
          <a:xfrm>
            <a:off x="3386938" y="1371600"/>
            <a:ext cx="1163117" cy="685800"/>
          </a:xfrm>
          <a:prstGeom prst="roundRect">
            <a:avLst>
              <a:gd name="adj" fmla="val 13333"/>
            </a:avLst>
          </a:prstGeom>
          <a:solidFill>
            <a:schemeClr val="accent1"/>
          </a:solidFill>
          <a:ln/>
        </p:spPr>
      </p:sp>
      <p:sp>
        <p:nvSpPr>
          <p:cNvPr id="10" name="text-355"/>
          <p:cNvSpPr txBox="1"/>
          <p:nvPr/>
        </p:nvSpPr>
        <p:spPr>
          <a:xfrm>
            <a:off x="3386938" y="1371600"/>
            <a:ext cx="1163117" cy="685800"/>
          </a:xfrm>
          <a:prstGeom prst="rect">
            <a:avLst/>
          </a:prstGeom>
          <a:noFill/>
          <a:ln/>
        </p:spPr>
        <p:txBody>
          <a:bodyPr wrap="square" lIns="0" tIns="0" rIns="0" bIns="0" rtlCol="0" anchor="ctr"/>
          <a:lstStyle/>
          <a:p>
            <a:pPr algn="ctr" indent="0" marL="0">
              <a:buNone/>
            </a:pPr>
            <a:r>
              <a:rPr lang="en-US" sz="1400" b="1" dirty="0">
                <a:solidFill>
                  <a:schemeClr val="bg1"/>
                </a:solidFill>
              </a:rPr>
              <a:t>Assigned</a:t>
            </a:r>
            <a:endParaRPr lang="en-US" sz="1400" dirty="0"/>
          </a:p>
        </p:txBody>
      </p:sp>
      <p:sp>
        <p:nvSpPr>
          <p:cNvPr id="11" name="shape-356"/>
          <p:cNvSpPr/>
          <p:nvPr/>
        </p:nvSpPr>
        <p:spPr>
          <a:xfrm rot="5400000">
            <a:off x="4595774" y="1609344"/>
            <a:ext cx="164592" cy="201168"/>
          </a:xfrm>
          <a:prstGeom prst="triangle">
            <a:avLst/>
          </a:prstGeom>
          <a:solidFill>
            <a:schemeClr val="accent6"/>
          </a:solidFill>
          <a:ln/>
        </p:spPr>
      </p:sp>
      <p:sp>
        <p:nvSpPr>
          <p:cNvPr id="12" name="card-357"/>
          <p:cNvSpPr/>
          <p:nvPr/>
        </p:nvSpPr>
        <p:spPr>
          <a:xfrm>
            <a:off x="4806086" y="1371600"/>
            <a:ext cx="1163117" cy="685800"/>
          </a:xfrm>
          <a:prstGeom prst="roundRect">
            <a:avLst>
              <a:gd name="adj" fmla="val 13333"/>
            </a:avLst>
          </a:prstGeom>
          <a:solidFill>
            <a:schemeClr val="accent1"/>
          </a:solidFill>
          <a:ln/>
        </p:spPr>
      </p:sp>
      <p:sp>
        <p:nvSpPr>
          <p:cNvPr id="13" name="text-358"/>
          <p:cNvSpPr txBox="1"/>
          <p:nvPr/>
        </p:nvSpPr>
        <p:spPr>
          <a:xfrm>
            <a:off x="4806086" y="1371600"/>
            <a:ext cx="1163117" cy="685800"/>
          </a:xfrm>
          <a:prstGeom prst="rect">
            <a:avLst/>
          </a:prstGeom>
          <a:noFill/>
          <a:ln/>
        </p:spPr>
        <p:txBody>
          <a:bodyPr wrap="square" lIns="0" tIns="0" rIns="0" bIns="0" rtlCol="0" anchor="ctr"/>
          <a:lstStyle/>
          <a:p>
            <a:pPr algn="ctr" indent="0" marL="0">
              <a:buNone/>
            </a:pPr>
            <a:r>
              <a:rPr lang="en-US" sz="1400" b="1" dirty="0">
                <a:solidFill>
                  <a:schemeClr val="bg1"/>
                </a:solidFill>
              </a:rPr>
              <a:t>In Progress</a:t>
            </a:r>
            <a:endParaRPr lang="en-US" sz="1400" dirty="0"/>
          </a:p>
        </p:txBody>
      </p:sp>
      <p:sp>
        <p:nvSpPr>
          <p:cNvPr id="14" name="shape-359"/>
          <p:cNvSpPr/>
          <p:nvPr/>
        </p:nvSpPr>
        <p:spPr>
          <a:xfrm rot="5400000">
            <a:off x="6014923" y="1609344"/>
            <a:ext cx="164592" cy="201168"/>
          </a:xfrm>
          <a:prstGeom prst="triangle">
            <a:avLst/>
          </a:prstGeom>
          <a:solidFill>
            <a:schemeClr val="accent6"/>
          </a:solidFill>
          <a:ln/>
        </p:spPr>
      </p:sp>
      <p:sp>
        <p:nvSpPr>
          <p:cNvPr id="15" name="card-360"/>
          <p:cNvSpPr/>
          <p:nvPr/>
        </p:nvSpPr>
        <p:spPr>
          <a:xfrm>
            <a:off x="6225235" y="1371600"/>
            <a:ext cx="1163117" cy="685800"/>
          </a:xfrm>
          <a:prstGeom prst="roundRect">
            <a:avLst>
              <a:gd name="adj" fmla="val 13333"/>
            </a:avLst>
          </a:prstGeom>
          <a:solidFill>
            <a:schemeClr val="accent1"/>
          </a:solidFill>
          <a:ln/>
        </p:spPr>
      </p:sp>
      <p:sp>
        <p:nvSpPr>
          <p:cNvPr id="16" name="text-361"/>
          <p:cNvSpPr txBox="1"/>
          <p:nvPr/>
        </p:nvSpPr>
        <p:spPr>
          <a:xfrm>
            <a:off x="6225235" y="1371600"/>
            <a:ext cx="1163117" cy="685800"/>
          </a:xfrm>
          <a:prstGeom prst="rect">
            <a:avLst/>
          </a:prstGeom>
          <a:noFill/>
          <a:ln/>
        </p:spPr>
        <p:txBody>
          <a:bodyPr wrap="square" lIns="0" tIns="0" rIns="0" bIns="0" rtlCol="0" anchor="ctr"/>
          <a:lstStyle/>
          <a:p>
            <a:pPr algn="ctr" indent="0" marL="0">
              <a:buNone/>
            </a:pPr>
            <a:r>
              <a:rPr lang="en-US" sz="1400" b="1" dirty="0">
                <a:solidFill>
                  <a:schemeClr val="bg1"/>
                </a:solidFill>
              </a:rPr>
              <a:t>Monitored</a:t>
            </a:r>
            <a:endParaRPr lang="en-US" sz="1400" dirty="0"/>
          </a:p>
        </p:txBody>
      </p:sp>
      <p:sp>
        <p:nvSpPr>
          <p:cNvPr id="17" name="shape-362"/>
          <p:cNvSpPr/>
          <p:nvPr/>
        </p:nvSpPr>
        <p:spPr>
          <a:xfrm rot="5400000">
            <a:off x="7434072" y="1609344"/>
            <a:ext cx="164592" cy="201168"/>
          </a:xfrm>
          <a:prstGeom prst="triangle">
            <a:avLst/>
          </a:prstGeom>
          <a:solidFill>
            <a:schemeClr val="accent6"/>
          </a:solidFill>
          <a:ln/>
        </p:spPr>
      </p:sp>
      <p:sp>
        <p:nvSpPr>
          <p:cNvPr id="18" name="card-363"/>
          <p:cNvSpPr/>
          <p:nvPr/>
        </p:nvSpPr>
        <p:spPr>
          <a:xfrm>
            <a:off x="7644384" y="1371600"/>
            <a:ext cx="1163117" cy="685800"/>
          </a:xfrm>
          <a:prstGeom prst="roundRect">
            <a:avLst>
              <a:gd name="adj" fmla="val 13333"/>
            </a:avLst>
          </a:prstGeom>
          <a:solidFill>
            <a:schemeClr val="accent2"/>
          </a:solidFill>
          <a:ln/>
        </p:spPr>
      </p:sp>
      <p:sp>
        <p:nvSpPr>
          <p:cNvPr id="19" name="text-364"/>
          <p:cNvSpPr txBox="1"/>
          <p:nvPr/>
        </p:nvSpPr>
        <p:spPr>
          <a:xfrm>
            <a:off x="7644384" y="1371600"/>
            <a:ext cx="1163117" cy="685800"/>
          </a:xfrm>
          <a:prstGeom prst="rect">
            <a:avLst/>
          </a:prstGeom>
          <a:noFill/>
          <a:ln/>
        </p:spPr>
        <p:txBody>
          <a:bodyPr wrap="square" lIns="0" tIns="0" rIns="0" bIns="0" rtlCol="0" anchor="ctr"/>
          <a:lstStyle/>
          <a:p>
            <a:pPr algn="ctr" indent="0" marL="0">
              <a:buNone/>
            </a:pPr>
            <a:r>
              <a:rPr lang="en-US" sz="1400" b="1" dirty="0">
                <a:solidFill>
                  <a:schemeClr val="tx1"/>
                </a:solidFill>
              </a:rPr>
              <a:t>Escalated</a:t>
            </a:r>
            <a:endParaRPr lang="en-US" sz="1400" dirty="0"/>
          </a:p>
        </p:txBody>
      </p:sp>
      <p:sp>
        <p:nvSpPr>
          <p:cNvPr id="20" name="shape-365"/>
          <p:cNvSpPr/>
          <p:nvPr/>
        </p:nvSpPr>
        <p:spPr>
          <a:xfrm rot="5400000">
            <a:off x="8853221" y="1609344"/>
            <a:ext cx="164592" cy="201168"/>
          </a:xfrm>
          <a:prstGeom prst="triangle">
            <a:avLst/>
          </a:prstGeom>
          <a:solidFill>
            <a:schemeClr val="accent6"/>
          </a:solidFill>
          <a:ln/>
        </p:spPr>
      </p:sp>
      <p:sp>
        <p:nvSpPr>
          <p:cNvPr id="21" name="card-366"/>
          <p:cNvSpPr/>
          <p:nvPr/>
        </p:nvSpPr>
        <p:spPr>
          <a:xfrm>
            <a:off x="9063533" y="1371600"/>
            <a:ext cx="1163117" cy="685800"/>
          </a:xfrm>
          <a:prstGeom prst="roundRect">
            <a:avLst>
              <a:gd name="adj" fmla="val 13333"/>
            </a:avLst>
          </a:prstGeom>
          <a:solidFill>
            <a:schemeClr val="accent5"/>
          </a:solidFill>
          <a:ln/>
        </p:spPr>
      </p:sp>
      <p:sp>
        <p:nvSpPr>
          <p:cNvPr id="22" name="text-367"/>
          <p:cNvSpPr txBox="1"/>
          <p:nvPr/>
        </p:nvSpPr>
        <p:spPr>
          <a:xfrm>
            <a:off x="9063533" y="1371600"/>
            <a:ext cx="1163117" cy="685800"/>
          </a:xfrm>
          <a:prstGeom prst="rect">
            <a:avLst/>
          </a:prstGeom>
          <a:noFill/>
          <a:ln/>
        </p:spPr>
        <p:txBody>
          <a:bodyPr wrap="square" lIns="0" tIns="0" rIns="0" bIns="0" rtlCol="0" anchor="ctr"/>
          <a:lstStyle/>
          <a:p>
            <a:pPr algn="ctr" indent="0" marL="0">
              <a:buNone/>
            </a:pPr>
            <a:r>
              <a:rPr lang="en-US" sz="1400" b="1" dirty="0">
                <a:solidFill>
                  <a:schemeClr val="bg1"/>
                </a:solidFill>
              </a:rPr>
              <a:t>Resolved</a:t>
            </a:r>
            <a:endParaRPr lang="en-US" sz="1400" dirty="0"/>
          </a:p>
        </p:txBody>
      </p:sp>
      <p:sp>
        <p:nvSpPr>
          <p:cNvPr id="23" name="shape-368"/>
          <p:cNvSpPr/>
          <p:nvPr/>
        </p:nvSpPr>
        <p:spPr>
          <a:xfrm rot="5400000">
            <a:off x="10272370" y="1609344"/>
            <a:ext cx="164592" cy="201168"/>
          </a:xfrm>
          <a:prstGeom prst="triangle">
            <a:avLst/>
          </a:prstGeom>
          <a:solidFill>
            <a:schemeClr val="accent6"/>
          </a:solidFill>
          <a:ln/>
        </p:spPr>
      </p:sp>
      <p:sp>
        <p:nvSpPr>
          <p:cNvPr id="24" name="card-369"/>
          <p:cNvSpPr/>
          <p:nvPr/>
        </p:nvSpPr>
        <p:spPr>
          <a:xfrm>
            <a:off x="10482682" y="1371600"/>
            <a:ext cx="1163117" cy="685800"/>
          </a:xfrm>
          <a:prstGeom prst="roundRect">
            <a:avLst>
              <a:gd name="adj" fmla="val 13333"/>
            </a:avLst>
          </a:prstGeom>
          <a:solidFill>
            <a:schemeClr val="accent5"/>
          </a:solidFill>
          <a:ln/>
        </p:spPr>
      </p:sp>
      <p:sp>
        <p:nvSpPr>
          <p:cNvPr id="25" name="text-370"/>
          <p:cNvSpPr txBox="1"/>
          <p:nvPr/>
        </p:nvSpPr>
        <p:spPr>
          <a:xfrm>
            <a:off x="10482682" y="1371600"/>
            <a:ext cx="1163117" cy="685800"/>
          </a:xfrm>
          <a:prstGeom prst="rect">
            <a:avLst/>
          </a:prstGeom>
          <a:noFill/>
          <a:ln/>
        </p:spPr>
        <p:txBody>
          <a:bodyPr wrap="square" lIns="0" tIns="0" rIns="0" bIns="0" rtlCol="0" anchor="ctr"/>
          <a:lstStyle/>
          <a:p>
            <a:pPr algn="ctr" indent="0" marL="0">
              <a:buNone/>
            </a:pPr>
            <a:r>
              <a:rPr lang="en-US" sz="1400" b="1" dirty="0">
                <a:solidFill>
                  <a:schemeClr val="bg1"/>
                </a:solidFill>
              </a:rPr>
              <a:t>Closed</a:t>
            </a:r>
            <a:endParaRPr lang="en-US" sz="1400" dirty="0"/>
          </a:p>
        </p:txBody>
      </p:sp>
      <p:sp>
        <p:nvSpPr>
          <p:cNvPr id="26" name="text-371"/>
          <p:cNvSpPr txBox="1"/>
          <p:nvPr/>
        </p:nvSpPr>
        <p:spPr>
          <a:xfrm>
            <a:off x="7644384" y="2103120"/>
            <a:ext cx="1163117" cy="274320"/>
          </a:xfrm>
          <a:prstGeom prst="rect">
            <a:avLst/>
          </a:prstGeom>
          <a:noFill/>
          <a:ln/>
        </p:spPr>
        <p:txBody>
          <a:bodyPr wrap="square" lIns="0" tIns="0" rIns="0" bIns="0" rtlCol="0" anchor="t"/>
          <a:lstStyle/>
          <a:p>
            <a:pPr algn="ctr" indent="0" marL="0">
              <a:buNone/>
            </a:pPr>
            <a:r>
              <a:rPr lang="en-US" sz="1200" i="1" dirty="0">
                <a:solidFill>
                  <a:schemeClr val="accent6"/>
                </a:solidFill>
              </a:rPr>
              <a:t>if required</a:t>
            </a:r>
            <a:endParaRPr lang="en-US" sz="1200" dirty="0"/>
          </a:p>
        </p:txBody>
      </p:sp>
      <p:sp>
        <p:nvSpPr>
          <p:cNvPr id="27" name="text-372"/>
          <p:cNvSpPr txBox="1"/>
          <p:nvPr/>
        </p:nvSpPr>
        <p:spPr>
          <a:xfrm>
            <a:off x="548640" y="2651760"/>
            <a:ext cx="7315200"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AUTOMATED NOTIFICATIONS AT EVERY STAGE</a:t>
            </a:r>
            <a:endParaRPr lang="en-US" sz="1200" dirty="0"/>
          </a:p>
        </p:txBody>
      </p:sp>
      <p:sp>
        <p:nvSpPr>
          <p:cNvPr id="28" name="card-373"/>
          <p:cNvSpPr/>
          <p:nvPr/>
        </p:nvSpPr>
        <p:spPr>
          <a:xfrm>
            <a:off x="548640" y="3017520"/>
            <a:ext cx="3520440" cy="1463040"/>
          </a:xfrm>
          <a:prstGeom prst="roundRect">
            <a:avLst>
              <a:gd name="adj" fmla="val 6250"/>
            </a:avLst>
          </a:prstGeom>
          <a:solidFill>
            <a:schemeClr val="bg2"/>
          </a:solidFill>
          <a:ln/>
        </p:spPr>
      </p:sp>
      <p:sp>
        <p:nvSpPr>
          <p:cNvPr id="29" name="icon-bg-374"/>
          <p:cNvSpPr/>
          <p:nvPr/>
        </p:nvSpPr>
        <p:spPr>
          <a:xfrm>
            <a:off x="777240" y="3246120"/>
            <a:ext cx="548640" cy="548640"/>
          </a:xfrm>
          <a:prstGeom prst="ellipse">
            <a:avLst/>
          </a:prstGeom>
          <a:solidFill>
            <a:schemeClr val="accent4"/>
          </a:solidFill>
          <a:ln/>
        </p:spPr>
      </p:sp>
      <p:pic>
        <p:nvPicPr>
          <p:cNvPr id="30" name="icon-375" descr="CheckCircle icon">    </p:cNvPr>
          <p:cNvPicPr>
            <a:picLocks noChangeAspect="1"/>
          </p:cNvPicPr>
          <p:nvPr/>
        </p:nvPicPr>
        <p:blipFill>
          <a:blip r:embed="rId1"/>
          <a:stretch>
            <a:fillRect/>
          </a:stretch>
        </p:blipFill>
        <p:spPr>
          <a:xfrm>
            <a:off x="914400" y="3383280"/>
            <a:ext cx="274320" cy="274320"/>
          </a:xfrm>
          <a:prstGeom prst="rect">
            <a:avLst/>
          </a:prstGeom>
        </p:spPr>
      </p:pic>
      <p:sp>
        <p:nvSpPr>
          <p:cNvPr id="31" name="text-376"/>
          <p:cNvSpPr txBox="1"/>
          <p:nvPr/>
        </p:nvSpPr>
        <p:spPr>
          <a:xfrm>
            <a:off x="1554480" y="3291840"/>
            <a:ext cx="2377440" cy="320040"/>
          </a:xfrm>
          <a:prstGeom prst="rect">
            <a:avLst/>
          </a:prstGeom>
          <a:noFill/>
          <a:ln/>
        </p:spPr>
        <p:txBody>
          <a:bodyPr wrap="square" lIns="0" tIns="0" rIns="0" bIns="0" rtlCol="0" anchor="t"/>
          <a:lstStyle/>
          <a:p>
            <a:pPr indent="0" marL="0">
              <a:buNone/>
            </a:pPr>
            <a:r>
              <a:rPr lang="en-US" sz="1600" b="1" dirty="0">
                <a:solidFill>
                  <a:schemeClr val="tx1"/>
                </a:solidFill>
              </a:rPr>
              <a:t>Submission confirmation</a:t>
            </a:r>
            <a:endParaRPr lang="en-US" sz="1600" dirty="0"/>
          </a:p>
        </p:txBody>
      </p:sp>
      <p:sp>
        <p:nvSpPr>
          <p:cNvPr id="32" name="text-377"/>
          <p:cNvSpPr txBox="1"/>
          <p:nvPr/>
        </p:nvSpPr>
        <p:spPr>
          <a:xfrm>
            <a:off x="1554480" y="3675888"/>
            <a:ext cx="2377440" cy="685800"/>
          </a:xfrm>
          <a:prstGeom prst="rect">
            <a:avLst/>
          </a:prstGeom>
          <a:noFill/>
          <a:ln/>
        </p:spPr>
        <p:txBody>
          <a:bodyPr wrap="square" lIns="0" tIns="0" rIns="0" bIns="0" rtlCol="0" anchor="t"/>
          <a:lstStyle/>
          <a:p>
            <a:pPr indent="0" marL="0">
              <a:buNone/>
            </a:pPr>
            <a:r>
              <a:rPr lang="en-US" sz="1400" dirty="0">
                <a:solidFill>
                  <a:schemeClr val="tx2"/>
                </a:solidFill>
              </a:rPr>
              <a:t>Citizen knows the complaint is registered</a:t>
            </a:r>
            <a:endParaRPr lang="en-US" sz="1400" dirty="0"/>
          </a:p>
        </p:txBody>
      </p:sp>
      <p:sp>
        <p:nvSpPr>
          <p:cNvPr id="33" name="card-378"/>
          <p:cNvSpPr/>
          <p:nvPr/>
        </p:nvSpPr>
        <p:spPr>
          <a:xfrm>
            <a:off x="4334256" y="3017520"/>
            <a:ext cx="3520440" cy="1463040"/>
          </a:xfrm>
          <a:prstGeom prst="roundRect">
            <a:avLst>
              <a:gd name="adj" fmla="val 6250"/>
            </a:avLst>
          </a:prstGeom>
          <a:solidFill>
            <a:schemeClr val="bg2"/>
          </a:solidFill>
          <a:ln/>
        </p:spPr>
      </p:sp>
      <p:sp>
        <p:nvSpPr>
          <p:cNvPr id="34" name="icon-bg-379"/>
          <p:cNvSpPr/>
          <p:nvPr/>
        </p:nvSpPr>
        <p:spPr>
          <a:xfrm>
            <a:off x="4562856" y="3246120"/>
            <a:ext cx="548640" cy="548640"/>
          </a:xfrm>
          <a:prstGeom prst="ellipse">
            <a:avLst/>
          </a:prstGeom>
          <a:solidFill>
            <a:schemeClr val="accent1"/>
          </a:solidFill>
          <a:ln/>
        </p:spPr>
      </p:sp>
      <p:pic>
        <p:nvPicPr>
          <p:cNvPr id="35" name="icon-380" descr="UserCheck icon">    </p:cNvPr>
          <p:cNvPicPr>
            <a:picLocks noChangeAspect="1"/>
          </p:cNvPicPr>
          <p:nvPr/>
        </p:nvPicPr>
        <p:blipFill>
          <a:blip r:embed="rId2"/>
          <a:stretch>
            <a:fillRect/>
          </a:stretch>
        </p:blipFill>
        <p:spPr>
          <a:xfrm>
            <a:off x="4700016" y="3383280"/>
            <a:ext cx="274320" cy="274320"/>
          </a:xfrm>
          <a:prstGeom prst="rect">
            <a:avLst/>
          </a:prstGeom>
        </p:spPr>
      </p:pic>
      <p:sp>
        <p:nvSpPr>
          <p:cNvPr id="36" name="text-381"/>
          <p:cNvSpPr txBox="1"/>
          <p:nvPr/>
        </p:nvSpPr>
        <p:spPr>
          <a:xfrm>
            <a:off x="5340096" y="3291840"/>
            <a:ext cx="2377440" cy="320040"/>
          </a:xfrm>
          <a:prstGeom prst="rect">
            <a:avLst/>
          </a:prstGeom>
          <a:noFill/>
          <a:ln/>
        </p:spPr>
        <p:txBody>
          <a:bodyPr wrap="square" lIns="0" tIns="0" rIns="0" bIns="0" rtlCol="0" anchor="t"/>
          <a:lstStyle/>
          <a:p>
            <a:pPr indent="0" marL="0">
              <a:buNone/>
            </a:pPr>
            <a:r>
              <a:rPr lang="en-US" sz="1600" b="1" dirty="0">
                <a:solidFill>
                  <a:schemeClr val="tx1"/>
                </a:solidFill>
              </a:rPr>
              <a:t>Assignment notice</a:t>
            </a:r>
            <a:endParaRPr lang="en-US" sz="1600" dirty="0"/>
          </a:p>
        </p:txBody>
      </p:sp>
      <p:sp>
        <p:nvSpPr>
          <p:cNvPr id="37" name="text-382"/>
          <p:cNvSpPr txBox="1"/>
          <p:nvPr/>
        </p:nvSpPr>
        <p:spPr>
          <a:xfrm>
            <a:off x="5340096" y="3675888"/>
            <a:ext cx="2377440" cy="685800"/>
          </a:xfrm>
          <a:prstGeom prst="rect">
            <a:avLst/>
          </a:prstGeom>
          <a:noFill/>
          <a:ln/>
        </p:spPr>
        <p:txBody>
          <a:bodyPr wrap="square" lIns="0" tIns="0" rIns="0" bIns="0" rtlCol="0" anchor="t"/>
          <a:lstStyle/>
          <a:p>
            <a:pPr indent="0" marL="0">
              <a:buNone/>
            </a:pPr>
            <a:r>
              <a:rPr lang="en-US" sz="1400" dirty="0">
                <a:solidFill>
                  <a:schemeClr val="tx2"/>
                </a:solidFill>
              </a:rPr>
              <a:t>Officer or team is told about the new case</a:t>
            </a:r>
            <a:endParaRPr lang="en-US" sz="1400" dirty="0"/>
          </a:p>
        </p:txBody>
      </p:sp>
      <p:sp>
        <p:nvSpPr>
          <p:cNvPr id="38" name="card-383"/>
          <p:cNvSpPr/>
          <p:nvPr/>
        </p:nvSpPr>
        <p:spPr>
          <a:xfrm>
            <a:off x="8119872" y="3017520"/>
            <a:ext cx="3520440" cy="1463040"/>
          </a:xfrm>
          <a:prstGeom prst="roundRect">
            <a:avLst>
              <a:gd name="adj" fmla="val 6250"/>
            </a:avLst>
          </a:prstGeom>
          <a:solidFill>
            <a:schemeClr val="bg2"/>
          </a:solidFill>
          <a:ln/>
        </p:spPr>
      </p:sp>
      <p:sp>
        <p:nvSpPr>
          <p:cNvPr id="39" name="icon-bg-384"/>
          <p:cNvSpPr/>
          <p:nvPr/>
        </p:nvSpPr>
        <p:spPr>
          <a:xfrm>
            <a:off x="8348472" y="3246120"/>
            <a:ext cx="548640" cy="548640"/>
          </a:xfrm>
          <a:prstGeom prst="ellipse">
            <a:avLst/>
          </a:prstGeom>
          <a:solidFill>
            <a:schemeClr val="accent1"/>
          </a:solidFill>
          <a:ln/>
        </p:spPr>
      </p:sp>
      <p:pic>
        <p:nvPicPr>
          <p:cNvPr id="40" name="icon-385" descr="CommentDots icon">    </p:cNvPr>
          <p:cNvPicPr>
            <a:picLocks noChangeAspect="1"/>
          </p:cNvPicPr>
          <p:nvPr/>
        </p:nvPicPr>
        <p:blipFill>
          <a:blip r:embed="rId3"/>
          <a:stretch>
            <a:fillRect/>
          </a:stretch>
        </p:blipFill>
        <p:spPr>
          <a:xfrm>
            <a:off x="8485632" y="3383280"/>
            <a:ext cx="274320" cy="274320"/>
          </a:xfrm>
          <a:prstGeom prst="rect">
            <a:avLst/>
          </a:prstGeom>
        </p:spPr>
      </p:pic>
      <p:sp>
        <p:nvSpPr>
          <p:cNvPr id="41" name="text-386"/>
          <p:cNvSpPr txBox="1"/>
          <p:nvPr/>
        </p:nvSpPr>
        <p:spPr>
          <a:xfrm>
            <a:off x="9125712" y="3291840"/>
            <a:ext cx="2377440" cy="320040"/>
          </a:xfrm>
          <a:prstGeom prst="rect">
            <a:avLst/>
          </a:prstGeom>
          <a:noFill/>
          <a:ln/>
        </p:spPr>
        <p:txBody>
          <a:bodyPr wrap="square" lIns="0" tIns="0" rIns="0" bIns="0" rtlCol="0" anchor="t"/>
          <a:lstStyle/>
          <a:p>
            <a:pPr indent="0" marL="0">
              <a:buNone/>
            </a:pPr>
            <a:r>
              <a:rPr lang="en-US" sz="1600" b="1" dirty="0">
                <a:solidFill>
                  <a:schemeClr val="tx1"/>
                </a:solidFill>
              </a:rPr>
              <a:t>Status updates</a:t>
            </a:r>
            <a:endParaRPr lang="en-US" sz="1600" dirty="0"/>
          </a:p>
        </p:txBody>
      </p:sp>
      <p:sp>
        <p:nvSpPr>
          <p:cNvPr id="42" name="text-387"/>
          <p:cNvSpPr txBox="1"/>
          <p:nvPr/>
        </p:nvSpPr>
        <p:spPr>
          <a:xfrm>
            <a:off x="9125712" y="3675888"/>
            <a:ext cx="2377440" cy="685800"/>
          </a:xfrm>
          <a:prstGeom prst="rect">
            <a:avLst/>
          </a:prstGeom>
          <a:noFill/>
          <a:ln/>
        </p:spPr>
        <p:txBody>
          <a:bodyPr wrap="square" lIns="0" tIns="0" rIns="0" bIns="0" rtlCol="0" anchor="t"/>
          <a:lstStyle/>
          <a:p>
            <a:pPr indent="0" marL="0">
              <a:buNone/>
            </a:pPr>
            <a:r>
              <a:rPr lang="en-US" sz="1400" dirty="0">
                <a:solidFill>
                  <a:schemeClr val="tx2"/>
                </a:solidFill>
              </a:rPr>
              <a:t>Citizen follows progress at every stage</a:t>
            </a:r>
            <a:endParaRPr lang="en-US" sz="1400" dirty="0"/>
          </a:p>
        </p:txBody>
      </p:sp>
      <p:sp>
        <p:nvSpPr>
          <p:cNvPr id="43" name="card-388"/>
          <p:cNvSpPr/>
          <p:nvPr/>
        </p:nvSpPr>
        <p:spPr>
          <a:xfrm>
            <a:off x="548640" y="4663440"/>
            <a:ext cx="3520440" cy="1463040"/>
          </a:xfrm>
          <a:prstGeom prst="roundRect">
            <a:avLst>
              <a:gd name="adj" fmla="val 6250"/>
            </a:avLst>
          </a:prstGeom>
          <a:solidFill>
            <a:schemeClr val="bg2"/>
          </a:solidFill>
          <a:ln/>
        </p:spPr>
      </p:sp>
      <p:sp>
        <p:nvSpPr>
          <p:cNvPr id="44" name="icon-bg-389"/>
          <p:cNvSpPr/>
          <p:nvPr/>
        </p:nvSpPr>
        <p:spPr>
          <a:xfrm>
            <a:off x="777240" y="4892040"/>
            <a:ext cx="548640" cy="548640"/>
          </a:xfrm>
          <a:prstGeom prst="ellipse">
            <a:avLst/>
          </a:prstGeom>
          <a:solidFill>
            <a:schemeClr val="accent2"/>
          </a:solidFill>
          <a:ln/>
        </p:spPr>
      </p:sp>
      <p:pic>
        <p:nvPicPr>
          <p:cNvPr id="45" name="icon-390" descr="Bell icon">    </p:cNvPr>
          <p:cNvPicPr>
            <a:picLocks noChangeAspect="1"/>
          </p:cNvPicPr>
          <p:nvPr/>
        </p:nvPicPr>
        <p:blipFill>
          <a:blip r:embed="rId4"/>
          <a:stretch>
            <a:fillRect/>
          </a:stretch>
        </p:blipFill>
        <p:spPr>
          <a:xfrm>
            <a:off x="914400" y="5029200"/>
            <a:ext cx="274320" cy="274320"/>
          </a:xfrm>
          <a:prstGeom prst="rect">
            <a:avLst/>
          </a:prstGeom>
        </p:spPr>
      </p:pic>
      <p:sp>
        <p:nvSpPr>
          <p:cNvPr id="46" name="text-391"/>
          <p:cNvSpPr txBox="1"/>
          <p:nvPr/>
        </p:nvSpPr>
        <p:spPr>
          <a:xfrm>
            <a:off x="1554480" y="4937760"/>
            <a:ext cx="2377440" cy="320040"/>
          </a:xfrm>
          <a:prstGeom prst="rect">
            <a:avLst/>
          </a:prstGeom>
          <a:noFill/>
          <a:ln/>
        </p:spPr>
        <p:txBody>
          <a:bodyPr wrap="square" lIns="0" tIns="0" rIns="0" bIns="0" rtlCol="0" anchor="t"/>
          <a:lstStyle/>
          <a:p>
            <a:pPr indent="0" marL="0">
              <a:buNone/>
            </a:pPr>
            <a:r>
              <a:rPr lang="en-US" sz="1600" b="1" dirty="0">
                <a:solidFill>
                  <a:schemeClr val="tx1"/>
                </a:solidFill>
              </a:rPr>
              <a:t>Reminders</a:t>
            </a:r>
            <a:endParaRPr lang="en-US" sz="1600" dirty="0"/>
          </a:p>
        </p:txBody>
      </p:sp>
      <p:sp>
        <p:nvSpPr>
          <p:cNvPr id="47" name="text-392"/>
          <p:cNvSpPr txBox="1"/>
          <p:nvPr/>
        </p:nvSpPr>
        <p:spPr>
          <a:xfrm>
            <a:off x="1554480" y="5321808"/>
            <a:ext cx="2377440" cy="685800"/>
          </a:xfrm>
          <a:prstGeom prst="rect">
            <a:avLst/>
          </a:prstGeom>
          <a:noFill/>
          <a:ln/>
        </p:spPr>
        <p:txBody>
          <a:bodyPr wrap="square" lIns="0" tIns="0" rIns="0" bIns="0" rtlCol="0" anchor="t"/>
          <a:lstStyle/>
          <a:p>
            <a:pPr indent="0" marL="0">
              <a:buNone/>
            </a:pPr>
            <a:r>
              <a:rPr lang="en-US" sz="1400" dirty="0">
                <a:solidFill>
                  <a:schemeClr val="tx2"/>
                </a:solidFill>
              </a:rPr>
              <a:t>Officers nudged before the SLA is breached</a:t>
            </a:r>
            <a:endParaRPr lang="en-US" sz="1400" dirty="0"/>
          </a:p>
        </p:txBody>
      </p:sp>
      <p:sp>
        <p:nvSpPr>
          <p:cNvPr id="48" name="card-393"/>
          <p:cNvSpPr/>
          <p:nvPr/>
        </p:nvSpPr>
        <p:spPr>
          <a:xfrm>
            <a:off x="4334256" y="4663440"/>
            <a:ext cx="3520440" cy="1463040"/>
          </a:xfrm>
          <a:prstGeom prst="roundRect">
            <a:avLst>
              <a:gd name="adj" fmla="val 6250"/>
            </a:avLst>
          </a:prstGeom>
          <a:solidFill>
            <a:schemeClr val="bg2"/>
          </a:solidFill>
          <a:ln/>
        </p:spPr>
      </p:sp>
      <p:sp>
        <p:nvSpPr>
          <p:cNvPr id="49" name="icon-bg-394"/>
          <p:cNvSpPr/>
          <p:nvPr/>
        </p:nvSpPr>
        <p:spPr>
          <a:xfrm>
            <a:off x="4562856" y="4892040"/>
            <a:ext cx="548640" cy="548640"/>
          </a:xfrm>
          <a:prstGeom prst="ellipse">
            <a:avLst/>
          </a:prstGeom>
          <a:solidFill>
            <a:schemeClr val="accent3"/>
          </a:solidFill>
          <a:ln/>
        </p:spPr>
      </p:sp>
      <p:pic>
        <p:nvPicPr>
          <p:cNvPr id="50" name="icon-395" descr="LevelUpAlt icon">    </p:cNvPr>
          <p:cNvPicPr>
            <a:picLocks noChangeAspect="1"/>
          </p:cNvPicPr>
          <p:nvPr/>
        </p:nvPicPr>
        <p:blipFill>
          <a:blip r:embed="rId5"/>
          <a:stretch>
            <a:fillRect/>
          </a:stretch>
        </p:blipFill>
        <p:spPr>
          <a:xfrm>
            <a:off x="4700016" y="5029200"/>
            <a:ext cx="274320" cy="274320"/>
          </a:xfrm>
          <a:prstGeom prst="rect">
            <a:avLst/>
          </a:prstGeom>
        </p:spPr>
      </p:pic>
      <p:sp>
        <p:nvSpPr>
          <p:cNvPr id="51" name="text-396"/>
          <p:cNvSpPr txBox="1"/>
          <p:nvPr/>
        </p:nvSpPr>
        <p:spPr>
          <a:xfrm>
            <a:off x="5340096" y="4937760"/>
            <a:ext cx="2377440" cy="320040"/>
          </a:xfrm>
          <a:prstGeom prst="rect">
            <a:avLst/>
          </a:prstGeom>
          <a:noFill/>
          <a:ln/>
        </p:spPr>
        <p:txBody>
          <a:bodyPr wrap="square" lIns="0" tIns="0" rIns="0" bIns="0" rtlCol="0" anchor="t"/>
          <a:lstStyle/>
          <a:p>
            <a:pPr indent="0" marL="0">
              <a:buNone/>
            </a:pPr>
            <a:r>
              <a:rPr lang="en-US" sz="1600" b="1" dirty="0">
                <a:solidFill>
                  <a:schemeClr val="tx1"/>
                </a:solidFill>
              </a:rPr>
              <a:t>Escalation alerts</a:t>
            </a:r>
            <a:endParaRPr lang="en-US" sz="1600" dirty="0"/>
          </a:p>
        </p:txBody>
      </p:sp>
      <p:sp>
        <p:nvSpPr>
          <p:cNvPr id="52" name="text-397"/>
          <p:cNvSpPr txBox="1"/>
          <p:nvPr/>
        </p:nvSpPr>
        <p:spPr>
          <a:xfrm>
            <a:off x="5340096" y="5321808"/>
            <a:ext cx="2377440" cy="685800"/>
          </a:xfrm>
          <a:prstGeom prst="rect">
            <a:avLst/>
          </a:prstGeom>
          <a:noFill/>
          <a:ln/>
        </p:spPr>
        <p:txBody>
          <a:bodyPr wrap="square" lIns="0" tIns="0" rIns="0" bIns="0" rtlCol="0" anchor="t"/>
          <a:lstStyle/>
          <a:p>
            <a:pPr indent="0" marL="0">
              <a:buNone/>
            </a:pPr>
            <a:r>
              <a:rPr lang="en-US" sz="1400" dirty="0">
                <a:solidFill>
                  <a:schemeClr val="tx2"/>
                </a:solidFill>
              </a:rPr>
              <a:t>Senior authorities and citizen informed</a:t>
            </a:r>
            <a:endParaRPr lang="en-US" sz="1400" dirty="0"/>
          </a:p>
        </p:txBody>
      </p:sp>
      <p:sp>
        <p:nvSpPr>
          <p:cNvPr id="53" name="card-398"/>
          <p:cNvSpPr/>
          <p:nvPr/>
        </p:nvSpPr>
        <p:spPr>
          <a:xfrm>
            <a:off x="8119872" y="4663440"/>
            <a:ext cx="3520440" cy="1463040"/>
          </a:xfrm>
          <a:prstGeom prst="roundRect">
            <a:avLst>
              <a:gd name="adj" fmla="val 6250"/>
            </a:avLst>
          </a:prstGeom>
          <a:solidFill>
            <a:schemeClr val="bg2"/>
          </a:solidFill>
          <a:ln/>
        </p:spPr>
      </p:sp>
      <p:sp>
        <p:nvSpPr>
          <p:cNvPr id="54" name="icon-bg-399"/>
          <p:cNvSpPr/>
          <p:nvPr/>
        </p:nvSpPr>
        <p:spPr>
          <a:xfrm>
            <a:off x="8348472" y="4892040"/>
            <a:ext cx="548640" cy="548640"/>
          </a:xfrm>
          <a:prstGeom prst="ellipse">
            <a:avLst/>
          </a:prstGeom>
          <a:solidFill>
            <a:schemeClr val="accent5"/>
          </a:solidFill>
          <a:ln/>
        </p:spPr>
      </p:sp>
      <p:pic>
        <p:nvPicPr>
          <p:cNvPr id="55" name="icon-400" descr="Flag icon">    </p:cNvPr>
          <p:cNvPicPr>
            <a:picLocks noChangeAspect="1"/>
          </p:cNvPicPr>
          <p:nvPr/>
        </p:nvPicPr>
        <p:blipFill>
          <a:blip r:embed="rId6"/>
          <a:stretch>
            <a:fillRect/>
          </a:stretch>
        </p:blipFill>
        <p:spPr>
          <a:xfrm>
            <a:off x="8485632" y="5029200"/>
            <a:ext cx="274320" cy="274320"/>
          </a:xfrm>
          <a:prstGeom prst="rect">
            <a:avLst/>
          </a:prstGeom>
        </p:spPr>
      </p:pic>
      <p:sp>
        <p:nvSpPr>
          <p:cNvPr id="56" name="text-401"/>
          <p:cNvSpPr txBox="1"/>
          <p:nvPr/>
        </p:nvSpPr>
        <p:spPr>
          <a:xfrm>
            <a:off x="9125712" y="4937760"/>
            <a:ext cx="2377440" cy="320040"/>
          </a:xfrm>
          <a:prstGeom prst="rect">
            <a:avLst/>
          </a:prstGeom>
          <a:noFill/>
          <a:ln/>
        </p:spPr>
        <p:txBody>
          <a:bodyPr wrap="square" lIns="0" tIns="0" rIns="0" bIns="0" rtlCol="0" anchor="t"/>
          <a:lstStyle/>
          <a:p>
            <a:pPr indent="0" marL="0">
              <a:buNone/>
            </a:pPr>
            <a:r>
              <a:rPr lang="en-US" sz="1600" b="1" dirty="0">
                <a:solidFill>
                  <a:schemeClr val="tx1"/>
                </a:solidFill>
              </a:rPr>
              <a:t>Resolution &amp; closure</a:t>
            </a:r>
            <a:endParaRPr lang="en-US" sz="1600" dirty="0"/>
          </a:p>
        </p:txBody>
      </p:sp>
      <p:sp>
        <p:nvSpPr>
          <p:cNvPr id="57" name="text-402"/>
          <p:cNvSpPr txBox="1"/>
          <p:nvPr/>
        </p:nvSpPr>
        <p:spPr>
          <a:xfrm>
            <a:off x="9125712" y="5321808"/>
            <a:ext cx="2377440" cy="685800"/>
          </a:xfrm>
          <a:prstGeom prst="rect">
            <a:avLst/>
          </a:prstGeom>
          <a:noFill/>
          <a:ln/>
        </p:spPr>
        <p:txBody>
          <a:bodyPr wrap="square" lIns="0" tIns="0" rIns="0" bIns="0" rtlCol="0" anchor="t"/>
          <a:lstStyle/>
          <a:p>
            <a:pPr indent="0" marL="0">
              <a:buNone/>
            </a:pPr>
            <a:r>
              <a:rPr lang="en-US" sz="1400" dirty="0">
                <a:solidFill>
                  <a:schemeClr val="tx2"/>
                </a:solidFill>
              </a:rPr>
              <a:t>Citizen notified when the case is closed</a:t>
            </a:r>
            <a:endParaRPr lang="en-US" sz="1400" dirty="0"/>
          </a:p>
        </p:txBody>
      </p:sp>
      <p:sp>
        <p:nvSpPr>
          <p:cNvPr id="25" name="Slide Number Placeholder 0"/>
          <p:cNvSpPr>
            <a:spLocks noGrp="1"/>
          </p:cNvSpPr>
          <p:nvPr>
            <p:ph type="sldNum" sz="quarter" idx="4294967295"/>
          </p:nvPr>
        </p:nvSpPr>
        <p:spPr>
          <a:xfrm>
            <a:off x="10972800" y="6419088"/>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200" b="1" dirty="0">
                <a:solidFill>
                  <a:schemeClr val="tx1"/>
                </a:solidFill>
              </a:rPr>
              <a:t>Complaint Workflow, Decision by Decision</a:t>
            </a:r>
            <a:endParaRPr lang="en-US" sz="3200" dirty="0"/>
          </a:p>
        </p:txBody>
      </p:sp>
      <p:sp>
        <p:nvSpPr>
          <p:cNvPr id="3" name="shape-403"/>
          <p:cNvSpPr/>
          <p:nvPr/>
        </p:nvSpPr>
        <p:spPr>
          <a:xfrm>
            <a:off x="548640" y="1444752"/>
            <a:ext cx="256032" cy="256032"/>
          </a:xfrm>
          <a:prstGeom prst="roundRect">
            <a:avLst>
              <a:gd name="adj" fmla="val 17857"/>
            </a:avLst>
          </a:prstGeom>
          <a:solidFill>
            <a:schemeClr val="accent4"/>
          </a:solidFill>
          <a:ln/>
        </p:spPr>
      </p:sp>
      <p:sp>
        <p:nvSpPr>
          <p:cNvPr id="4" name="text-404"/>
          <p:cNvSpPr txBox="1"/>
          <p:nvPr/>
        </p:nvSpPr>
        <p:spPr>
          <a:xfrm>
            <a:off x="896112" y="1417320"/>
            <a:ext cx="1005840" cy="310896"/>
          </a:xfrm>
          <a:prstGeom prst="rect">
            <a:avLst/>
          </a:prstGeom>
          <a:noFill/>
          <a:ln/>
        </p:spPr>
        <p:txBody>
          <a:bodyPr wrap="square" lIns="0" tIns="0" rIns="0" bIns="0" rtlCol="0" anchor="ctr"/>
          <a:lstStyle/>
          <a:p>
            <a:pPr indent="0" marL="0">
              <a:buNone/>
            </a:pPr>
            <a:r>
              <a:rPr lang="en-US" sz="1200" dirty="0">
                <a:solidFill>
                  <a:schemeClr val="tx2"/>
                </a:solidFill>
              </a:rPr>
              <a:t>Citizen</a:t>
            </a:r>
            <a:endParaRPr lang="en-US" sz="1200" dirty="0"/>
          </a:p>
        </p:txBody>
      </p:sp>
      <p:sp>
        <p:nvSpPr>
          <p:cNvPr id="5" name="shape-405"/>
          <p:cNvSpPr/>
          <p:nvPr/>
        </p:nvSpPr>
        <p:spPr>
          <a:xfrm>
            <a:off x="1737360" y="1444752"/>
            <a:ext cx="256032" cy="256032"/>
          </a:xfrm>
          <a:prstGeom prst="roundRect">
            <a:avLst>
              <a:gd name="adj" fmla="val 17857"/>
            </a:avLst>
          </a:prstGeom>
          <a:solidFill>
            <a:schemeClr val="accent1"/>
          </a:solidFill>
          <a:ln/>
        </p:spPr>
      </p:sp>
      <p:sp>
        <p:nvSpPr>
          <p:cNvPr id="6" name="text-406"/>
          <p:cNvSpPr txBox="1"/>
          <p:nvPr/>
        </p:nvSpPr>
        <p:spPr>
          <a:xfrm>
            <a:off x="2084832" y="1417320"/>
            <a:ext cx="1005840" cy="310896"/>
          </a:xfrm>
          <a:prstGeom prst="rect">
            <a:avLst/>
          </a:prstGeom>
          <a:noFill/>
          <a:ln/>
        </p:spPr>
        <p:txBody>
          <a:bodyPr wrap="square" lIns="0" tIns="0" rIns="0" bIns="0" rtlCol="0" anchor="ctr"/>
          <a:lstStyle/>
          <a:p>
            <a:pPr indent="0" marL="0">
              <a:buNone/>
            </a:pPr>
            <a:r>
              <a:rPr lang="en-US" sz="1200" dirty="0">
                <a:solidFill>
                  <a:schemeClr val="tx2"/>
                </a:solidFill>
              </a:rPr>
              <a:t>AI agent</a:t>
            </a:r>
            <a:endParaRPr lang="en-US" sz="1200" dirty="0"/>
          </a:p>
        </p:txBody>
      </p:sp>
      <p:sp>
        <p:nvSpPr>
          <p:cNvPr id="7" name="shape-407"/>
          <p:cNvSpPr/>
          <p:nvPr/>
        </p:nvSpPr>
        <p:spPr>
          <a:xfrm>
            <a:off x="2926080" y="1444752"/>
            <a:ext cx="256032" cy="256032"/>
          </a:xfrm>
          <a:prstGeom prst="roundRect">
            <a:avLst>
              <a:gd name="adj" fmla="val 17857"/>
            </a:avLst>
          </a:prstGeom>
          <a:solidFill>
            <a:schemeClr val="accent2"/>
          </a:solidFill>
          <a:ln/>
        </p:spPr>
      </p:sp>
      <p:sp>
        <p:nvSpPr>
          <p:cNvPr id="8" name="text-408"/>
          <p:cNvSpPr txBox="1"/>
          <p:nvPr/>
        </p:nvSpPr>
        <p:spPr>
          <a:xfrm>
            <a:off x="3273552" y="1417320"/>
            <a:ext cx="1005840" cy="310896"/>
          </a:xfrm>
          <a:prstGeom prst="rect">
            <a:avLst/>
          </a:prstGeom>
          <a:noFill/>
          <a:ln/>
        </p:spPr>
        <p:txBody>
          <a:bodyPr wrap="square" lIns="0" tIns="0" rIns="0" bIns="0" rtlCol="0" anchor="ctr"/>
          <a:lstStyle/>
          <a:p>
            <a:pPr indent="0" marL="0">
              <a:buNone/>
            </a:pPr>
            <a:r>
              <a:rPr lang="en-US" sz="1200" dirty="0">
                <a:solidFill>
                  <a:schemeClr val="tx2"/>
                </a:solidFill>
              </a:rPr>
              <a:t>Decision</a:t>
            </a:r>
            <a:endParaRPr lang="en-US" sz="1200" dirty="0"/>
          </a:p>
        </p:txBody>
      </p:sp>
      <p:sp>
        <p:nvSpPr>
          <p:cNvPr id="9" name="shape-409"/>
          <p:cNvSpPr/>
          <p:nvPr/>
        </p:nvSpPr>
        <p:spPr>
          <a:xfrm>
            <a:off x="4114800" y="1444752"/>
            <a:ext cx="256032" cy="256032"/>
          </a:xfrm>
          <a:prstGeom prst="roundRect">
            <a:avLst>
              <a:gd name="adj" fmla="val 17857"/>
            </a:avLst>
          </a:prstGeom>
          <a:solidFill>
            <a:schemeClr val="accent3"/>
          </a:solidFill>
          <a:ln/>
        </p:spPr>
      </p:sp>
      <p:sp>
        <p:nvSpPr>
          <p:cNvPr id="10" name="text-410"/>
          <p:cNvSpPr txBox="1"/>
          <p:nvPr/>
        </p:nvSpPr>
        <p:spPr>
          <a:xfrm>
            <a:off x="4462272" y="1417320"/>
            <a:ext cx="1005840" cy="310896"/>
          </a:xfrm>
          <a:prstGeom prst="rect">
            <a:avLst/>
          </a:prstGeom>
          <a:noFill/>
          <a:ln/>
        </p:spPr>
        <p:txBody>
          <a:bodyPr wrap="square" lIns="0" tIns="0" rIns="0" bIns="0" rtlCol="0" anchor="ctr"/>
          <a:lstStyle/>
          <a:p>
            <a:pPr indent="0" marL="0">
              <a:buNone/>
            </a:pPr>
            <a:r>
              <a:rPr lang="en-US" sz="1200" dirty="0">
                <a:solidFill>
                  <a:schemeClr val="tx2"/>
                </a:solidFill>
              </a:rPr>
              <a:t>Escalation</a:t>
            </a:r>
            <a:endParaRPr lang="en-US" sz="1200" dirty="0"/>
          </a:p>
        </p:txBody>
      </p:sp>
      <p:sp>
        <p:nvSpPr>
          <p:cNvPr id="11" name="shape-411"/>
          <p:cNvSpPr/>
          <p:nvPr/>
        </p:nvSpPr>
        <p:spPr>
          <a:xfrm>
            <a:off x="5303520" y="1444752"/>
            <a:ext cx="256032" cy="256032"/>
          </a:xfrm>
          <a:prstGeom prst="roundRect">
            <a:avLst>
              <a:gd name="adj" fmla="val 17857"/>
            </a:avLst>
          </a:prstGeom>
          <a:solidFill>
            <a:schemeClr val="accent5"/>
          </a:solidFill>
          <a:ln/>
        </p:spPr>
      </p:sp>
      <p:sp>
        <p:nvSpPr>
          <p:cNvPr id="12" name="text-412"/>
          <p:cNvSpPr txBox="1"/>
          <p:nvPr/>
        </p:nvSpPr>
        <p:spPr>
          <a:xfrm>
            <a:off x="5650992" y="1417320"/>
            <a:ext cx="1005840" cy="310896"/>
          </a:xfrm>
          <a:prstGeom prst="rect">
            <a:avLst/>
          </a:prstGeom>
          <a:noFill/>
          <a:ln/>
        </p:spPr>
        <p:txBody>
          <a:bodyPr wrap="square" lIns="0" tIns="0" rIns="0" bIns="0" rtlCol="0" anchor="ctr"/>
          <a:lstStyle/>
          <a:p>
            <a:pPr indent="0" marL="0">
              <a:buNone/>
            </a:pPr>
            <a:r>
              <a:rPr lang="en-US" sz="1200" dirty="0">
                <a:solidFill>
                  <a:schemeClr val="tx2"/>
                </a:solidFill>
              </a:rPr>
              <a:t>Closure</a:t>
            </a:r>
            <a:endParaRPr lang="en-US" sz="1200" dirty="0"/>
          </a:p>
        </p:txBody>
      </p:sp>
      <p:sp>
        <p:nvSpPr>
          <p:cNvPr id="13" name="card-413"/>
          <p:cNvSpPr/>
          <p:nvPr/>
        </p:nvSpPr>
        <p:spPr>
          <a:xfrm>
            <a:off x="548640" y="2377440"/>
            <a:ext cx="1828800" cy="731520"/>
          </a:xfrm>
          <a:prstGeom prst="roundRect">
            <a:avLst>
              <a:gd name="adj" fmla="val 12500"/>
            </a:avLst>
          </a:prstGeom>
          <a:solidFill>
            <a:schemeClr val="accent4"/>
          </a:solidFill>
          <a:ln/>
        </p:spPr>
      </p:sp>
      <p:sp>
        <p:nvSpPr>
          <p:cNvPr id="14" name="text-414"/>
          <p:cNvSpPr txBox="1"/>
          <p:nvPr/>
        </p:nvSpPr>
        <p:spPr>
          <a:xfrm>
            <a:off x="594360" y="2377440"/>
            <a:ext cx="1737360" cy="731520"/>
          </a:xfrm>
          <a:prstGeom prst="rect">
            <a:avLst/>
          </a:prstGeom>
          <a:noFill/>
          <a:ln/>
        </p:spPr>
        <p:txBody>
          <a:bodyPr wrap="square" lIns="0" tIns="0" rIns="0" bIns="0" rtlCol="0" anchor="ctr"/>
          <a:lstStyle/>
          <a:p>
            <a:pPr algn="ctr" indent="0" marL="0">
              <a:buNone/>
            </a:pPr>
            <a:r>
              <a:rPr lang="en-US" sz="1400" b="1" dirty="0">
                <a:solidFill>
                  <a:schemeClr val="bg1"/>
                </a:solidFill>
              </a:rPr>
              <a:t>Citizen submits complaint</a:t>
            </a:r>
            <a:endParaRPr lang="en-US" sz="1400" dirty="0"/>
          </a:p>
        </p:txBody>
      </p:sp>
      <p:sp>
        <p:nvSpPr>
          <p:cNvPr id="15" name="card-415"/>
          <p:cNvSpPr/>
          <p:nvPr/>
        </p:nvSpPr>
        <p:spPr>
          <a:xfrm>
            <a:off x="2788920" y="2377440"/>
            <a:ext cx="1828800" cy="731520"/>
          </a:xfrm>
          <a:prstGeom prst="roundRect">
            <a:avLst>
              <a:gd name="adj" fmla="val 12500"/>
            </a:avLst>
          </a:prstGeom>
          <a:solidFill>
            <a:schemeClr val="accent1"/>
          </a:solidFill>
          <a:ln/>
        </p:spPr>
      </p:sp>
      <p:sp>
        <p:nvSpPr>
          <p:cNvPr id="16" name="text-416"/>
          <p:cNvSpPr txBox="1"/>
          <p:nvPr/>
        </p:nvSpPr>
        <p:spPr>
          <a:xfrm>
            <a:off x="2834640" y="2377440"/>
            <a:ext cx="1737360" cy="731520"/>
          </a:xfrm>
          <a:prstGeom prst="rect">
            <a:avLst/>
          </a:prstGeom>
          <a:noFill/>
          <a:ln/>
        </p:spPr>
        <p:txBody>
          <a:bodyPr wrap="square" lIns="0" tIns="0" rIns="0" bIns="0" rtlCol="0" anchor="ctr"/>
          <a:lstStyle/>
          <a:p>
            <a:pPr algn="ctr" indent="0" marL="0">
              <a:buNone/>
            </a:pPr>
            <a:r>
              <a:rPr lang="en-US" sz="1400" b="1" dirty="0">
                <a:solidFill>
                  <a:schemeClr val="bg1"/>
                </a:solidFill>
              </a:rPr>
              <a:t>Input validation</a:t>
            </a:r>
            <a:endParaRPr lang="en-US" sz="1400" dirty="0"/>
          </a:p>
        </p:txBody>
      </p:sp>
      <p:sp>
        <p:nvSpPr>
          <p:cNvPr id="17" name="card-417"/>
          <p:cNvSpPr/>
          <p:nvPr/>
        </p:nvSpPr>
        <p:spPr>
          <a:xfrm>
            <a:off x="5029200" y="2377440"/>
            <a:ext cx="1828800" cy="731520"/>
          </a:xfrm>
          <a:prstGeom prst="roundRect">
            <a:avLst>
              <a:gd name="adj" fmla="val 12500"/>
            </a:avLst>
          </a:prstGeom>
          <a:solidFill>
            <a:schemeClr val="accent1"/>
          </a:solidFill>
          <a:ln/>
        </p:spPr>
      </p:sp>
      <p:sp>
        <p:nvSpPr>
          <p:cNvPr id="18" name="text-418"/>
          <p:cNvSpPr txBox="1"/>
          <p:nvPr/>
        </p:nvSpPr>
        <p:spPr>
          <a:xfrm>
            <a:off x="5074920" y="2377440"/>
            <a:ext cx="1737360" cy="731520"/>
          </a:xfrm>
          <a:prstGeom prst="rect">
            <a:avLst/>
          </a:prstGeom>
          <a:noFill/>
          <a:ln/>
        </p:spPr>
        <p:txBody>
          <a:bodyPr wrap="square" lIns="0" tIns="0" rIns="0" bIns="0" rtlCol="0" anchor="ctr"/>
          <a:lstStyle/>
          <a:p>
            <a:pPr algn="ctr" indent="0" marL="0">
              <a:buNone/>
            </a:pPr>
            <a:r>
              <a:rPr lang="en-US" sz="1400" b="1" dirty="0">
                <a:solidFill>
                  <a:schemeClr val="bg1"/>
                </a:solidFill>
              </a:rPr>
              <a:t>Agent 1: Complaint Analyst</a:t>
            </a:r>
            <a:endParaRPr lang="en-US" sz="1400" dirty="0"/>
          </a:p>
        </p:txBody>
      </p:sp>
      <p:sp>
        <p:nvSpPr>
          <p:cNvPr id="19" name="shape-419"/>
          <p:cNvSpPr/>
          <p:nvPr/>
        </p:nvSpPr>
        <p:spPr>
          <a:xfrm>
            <a:off x="7269480" y="2240280"/>
            <a:ext cx="2011680" cy="1005840"/>
          </a:xfrm>
          <a:prstGeom prst="diamond">
            <a:avLst/>
          </a:prstGeom>
          <a:solidFill>
            <a:schemeClr val="accent2"/>
          </a:solidFill>
          <a:ln/>
        </p:spPr>
      </p:sp>
      <p:sp>
        <p:nvSpPr>
          <p:cNvPr id="20" name="text-420"/>
          <p:cNvSpPr txBox="1"/>
          <p:nvPr/>
        </p:nvSpPr>
        <p:spPr>
          <a:xfrm>
            <a:off x="7589520" y="2240280"/>
            <a:ext cx="1371600" cy="1005840"/>
          </a:xfrm>
          <a:prstGeom prst="rect">
            <a:avLst/>
          </a:prstGeom>
          <a:noFill/>
          <a:ln/>
        </p:spPr>
        <p:txBody>
          <a:bodyPr wrap="square" lIns="0" tIns="0" rIns="0" bIns="0" rtlCol="0" anchor="ctr"/>
          <a:lstStyle/>
          <a:p>
            <a:pPr algn="ctr" indent="0" marL="0">
              <a:buNone/>
            </a:pPr>
            <a:r>
              <a:rPr lang="en-US" sz="1300" b="1" dirty="0">
                <a:solidFill>
                  <a:schemeClr val="tx1"/>
                </a:solidFill>
              </a:rPr>
              <a:t>Information complete?</a:t>
            </a:r>
            <a:endParaRPr lang="en-US" sz="1300" dirty="0"/>
          </a:p>
        </p:txBody>
      </p:sp>
      <p:sp>
        <p:nvSpPr>
          <p:cNvPr id="21" name="card-421"/>
          <p:cNvSpPr/>
          <p:nvPr/>
        </p:nvSpPr>
        <p:spPr>
          <a:xfrm>
            <a:off x="9692640" y="2377440"/>
            <a:ext cx="1947672" cy="731520"/>
          </a:xfrm>
          <a:prstGeom prst="roundRect">
            <a:avLst>
              <a:gd name="adj" fmla="val 12500"/>
            </a:avLst>
          </a:prstGeom>
          <a:solidFill>
            <a:schemeClr val="accent1"/>
          </a:solidFill>
          <a:ln/>
        </p:spPr>
      </p:sp>
      <p:sp>
        <p:nvSpPr>
          <p:cNvPr id="22" name="text-422"/>
          <p:cNvSpPr txBox="1"/>
          <p:nvPr/>
        </p:nvSpPr>
        <p:spPr>
          <a:xfrm>
            <a:off x="9738360" y="2377440"/>
            <a:ext cx="1856232" cy="731520"/>
          </a:xfrm>
          <a:prstGeom prst="rect">
            <a:avLst/>
          </a:prstGeom>
          <a:noFill/>
          <a:ln/>
        </p:spPr>
        <p:txBody>
          <a:bodyPr wrap="square" lIns="0" tIns="0" rIns="0" bIns="0" rtlCol="0" anchor="ctr"/>
          <a:lstStyle/>
          <a:p>
            <a:pPr algn="ctr" indent="0" marL="0">
              <a:buNone/>
            </a:pPr>
            <a:r>
              <a:rPr lang="en-US" sz="1400" b="1" dirty="0">
                <a:solidFill>
                  <a:schemeClr val="bg1"/>
                </a:solidFill>
              </a:rPr>
              <a:t>Agent 2: Resolution &amp; Routing</a:t>
            </a:r>
            <a:endParaRPr lang="en-US" sz="1400" dirty="0"/>
          </a:p>
        </p:txBody>
      </p:sp>
      <p:sp>
        <p:nvSpPr>
          <p:cNvPr id="23" name="arrow-423"/>
          <p:cNvSpPr/>
          <p:nvPr/>
        </p:nvSpPr>
        <p:spPr>
          <a:xfrm>
            <a:off x="2377440" y="2743200"/>
            <a:ext cx="411480" cy="0"/>
          </a:xfrm>
          <a:prstGeom prst="line">
            <a:avLst/>
          </a:prstGeom>
          <a:noFill/>
          <a:ln w="22225">
            <a:solidFill>
              <a:schemeClr val="accent6"/>
            </a:solidFill>
            <a:prstDash val="solid"/>
            <a:tailEnd type="triangle"/>
          </a:ln>
        </p:spPr>
      </p:sp>
      <p:sp>
        <p:nvSpPr>
          <p:cNvPr id="24" name="arrow-424"/>
          <p:cNvSpPr/>
          <p:nvPr/>
        </p:nvSpPr>
        <p:spPr>
          <a:xfrm>
            <a:off x="4617720" y="2743200"/>
            <a:ext cx="411480" cy="0"/>
          </a:xfrm>
          <a:prstGeom prst="line">
            <a:avLst/>
          </a:prstGeom>
          <a:noFill/>
          <a:ln w="22225">
            <a:solidFill>
              <a:schemeClr val="accent6"/>
            </a:solidFill>
            <a:prstDash val="solid"/>
            <a:tailEnd type="triangle"/>
          </a:ln>
        </p:spPr>
      </p:sp>
      <p:sp>
        <p:nvSpPr>
          <p:cNvPr id="25" name="arrow-425"/>
          <p:cNvSpPr/>
          <p:nvPr/>
        </p:nvSpPr>
        <p:spPr>
          <a:xfrm>
            <a:off x="6858000" y="2743200"/>
            <a:ext cx="411480" cy="0"/>
          </a:xfrm>
          <a:prstGeom prst="line">
            <a:avLst/>
          </a:prstGeom>
          <a:noFill/>
          <a:ln w="22225">
            <a:solidFill>
              <a:schemeClr val="accent6"/>
            </a:solidFill>
            <a:prstDash val="solid"/>
            <a:tailEnd type="triangle"/>
          </a:ln>
        </p:spPr>
      </p:sp>
      <p:sp>
        <p:nvSpPr>
          <p:cNvPr id="26" name="arrow-426"/>
          <p:cNvSpPr/>
          <p:nvPr/>
        </p:nvSpPr>
        <p:spPr>
          <a:xfrm>
            <a:off x="9281160" y="2743200"/>
            <a:ext cx="411480" cy="0"/>
          </a:xfrm>
          <a:prstGeom prst="line">
            <a:avLst/>
          </a:prstGeom>
          <a:noFill/>
          <a:ln w="22225">
            <a:solidFill>
              <a:schemeClr val="accent6"/>
            </a:solidFill>
            <a:prstDash val="solid"/>
            <a:tailEnd type="triangle"/>
          </a:ln>
        </p:spPr>
      </p:sp>
      <p:sp>
        <p:nvSpPr>
          <p:cNvPr id="27" name="text-427"/>
          <p:cNvSpPr txBox="1"/>
          <p:nvPr/>
        </p:nvSpPr>
        <p:spPr>
          <a:xfrm>
            <a:off x="9235440" y="2395728"/>
            <a:ext cx="457200" cy="256032"/>
          </a:xfrm>
          <a:prstGeom prst="rect">
            <a:avLst/>
          </a:prstGeom>
          <a:noFill/>
          <a:ln/>
        </p:spPr>
        <p:txBody>
          <a:bodyPr wrap="square" lIns="0" tIns="0" rIns="0" bIns="0" rtlCol="0" anchor="t"/>
          <a:lstStyle/>
          <a:p>
            <a:pPr algn="ctr" indent="0" marL="0">
              <a:buNone/>
            </a:pPr>
            <a:r>
              <a:rPr lang="en-US" sz="1200" b="1" dirty="0">
                <a:solidFill>
                  <a:schemeClr val="accent6"/>
                </a:solidFill>
              </a:rPr>
              <a:t>Yes</a:t>
            </a:r>
            <a:endParaRPr lang="en-US" sz="1200" dirty="0"/>
          </a:p>
        </p:txBody>
      </p:sp>
      <p:sp>
        <p:nvSpPr>
          <p:cNvPr id="28" name="card-428"/>
          <p:cNvSpPr/>
          <p:nvPr/>
        </p:nvSpPr>
        <p:spPr>
          <a:xfrm>
            <a:off x="7269480" y="1417320"/>
            <a:ext cx="2011680" cy="457200"/>
          </a:xfrm>
          <a:prstGeom prst="roundRect">
            <a:avLst>
              <a:gd name="adj" fmla="val 20000"/>
            </a:avLst>
          </a:prstGeom>
          <a:solidFill>
            <a:schemeClr val="accent4"/>
          </a:solidFill>
          <a:ln/>
        </p:spPr>
      </p:sp>
      <p:sp>
        <p:nvSpPr>
          <p:cNvPr id="29" name="text-429"/>
          <p:cNvSpPr txBox="1"/>
          <p:nvPr/>
        </p:nvSpPr>
        <p:spPr>
          <a:xfrm>
            <a:off x="7315200" y="1417320"/>
            <a:ext cx="1920240" cy="457200"/>
          </a:xfrm>
          <a:prstGeom prst="rect">
            <a:avLst/>
          </a:prstGeom>
          <a:noFill/>
          <a:ln/>
        </p:spPr>
        <p:txBody>
          <a:bodyPr wrap="square" lIns="0" tIns="0" rIns="0" bIns="0" rtlCol="0" anchor="ctr"/>
          <a:lstStyle/>
          <a:p>
            <a:pPr algn="ctr" indent="0" marL="0">
              <a:buNone/>
            </a:pPr>
            <a:r>
              <a:rPr lang="en-US" sz="1400" b="1" dirty="0">
                <a:solidFill>
                  <a:schemeClr val="bg1"/>
                </a:solidFill>
              </a:rPr>
              <a:t>Ask citizen for details</a:t>
            </a:r>
            <a:endParaRPr lang="en-US" sz="1400" dirty="0"/>
          </a:p>
        </p:txBody>
      </p:sp>
      <p:sp>
        <p:nvSpPr>
          <p:cNvPr id="30" name="arrow-430"/>
          <p:cNvSpPr/>
          <p:nvPr/>
        </p:nvSpPr>
        <p:spPr>
          <a:xfrm flipV="1">
            <a:off x="8275320" y="1874520"/>
            <a:ext cx="0" cy="365760"/>
          </a:xfrm>
          <a:prstGeom prst="line">
            <a:avLst/>
          </a:prstGeom>
          <a:noFill/>
          <a:ln w="22225">
            <a:solidFill>
              <a:schemeClr val="accent6"/>
            </a:solidFill>
            <a:prstDash val="solid"/>
            <a:tailEnd type="triangle"/>
          </a:ln>
        </p:spPr>
      </p:sp>
      <p:sp>
        <p:nvSpPr>
          <p:cNvPr id="31" name="text-431"/>
          <p:cNvSpPr txBox="1"/>
          <p:nvPr/>
        </p:nvSpPr>
        <p:spPr>
          <a:xfrm>
            <a:off x="8321040" y="1993392"/>
            <a:ext cx="457200" cy="256032"/>
          </a:xfrm>
          <a:prstGeom prst="rect">
            <a:avLst/>
          </a:prstGeom>
          <a:noFill/>
          <a:ln/>
        </p:spPr>
        <p:txBody>
          <a:bodyPr wrap="square" lIns="0" tIns="0" rIns="0" bIns="0" rtlCol="0" anchor="t"/>
          <a:lstStyle/>
          <a:p>
            <a:pPr algn="l" indent="0" marL="0">
              <a:buNone/>
            </a:pPr>
            <a:r>
              <a:rPr lang="en-US" sz="1200" b="1" dirty="0">
                <a:solidFill>
                  <a:schemeClr val="accent6"/>
                </a:solidFill>
              </a:rPr>
              <a:t>No</a:t>
            </a:r>
            <a:endParaRPr lang="en-US" sz="1200" dirty="0"/>
          </a:p>
        </p:txBody>
      </p:sp>
      <p:sp>
        <p:nvSpPr>
          <p:cNvPr id="32" name="line-432"/>
          <p:cNvSpPr/>
          <p:nvPr/>
        </p:nvSpPr>
        <p:spPr>
          <a:xfrm flipH="1">
            <a:off x="5943600" y="1645920"/>
            <a:ext cx="1325880" cy="0"/>
          </a:xfrm>
          <a:prstGeom prst="line">
            <a:avLst/>
          </a:prstGeom>
          <a:noFill/>
          <a:ln w="22225">
            <a:solidFill>
              <a:schemeClr val="accent6"/>
            </a:solidFill>
            <a:prstDash val="solid"/>
          </a:ln>
        </p:spPr>
      </p:sp>
      <p:sp>
        <p:nvSpPr>
          <p:cNvPr id="33" name="arrow-433"/>
          <p:cNvSpPr/>
          <p:nvPr/>
        </p:nvSpPr>
        <p:spPr>
          <a:xfrm>
            <a:off x="5943600" y="1645920"/>
            <a:ext cx="0" cy="731520"/>
          </a:xfrm>
          <a:prstGeom prst="line">
            <a:avLst/>
          </a:prstGeom>
          <a:noFill/>
          <a:ln w="22225">
            <a:solidFill>
              <a:schemeClr val="accent6"/>
            </a:solidFill>
            <a:prstDash val="solid"/>
            <a:tailEnd type="triangle"/>
          </a:ln>
        </p:spPr>
      </p:sp>
      <p:sp>
        <p:nvSpPr>
          <p:cNvPr id="34" name="text-434"/>
          <p:cNvSpPr txBox="1"/>
          <p:nvPr/>
        </p:nvSpPr>
        <p:spPr>
          <a:xfrm>
            <a:off x="4800600" y="2103120"/>
            <a:ext cx="1051560" cy="256032"/>
          </a:xfrm>
          <a:prstGeom prst="rect">
            <a:avLst/>
          </a:prstGeom>
          <a:noFill/>
          <a:ln/>
        </p:spPr>
        <p:txBody>
          <a:bodyPr wrap="square" lIns="0" tIns="0" rIns="0" bIns="0" rtlCol="0" anchor="t"/>
          <a:lstStyle/>
          <a:p>
            <a:pPr algn="r" indent="0" marL="0">
              <a:buNone/>
            </a:pPr>
            <a:r>
              <a:rPr lang="en-US" sz="1200" b="1" dirty="0">
                <a:solidFill>
                  <a:schemeClr val="accent6"/>
                </a:solidFill>
              </a:rPr>
              <a:t>Analyze again</a:t>
            </a:r>
            <a:endParaRPr lang="en-US" sz="1200" dirty="0"/>
          </a:p>
        </p:txBody>
      </p:sp>
      <p:sp>
        <p:nvSpPr>
          <p:cNvPr id="35" name="arrow-435"/>
          <p:cNvSpPr/>
          <p:nvPr/>
        </p:nvSpPr>
        <p:spPr>
          <a:xfrm>
            <a:off x="10666476" y="3108960"/>
            <a:ext cx="0" cy="777240"/>
          </a:xfrm>
          <a:prstGeom prst="line">
            <a:avLst/>
          </a:prstGeom>
          <a:noFill/>
          <a:ln w="22225">
            <a:solidFill>
              <a:schemeClr val="accent6"/>
            </a:solidFill>
            <a:prstDash val="solid"/>
            <a:tailEnd type="triangle"/>
          </a:ln>
        </p:spPr>
      </p:sp>
      <p:sp>
        <p:nvSpPr>
          <p:cNvPr id="36" name="card-436"/>
          <p:cNvSpPr/>
          <p:nvPr/>
        </p:nvSpPr>
        <p:spPr>
          <a:xfrm>
            <a:off x="9692640" y="3886200"/>
            <a:ext cx="1947672" cy="731520"/>
          </a:xfrm>
          <a:prstGeom prst="roundRect">
            <a:avLst>
              <a:gd name="adj" fmla="val 12500"/>
            </a:avLst>
          </a:prstGeom>
          <a:solidFill>
            <a:schemeClr val="accent1"/>
          </a:solidFill>
          <a:ln/>
        </p:spPr>
      </p:sp>
      <p:sp>
        <p:nvSpPr>
          <p:cNvPr id="37" name="text-437"/>
          <p:cNvSpPr txBox="1"/>
          <p:nvPr/>
        </p:nvSpPr>
        <p:spPr>
          <a:xfrm>
            <a:off x="9738360" y="3886200"/>
            <a:ext cx="1856232" cy="731520"/>
          </a:xfrm>
          <a:prstGeom prst="rect">
            <a:avLst/>
          </a:prstGeom>
          <a:noFill/>
          <a:ln/>
        </p:spPr>
        <p:txBody>
          <a:bodyPr wrap="square" lIns="0" tIns="0" rIns="0" bIns="0" rtlCol="0" anchor="ctr"/>
          <a:lstStyle/>
          <a:p>
            <a:pPr algn="ctr" indent="0" marL="0">
              <a:buNone/>
            </a:pPr>
            <a:r>
              <a:rPr lang="en-US" sz="1400" b="1" dirty="0">
                <a:solidFill>
                  <a:schemeClr val="bg1"/>
                </a:solidFill>
              </a:rPr>
              <a:t>Department + officer + SLA</a:t>
            </a:r>
            <a:endParaRPr lang="en-US" sz="1400" dirty="0"/>
          </a:p>
        </p:txBody>
      </p:sp>
      <p:sp>
        <p:nvSpPr>
          <p:cNvPr id="38" name="card-438"/>
          <p:cNvSpPr/>
          <p:nvPr/>
        </p:nvSpPr>
        <p:spPr>
          <a:xfrm>
            <a:off x="7269480" y="3886200"/>
            <a:ext cx="2011680" cy="731520"/>
          </a:xfrm>
          <a:prstGeom prst="roundRect">
            <a:avLst>
              <a:gd name="adj" fmla="val 12500"/>
            </a:avLst>
          </a:prstGeom>
          <a:solidFill>
            <a:schemeClr val="accent1"/>
          </a:solidFill>
          <a:ln/>
        </p:spPr>
      </p:sp>
      <p:sp>
        <p:nvSpPr>
          <p:cNvPr id="39" name="text-439"/>
          <p:cNvSpPr txBox="1"/>
          <p:nvPr/>
        </p:nvSpPr>
        <p:spPr>
          <a:xfrm>
            <a:off x="7315200" y="3886200"/>
            <a:ext cx="1920240" cy="731520"/>
          </a:xfrm>
          <a:prstGeom prst="rect">
            <a:avLst/>
          </a:prstGeom>
          <a:noFill/>
          <a:ln/>
        </p:spPr>
        <p:txBody>
          <a:bodyPr wrap="square" lIns="0" tIns="0" rIns="0" bIns="0" rtlCol="0" anchor="ctr"/>
          <a:lstStyle/>
          <a:p>
            <a:pPr algn="ctr" indent="0" marL="0">
              <a:buNone/>
            </a:pPr>
            <a:r>
              <a:rPr lang="en-US" sz="1400" b="1" dirty="0">
                <a:solidFill>
                  <a:schemeClr val="bg1"/>
                </a:solidFill>
              </a:rPr>
              <a:t>Agent 3: Monitoring &amp; Escalation</a:t>
            </a:r>
            <a:endParaRPr lang="en-US" sz="1400" dirty="0"/>
          </a:p>
        </p:txBody>
      </p:sp>
      <p:sp>
        <p:nvSpPr>
          <p:cNvPr id="40" name="arrow-440"/>
          <p:cNvSpPr/>
          <p:nvPr/>
        </p:nvSpPr>
        <p:spPr>
          <a:xfrm flipH="1">
            <a:off x="9281160" y="4251960"/>
            <a:ext cx="411480" cy="0"/>
          </a:xfrm>
          <a:prstGeom prst="line">
            <a:avLst/>
          </a:prstGeom>
          <a:noFill/>
          <a:ln w="22225">
            <a:solidFill>
              <a:schemeClr val="accent6"/>
            </a:solidFill>
            <a:prstDash val="solid"/>
            <a:tailEnd type="triangle"/>
          </a:ln>
        </p:spPr>
      </p:sp>
      <p:sp>
        <p:nvSpPr>
          <p:cNvPr id="41" name="shape-441"/>
          <p:cNvSpPr/>
          <p:nvPr/>
        </p:nvSpPr>
        <p:spPr>
          <a:xfrm>
            <a:off x="4846320" y="3749040"/>
            <a:ext cx="2011680" cy="1005840"/>
          </a:xfrm>
          <a:prstGeom prst="diamond">
            <a:avLst/>
          </a:prstGeom>
          <a:solidFill>
            <a:schemeClr val="accent2"/>
          </a:solidFill>
          <a:ln/>
        </p:spPr>
      </p:sp>
      <p:sp>
        <p:nvSpPr>
          <p:cNvPr id="42" name="text-442"/>
          <p:cNvSpPr txBox="1"/>
          <p:nvPr/>
        </p:nvSpPr>
        <p:spPr>
          <a:xfrm>
            <a:off x="5166360" y="3749040"/>
            <a:ext cx="1371600" cy="1005840"/>
          </a:xfrm>
          <a:prstGeom prst="rect">
            <a:avLst/>
          </a:prstGeom>
          <a:noFill/>
          <a:ln/>
        </p:spPr>
        <p:txBody>
          <a:bodyPr wrap="square" lIns="0" tIns="0" rIns="0" bIns="0" rtlCol="0" anchor="ctr"/>
          <a:lstStyle/>
          <a:p>
            <a:pPr algn="ctr" indent="0" marL="0">
              <a:buNone/>
            </a:pPr>
            <a:r>
              <a:rPr lang="en-US" sz="1300" b="1" dirty="0">
                <a:solidFill>
                  <a:schemeClr val="tx1"/>
                </a:solidFill>
              </a:rPr>
              <a:t>Resolved?</a:t>
            </a:r>
            <a:endParaRPr lang="en-US" sz="1300" dirty="0"/>
          </a:p>
        </p:txBody>
      </p:sp>
      <p:sp>
        <p:nvSpPr>
          <p:cNvPr id="43" name="arrow-443"/>
          <p:cNvSpPr/>
          <p:nvPr/>
        </p:nvSpPr>
        <p:spPr>
          <a:xfrm flipH="1">
            <a:off x="6858000" y="4251960"/>
            <a:ext cx="411480" cy="0"/>
          </a:xfrm>
          <a:prstGeom prst="line">
            <a:avLst/>
          </a:prstGeom>
          <a:noFill/>
          <a:ln w="22225">
            <a:solidFill>
              <a:schemeClr val="accent6"/>
            </a:solidFill>
            <a:prstDash val="solid"/>
            <a:tailEnd type="triangle"/>
          </a:ln>
        </p:spPr>
      </p:sp>
      <p:sp>
        <p:nvSpPr>
          <p:cNvPr id="44" name="card-444"/>
          <p:cNvSpPr/>
          <p:nvPr/>
        </p:nvSpPr>
        <p:spPr>
          <a:xfrm>
            <a:off x="2194560" y="3886200"/>
            <a:ext cx="2240280" cy="731520"/>
          </a:xfrm>
          <a:prstGeom prst="roundRect">
            <a:avLst>
              <a:gd name="adj" fmla="val 12500"/>
            </a:avLst>
          </a:prstGeom>
          <a:solidFill>
            <a:schemeClr val="accent5"/>
          </a:solidFill>
          <a:ln/>
        </p:spPr>
      </p:sp>
      <p:sp>
        <p:nvSpPr>
          <p:cNvPr id="45" name="text-445"/>
          <p:cNvSpPr txBox="1"/>
          <p:nvPr/>
        </p:nvSpPr>
        <p:spPr>
          <a:xfrm>
            <a:off x="2240280" y="3886200"/>
            <a:ext cx="2148840" cy="731520"/>
          </a:xfrm>
          <a:prstGeom prst="rect">
            <a:avLst/>
          </a:prstGeom>
          <a:noFill/>
          <a:ln/>
        </p:spPr>
        <p:txBody>
          <a:bodyPr wrap="square" lIns="0" tIns="0" rIns="0" bIns="0" rtlCol="0" anchor="ctr"/>
          <a:lstStyle/>
          <a:p>
            <a:pPr algn="ctr" indent="0" marL="0">
              <a:buNone/>
            </a:pPr>
            <a:r>
              <a:rPr lang="en-US" sz="1400" b="1" dirty="0">
                <a:solidFill>
                  <a:schemeClr val="bg1"/>
                </a:solidFill>
              </a:rPr>
              <a:t>Close complaint, notify citizen</a:t>
            </a:r>
            <a:endParaRPr lang="en-US" sz="1400" dirty="0"/>
          </a:p>
        </p:txBody>
      </p:sp>
      <p:sp>
        <p:nvSpPr>
          <p:cNvPr id="46" name="arrow-446"/>
          <p:cNvSpPr/>
          <p:nvPr/>
        </p:nvSpPr>
        <p:spPr>
          <a:xfrm flipH="1">
            <a:off x="4434840" y="4251960"/>
            <a:ext cx="411480" cy="0"/>
          </a:xfrm>
          <a:prstGeom prst="line">
            <a:avLst/>
          </a:prstGeom>
          <a:noFill/>
          <a:ln w="22225">
            <a:solidFill>
              <a:schemeClr val="accent6"/>
            </a:solidFill>
            <a:prstDash val="solid"/>
            <a:tailEnd type="triangle"/>
          </a:ln>
        </p:spPr>
      </p:sp>
      <p:sp>
        <p:nvSpPr>
          <p:cNvPr id="47" name="text-447"/>
          <p:cNvSpPr txBox="1"/>
          <p:nvPr/>
        </p:nvSpPr>
        <p:spPr>
          <a:xfrm>
            <a:off x="4389120" y="3904488"/>
            <a:ext cx="457200" cy="256032"/>
          </a:xfrm>
          <a:prstGeom prst="rect">
            <a:avLst/>
          </a:prstGeom>
          <a:noFill/>
          <a:ln/>
        </p:spPr>
        <p:txBody>
          <a:bodyPr wrap="square" lIns="0" tIns="0" rIns="0" bIns="0" rtlCol="0" anchor="t"/>
          <a:lstStyle/>
          <a:p>
            <a:pPr algn="ctr" indent="0" marL="0">
              <a:buNone/>
            </a:pPr>
            <a:r>
              <a:rPr lang="en-US" sz="1200" b="1" dirty="0">
                <a:solidFill>
                  <a:schemeClr val="accent6"/>
                </a:solidFill>
              </a:rPr>
              <a:t>Yes</a:t>
            </a:r>
            <a:endParaRPr lang="en-US" sz="1200" dirty="0"/>
          </a:p>
        </p:txBody>
      </p:sp>
      <p:sp>
        <p:nvSpPr>
          <p:cNvPr id="48" name="arrow-448"/>
          <p:cNvSpPr/>
          <p:nvPr/>
        </p:nvSpPr>
        <p:spPr>
          <a:xfrm>
            <a:off x="5852160" y="4754880"/>
            <a:ext cx="0" cy="365760"/>
          </a:xfrm>
          <a:prstGeom prst="line">
            <a:avLst/>
          </a:prstGeom>
          <a:noFill/>
          <a:ln w="22225">
            <a:solidFill>
              <a:schemeClr val="accent6"/>
            </a:solidFill>
            <a:prstDash val="solid"/>
            <a:tailEnd type="triangle"/>
          </a:ln>
        </p:spPr>
      </p:sp>
      <p:sp>
        <p:nvSpPr>
          <p:cNvPr id="49" name="text-449"/>
          <p:cNvSpPr txBox="1"/>
          <p:nvPr/>
        </p:nvSpPr>
        <p:spPr>
          <a:xfrm>
            <a:off x="5897880" y="4818888"/>
            <a:ext cx="457200" cy="256032"/>
          </a:xfrm>
          <a:prstGeom prst="rect">
            <a:avLst/>
          </a:prstGeom>
          <a:noFill/>
          <a:ln/>
        </p:spPr>
        <p:txBody>
          <a:bodyPr wrap="square" lIns="0" tIns="0" rIns="0" bIns="0" rtlCol="0" anchor="t"/>
          <a:lstStyle/>
          <a:p>
            <a:pPr algn="l" indent="0" marL="0">
              <a:buNone/>
            </a:pPr>
            <a:r>
              <a:rPr lang="en-US" sz="1200" b="1" dirty="0">
                <a:solidFill>
                  <a:schemeClr val="accent6"/>
                </a:solidFill>
              </a:rPr>
              <a:t>No</a:t>
            </a:r>
            <a:endParaRPr lang="en-US" sz="1200" dirty="0"/>
          </a:p>
        </p:txBody>
      </p:sp>
      <p:sp>
        <p:nvSpPr>
          <p:cNvPr id="50" name="shape-450"/>
          <p:cNvSpPr/>
          <p:nvPr/>
        </p:nvSpPr>
        <p:spPr>
          <a:xfrm>
            <a:off x="4846320" y="5120640"/>
            <a:ext cx="2011680" cy="1005840"/>
          </a:xfrm>
          <a:prstGeom prst="diamond">
            <a:avLst/>
          </a:prstGeom>
          <a:solidFill>
            <a:schemeClr val="accent2"/>
          </a:solidFill>
          <a:ln/>
        </p:spPr>
      </p:sp>
      <p:sp>
        <p:nvSpPr>
          <p:cNvPr id="51" name="text-451"/>
          <p:cNvSpPr txBox="1"/>
          <p:nvPr/>
        </p:nvSpPr>
        <p:spPr>
          <a:xfrm>
            <a:off x="5166360" y="5120640"/>
            <a:ext cx="1371600" cy="1005840"/>
          </a:xfrm>
          <a:prstGeom prst="rect">
            <a:avLst/>
          </a:prstGeom>
          <a:noFill/>
          <a:ln/>
        </p:spPr>
        <p:txBody>
          <a:bodyPr wrap="square" lIns="0" tIns="0" rIns="0" bIns="0" rtlCol="0" anchor="ctr"/>
          <a:lstStyle/>
          <a:p>
            <a:pPr algn="ctr" indent="0" marL="0">
              <a:buNone/>
            </a:pPr>
            <a:r>
              <a:rPr lang="en-US" sz="1300" b="1" dirty="0">
                <a:solidFill>
                  <a:schemeClr val="tx1"/>
                </a:solidFill>
              </a:rPr>
              <a:t>SLA breached?</a:t>
            </a:r>
            <a:endParaRPr lang="en-US" sz="1300" dirty="0"/>
          </a:p>
        </p:txBody>
      </p:sp>
      <p:sp>
        <p:nvSpPr>
          <p:cNvPr id="52" name="card-452"/>
          <p:cNvSpPr/>
          <p:nvPr/>
        </p:nvSpPr>
        <p:spPr>
          <a:xfrm>
            <a:off x="7635240" y="5257800"/>
            <a:ext cx="1645920" cy="731520"/>
          </a:xfrm>
          <a:prstGeom prst="roundRect">
            <a:avLst>
              <a:gd name="adj" fmla="val 12500"/>
            </a:avLst>
          </a:prstGeom>
          <a:solidFill>
            <a:schemeClr val="accent3"/>
          </a:solidFill>
          <a:ln/>
        </p:spPr>
      </p:sp>
      <p:sp>
        <p:nvSpPr>
          <p:cNvPr id="53" name="text-453"/>
          <p:cNvSpPr txBox="1"/>
          <p:nvPr/>
        </p:nvSpPr>
        <p:spPr>
          <a:xfrm>
            <a:off x="7680960" y="5257800"/>
            <a:ext cx="1554480" cy="731520"/>
          </a:xfrm>
          <a:prstGeom prst="rect">
            <a:avLst/>
          </a:prstGeom>
          <a:noFill/>
          <a:ln/>
        </p:spPr>
        <p:txBody>
          <a:bodyPr wrap="square" lIns="0" tIns="0" rIns="0" bIns="0" rtlCol="0" anchor="ctr"/>
          <a:lstStyle/>
          <a:p>
            <a:pPr algn="ctr" indent="0" marL="0">
              <a:buNone/>
            </a:pPr>
            <a:r>
              <a:rPr lang="en-US" sz="1400" b="1" dirty="0">
                <a:solidFill>
                  <a:schemeClr val="bg1"/>
                </a:solidFill>
              </a:rPr>
              <a:t>Escalate</a:t>
            </a:r>
            <a:endParaRPr lang="en-US" sz="1400" dirty="0"/>
          </a:p>
        </p:txBody>
      </p:sp>
      <p:sp>
        <p:nvSpPr>
          <p:cNvPr id="54" name="arrow-454"/>
          <p:cNvSpPr/>
          <p:nvPr/>
        </p:nvSpPr>
        <p:spPr>
          <a:xfrm>
            <a:off x="6858000" y="5623560"/>
            <a:ext cx="777240" cy="0"/>
          </a:xfrm>
          <a:prstGeom prst="line">
            <a:avLst/>
          </a:prstGeom>
          <a:noFill/>
          <a:ln w="22225">
            <a:solidFill>
              <a:schemeClr val="accent6"/>
            </a:solidFill>
            <a:prstDash val="solid"/>
            <a:tailEnd type="triangle"/>
          </a:ln>
        </p:spPr>
      </p:sp>
      <p:sp>
        <p:nvSpPr>
          <p:cNvPr id="55" name="text-455"/>
          <p:cNvSpPr txBox="1"/>
          <p:nvPr/>
        </p:nvSpPr>
        <p:spPr>
          <a:xfrm>
            <a:off x="6858000" y="5276088"/>
            <a:ext cx="777240" cy="256032"/>
          </a:xfrm>
          <a:prstGeom prst="rect">
            <a:avLst/>
          </a:prstGeom>
          <a:noFill/>
          <a:ln/>
        </p:spPr>
        <p:txBody>
          <a:bodyPr wrap="square" lIns="0" tIns="0" rIns="0" bIns="0" rtlCol="0" anchor="t"/>
          <a:lstStyle/>
          <a:p>
            <a:pPr algn="ctr" indent="0" marL="0">
              <a:buNone/>
            </a:pPr>
            <a:r>
              <a:rPr lang="en-US" sz="1200" b="1" dirty="0">
                <a:solidFill>
                  <a:schemeClr val="accent6"/>
                </a:solidFill>
              </a:rPr>
              <a:t>Yes</a:t>
            </a:r>
            <a:endParaRPr lang="en-US" sz="1200" dirty="0"/>
          </a:p>
        </p:txBody>
      </p:sp>
      <p:sp>
        <p:nvSpPr>
          <p:cNvPr id="56" name="arrow-456"/>
          <p:cNvSpPr/>
          <p:nvPr/>
        </p:nvSpPr>
        <p:spPr>
          <a:xfrm flipV="1">
            <a:off x="8458200" y="4617720"/>
            <a:ext cx="0" cy="640080"/>
          </a:xfrm>
          <a:prstGeom prst="line">
            <a:avLst/>
          </a:prstGeom>
          <a:noFill/>
          <a:ln w="22225">
            <a:solidFill>
              <a:schemeClr val="accent6"/>
            </a:solidFill>
            <a:prstDash val="solid"/>
            <a:tailEnd type="triangle"/>
          </a:ln>
        </p:spPr>
      </p:sp>
      <p:sp>
        <p:nvSpPr>
          <p:cNvPr id="57" name="text-457"/>
          <p:cNvSpPr txBox="1"/>
          <p:nvPr/>
        </p:nvSpPr>
        <p:spPr>
          <a:xfrm>
            <a:off x="8522208" y="4754880"/>
            <a:ext cx="1280160" cy="256032"/>
          </a:xfrm>
          <a:prstGeom prst="rect">
            <a:avLst/>
          </a:prstGeom>
          <a:noFill/>
          <a:ln/>
        </p:spPr>
        <p:txBody>
          <a:bodyPr wrap="square" lIns="0" tIns="0" rIns="0" bIns="0" rtlCol="0" anchor="t"/>
          <a:lstStyle/>
          <a:p>
            <a:pPr algn="l" indent="0" marL="0">
              <a:buNone/>
            </a:pPr>
            <a:r>
              <a:rPr lang="en-US" sz="1200" b="1" dirty="0">
                <a:solidFill>
                  <a:schemeClr val="accent6"/>
                </a:solidFill>
              </a:rPr>
              <a:t>Monitor again</a:t>
            </a:r>
            <a:endParaRPr lang="en-US" sz="1200" dirty="0"/>
          </a:p>
        </p:txBody>
      </p:sp>
      <p:sp>
        <p:nvSpPr>
          <p:cNvPr id="58" name="card-458"/>
          <p:cNvSpPr/>
          <p:nvPr/>
        </p:nvSpPr>
        <p:spPr>
          <a:xfrm>
            <a:off x="2194560" y="5257800"/>
            <a:ext cx="2240280" cy="731520"/>
          </a:xfrm>
          <a:prstGeom prst="roundRect">
            <a:avLst>
              <a:gd name="adj" fmla="val 12500"/>
            </a:avLst>
          </a:prstGeom>
          <a:solidFill>
            <a:schemeClr val="accent1"/>
          </a:solidFill>
          <a:ln/>
        </p:spPr>
      </p:sp>
      <p:sp>
        <p:nvSpPr>
          <p:cNvPr id="59" name="text-459"/>
          <p:cNvSpPr txBox="1"/>
          <p:nvPr/>
        </p:nvSpPr>
        <p:spPr>
          <a:xfrm>
            <a:off x="2240280" y="5257800"/>
            <a:ext cx="2148840" cy="731520"/>
          </a:xfrm>
          <a:prstGeom prst="rect">
            <a:avLst/>
          </a:prstGeom>
          <a:noFill/>
          <a:ln/>
        </p:spPr>
        <p:txBody>
          <a:bodyPr wrap="square" lIns="0" tIns="0" rIns="0" bIns="0" rtlCol="0" anchor="ctr"/>
          <a:lstStyle/>
          <a:p>
            <a:pPr algn="ctr" indent="0" marL="0">
              <a:buNone/>
            </a:pPr>
            <a:r>
              <a:rPr lang="en-US" sz="1400" b="1" dirty="0">
                <a:solidFill>
                  <a:schemeClr val="bg1"/>
                </a:solidFill>
              </a:rPr>
              <a:t>Keep monitoring (back to Agent 3)</a:t>
            </a:r>
            <a:endParaRPr lang="en-US" sz="1400" dirty="0"/>
          </a:p>
        </p:txBody>
      </p:sp>
      <p:sp>
        <p:nvSpPr>
          <p:cNvPr id="60" name="arrow-460"/>
          <p:cNvSpPr/>
          <p:nvPr/>
        </p:nvSpPr>
        <p:spPr>
          <a:xfrm flipH="1">
            <a:off x="4434840" y="5623560"/>
            <a:ext cx="411480" cy="0"/>
          </a:xfrm>
          <a:prstGeom prst="line">
            <a:avLst/>
          </a:prstGeom>
          <a:noFill/>
          <a:ln w="22225">
            <a:solidFill>
              <a:schemeClr val="accent6"/>
            </a:solidFill>
            <a:prstDash val="solid"/>
            <a:tailEnd type="triangle"/>
          </a:ln>
        </p:spPr>
      </p:sp>
      <p:sp>
        <p:nvSpPr>
          <p:cNvPr id="61" name="text-461"/>
          <p:cNvSpPr txBox="1"/>
          <p:nvPr/>
        </p:nvSpPr>
        <p:spPr>
          <a:xfrm>
            <a:off x="4389120" y="5276088"/>
            <a:ext cx="457200" cy="256032"/>
          </a:xfrm>
          <a:prstGeom prst="rect">
            <a:avLst/>
          </a:prstGeom>
          <a:noFill/>
          <a:ln/>
        </p:spPr>
        <p:txBody>
          <a:bodyPr wrap="square" lIns="0" tIns="0" rIns="0" bIns="0" rtlCol="0" anchor="t"/>
          <a:lstStyle/>
          <a:p>
            <a:pPr algn="ctr" indent="0" marL="0">
              <a:buNone/>
            </a:pPr>
            <a:r>
              <a:rPr lang="en-US" sz="1200" b="1" dirty="0">
                <a:solidFill>
                  <a:schemeClr val="accent6"/>
                </a:solidFill>
              </a:rPr>
              <a:t>No</a:t>
            </a:r>
            <a:endParaRPr lang="en-US" sz="1200" dirty="0"/>
          </a:p>
        </p:txBody>
      </p:sp>
      <p:sp>
        <p:nvSpPr>
          <p:cNvPr id="25" name="Slide Number Placeholder 0"/>
          <p:cNvSpPr>
            <a:spLocks noGrp="1"/>
          </p:cNvSpPr>
          <p:nvPr>
            <p:ph type="sldNum" sz="quarter" idx="4294967295"/>
          </p:nvPr>
        </p:nvSpPr>
        <p:spPr>
          <a:xfrm>
            <a:off x="10972800" y="6419088"/>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200" b="1" dirty="0">
                <a:solidFill>
                  <a:schemeClr val="tx1"/>
                </a:solidFill>
              </a:rPr>
              <a:t>System Architecture: Eight Layers</a:t>
            </a:r>
            <a:endParaRPr lang="en-US" sz="3200" dirty="0"/>
          </a:p>
        </p:txBody>
      </p:sp>
      <p:sp>
        <p:nvSpPr>
          <p:cNvPr id="3" name="card-462"/>
          <p:cNvSpPr/>
          <p:nvPr/>
        </p:nvSpPr>
        <p:spPr>
          <a:xfrm>
            <a:off x="548640" y="1325880"/>
            <a:ext cx="7818120" cy="530352"/>
          </a:xfrm>
          <a:prstGeom prst="roundRect">
            <a:avLst>
              <a:gd name="adj" fmla="val 17241"/>
            </a:avLst>
          </a:prstGeom>
          <a:solidFill>
            <a:schemeClr val="bg2"/>
          </a:solidFill>
          <a:ln/>
        </p:spPr>
      </p:sp>
      <p:sp>
        <p:nvSpPr>
          <p:cNvPr id="4" name="icon-bg-463"/>
          <p:cNvSpPr/>
          <p:nvPr/>
        </p:nvSpPr>
        <p:spPr>
          <a:xfrm>
            <a:off x="685800" y="1408176"/>
            <a:ext cx="365760" cy="365760"/>
          </a:xfrm>
          <a:prstGeom prst="ellipse">
            <a:avLst/>
          </a:prstGeom>
          <a:solidFill>
            <a:schemeClr val="accent4"/>
          </a:solidFill>
          <a:ln/>
        </p:spPr>
      </p:sp>
      <p:pic>
        <p:nvPicPr>
          <p:cNvPr id="5" name="icon-464" descr="Users icon">    </p:cNvPr>
          <p:cNvPicPr>
            <a:picLocks noChangeAspect="1"/>
          </p:cNvPicPr>
          <p:nvPr/>
        </p:nvPicPr>
        <p:blipFill>
          <a:blip r:embed="rId1"/>
          <a:stretch>
            <a:fillRect/>
          </a:stretch>
        </p:blipFill>
        <p:spPr>
          <a:xfrm>
            <a:off x="777240" y="1499616"/>
            <a:ext cx="182880" cy="182880"/>
          </a:xfrm>
          <a:prstGeom prst="rect">
            <a:avLst/>
          </a:prstGeom>
        </p:spPr>
      </p:pic>
      <p:sp>
        <p:nvSpPr>
          <p:cNvPr id="6" name="text-465"/>
          <p:cNvSpPr txBox="1"/>
          <p:nvPr/>
        </p:nvSpPr>
        <p:spPr>
          <a:xfrm>
            <a:off x="1188720" y="1325880"/>
            <a:ext cx="1554480" cy="530352"/>
          </a:xfrm>
          <a:prstGeom prst="rect">
            <a:avLst/>
          </a:prstGeom>
          <a:noFill/>
          <a:ln/>
        </p:spPr>
        <p:txBody>
          <a:bodyPr wrap="square" lIns="0" tIns="0" rIns="0" bIns="0" rtlCol="0" anchor="ctr"/>
          <a:lstStyle/>
          <a:p>
            <a:pPr indent="0" marL="0">
              <a:buNone/>
            </a:pPr>
            <a:r>
              <a:rPr lang="en-US" sz="1500" b="1" dirty="0">
                <a:solidFill>
                  <a:schemeClr val="tx1"/>
                </a:solidFill>
              </a:rPr>
              <a:t>User layer</a:t>
            </a:r>
            <a:endParaRPr lang="en-US" sz="1500" dirty="0"/>
          </a:p>
        </p:txBody>
      </p:sp>
      <p:sp>
        <p:nvSpPr>
          <p:cNvPr id="7" name="text-466"/>
          <p:cNvSpPr txBox="1"/>
          <p:nvPr/>
        </p:nvSpPr>
        <p:spPr>
          <a:xfrm>
            <a:off x="2743200" y="1325880"/>
            <a:ext cx="5486400" cy="530352"/>
          </a:xfrm>
          <a:prstGeom prst="rect">
            <a:avLst/>
          </a:prstGeom>
          <a:noFill/>
          <a:ln/>
        </p:spPr>
        <p:txBody>
          <a:bodyPr wrap="square" lIns="0" tIns="0" rIns="0" bIns="0" rtlCol="0" anchor="ctr"/>
          <a:lstStyle/>
          <a:p>
            <a:pPr indent="0" marL="0">
              <a:buNone/>
            </a:pPr>
            <a:r>
              <a:rPr lang="en-US" sz="1400" dirty="0">
                <a:solidFill>
                  <a:schemeClr val="tx2"/>
                </a:solidFill>
              </a:rPr>
              <a:t>Citizens, officers and admins on web / mobile</a:t>
            </a:r>
            <a:endParaRPr lang="en-US" sz="1400" dirty="0"/>
          </a:p>
        </p:txBody>
      </p:sp>
      <p:sp>
        <p:nvSpPr>
          <p:cNvPr id="8" name="card-467"/>
          <p:cNvSpPr/>
          <p:nvPr/>
        </p:nvSpPr>
        <p:spPr>
          <a:xfrm>
            <a:off x="548640" y="1947672"/>
            <a:ext cx="7818120" cy="530352"/>
          </a:xfrm>
          <a:prstGeom prst="roundRect">
            <a:avLst>
              <a:gd name="adj" fmla="val 17241"/>
            </a:avLst>
          </a:prstGeom>
          <a:solidFill>
            <a:schemeClr val="bg2"/>
          </a:solidFill>
          <a:ln/>
        </p:spPr>
      </p:sp>
      <p:sp>
        <p:nvSpPr>
          <p:cNvPr id="9" name="icon-bg-468"/>
          <p:cNvSpPr/>
          <p:nvPr/>
        </p:nvSpPr>
        <p:spPr>
          <a:xfrm>
            <a:off x="685800" y="2029968"/>
            <a:ext cx="365760" cy="365760"/>
          </a:xfrm>
          <a:prstGeom prst="ellipse">
            <a:avLst/>
          </a:prstGeom>
          <a:solidFill>
            <a:schemeClr val="accent1"/>
          </a:solidFill>
          <a:ln/>
        </p:spPr>
      </p:sp>
      <p:pic>
        <p:nvPicPr>
          <p:cNvPr id="10" name="icon-469" descr="Server icon">    </p:cNvPr>
          <p:cNvPicPr>
            <a:picLocks noChangeAspect="1"/>
          </p:cNvPicPr>
          <p:nvPr/>
        </p:nvPicPr>
        <p:blipFill>
          <a:blip r:embed="rId2"/>
          <a:stretch>
            <a:fillRect/>
          </a:stretch>
        </p:blipFill>
        <p:spPr>
          <a:xfrm>
            <a:off x="777240" y="2121408"/>
            <a:ext cx="182880" cy="182880"/>
          </a:xfrm>
          <a:prstGeom prst="rect">
            <a:avLst/>
          </a:prstGeom>
        </p:spPr>
      </p:pic>
      <p:sp>
        <p:nvSpPr>
          <p:cNvPr id="11" name="text-470"/>
          <p:cNvSpPr txBox="1"/>
          <p:nvPr/>
        </p:nvSpPr>
        <p:spPr>
          <a:xfrm>
            <a:off x="1188720" y="1947672"/>
            <a:ext cx="1554480" cy="530352"/>
          </a:xfrm>
          <a:prstGeom prst="rect">
            <a:avLst/>
          </a:prstGeom>
          <a:noFill/>
          <a:ln/>
        </p:spPr>
        <p:txBody>
          <a:bodyPr wrap="square" lIns="0" tIns="0" rIns="0" bIns="0" rtlCol="0" anchor="ctr"/>
          <a:lstStyle/>
          <a:p>
            <a:pPr indent="0" marL="0">
              <a:buNone/>
            </a:pPr>
            <a:r>
              <a:rPr lang="en-US" sz="1500" b="1" dirty="0">
                <a:solidFill>
                  <a:schemeClr val="tx1"/>
                </a:solidFill>
              </a:rPr>
              <a:t>Backend</a:t>
            </a:r>
            <a:endParaRPr lang="en-US" sz="1500" dirty="0"/>
          </a:p>
        </p:txBody>
      </p:sp>
      <p:sp>
        <p:nvSpPr>
          <p:cNvPr id="12" name="text-471"/>
          <p:cNvSpPr txBox="1"/>
          <p:nvPr/>
        </p:nvSpPr>
        <p:spPr>
          <a:xfrm>
            <a:off x="2743200" y="1947672"/>
            <a:ext cx="5486400" cy="530352"/>
          </a:xfrm>
          <a:prstGeom prst="rect">
            <a:avLst/>
          </a:prstGeom>
          <a:noFill/>
          <a:ln/>
        </p:spPr>
        <p:txBody>
          <a:bodyPr wrap="square" lIns="0" tIns="0" rIns="0" bIns="0" rtlCol="0" anchor="ctr"/>
          <a:lstStyle/>
          <a:p>
            <a:pPr indent="0" marL="0">
              <a:buNone/>
            </a:pPr>
            <a:r>
              <a:rPr lang="en-US" sz="1400" dirty="0">
                <a:solidFill>
                  <a:schemeClr val="tx2"/>
                </a:solidFill>
              </a:rPr>
              <a:t>FastAPI: APIs, auth, authorization, validation</a:t>
            </a:r>
            <a:endParaRPr lang="en-US" sz="1400" dirty="0"/>
          </a:p>
        </p:txBody>
      </p:sp>
      <p:sp>
        <p:nvSpPr>
          <p:cNvPr id="13" name="card-472"/>
          <p:cNvSpPr/>
          <p:nvPr/>
        </p:nvSpPr>
        <p:spPr>
          <a:xfrm>
            <a:off x="548640" y="2569464"/>
            <a:ext cx="7818120" cy="530352"/>
          </a:xfrm>
          <a:prstGeom prst="roundRect">
            <a:avLst>
              <a:gd name="adj" fmla="val 17241"/>
            </a:avLst>
          </a:prstGeom>
          <a:solidFill>
            <a:schemeClr val="bg2"/>
          </a:solidFill>
          <a:ln/>
        </p:spPr>
      </p:sp>
      <p:sp>
        <p:nvSpPr>
          <p:cNvPr id="14" name="icon-bg-473"/>
          <p:cNvSpPr/>
          <p:nvPr/>
        </p:nvSpPr>
        <p:spPr>
          <a:xfrm>
            <a:off x="685800" y="2651760"/>
            <a:ext cx="365760" cy="365760"/>
          </a:xfrm>
          <a:prstGeom prst="ellipse">
            <a:avLst/>
          </a:prstGeom>
          <a:solidFill>
            <a:schemeClr val="accent1"/>
          </a:solidFill>
          <a:ln/>
        </p:spPr>
      </p:sp>
      <p:pic>
        <p:nvPicPr>
          <p:cNvPr id="15" name="icon-474" descr="ProjectDiagram icon">    </p:cNvPr>
          <p:cNvPicPr>
            <a:picLocks noChangeAspect="1"/>
          </p:cNvPicPr>
          <p:nvPr/>
        </p:nvPicPr>
        <p:blipFill>
          <a:blip r:embed="rId3"/>
          <a:stretch>
            <a:fillRect/>
          </a:stretch>
        </p:blipFill>
        <p:spPr>
          <a:xfrm>
            <a:off x="777240" y="2743200"/>
            <a:ext cx="182880" cy="182880"/>
          </a:xfrm>
          <a:prstGeom prst="rect">
            <a:avLst/>
          </a:prstGeom>
        </p:spPr>
      </p:pic>
      <p:sp>
        <p:nvSpPr>
          <p:cNvPr id="16" name="text-475"/>
          <p:cNvSpPr txBox="1"/>
          <p:nvPr/>
        </p:nvSpPr>
        <p:spPr>
          <a:xfrm>
            <a:off x="1188720" y="2569464"/>
            <a:ext cx="1554480" cy="530352"/>
          </a:xfrm>
          <a:prstGeom prst="rect">
            <a:avLst/>
          </a:prstGeom>
          <a:noFill/>
          <a:ln/>
        </p:spPr>
        <p:txBody>
          <a:bodyPr wrap="square" lIns="0" tIns="0" rIns="0" bIns="0" rtlCol="0" anchor="ctr"/>
          <a:lstStyle/>
          <a:p>
            <a:pPr indent="0" marL="0">
              <a:buNone/>
            </a:pPr>
            <a:r>
              <a:rPr lang="en-US" sz="1500" b="1" dirty="0">
                <a:solidFill>
                  <a:schemeClr val="tx1"/>
                </a:solidFill>
              </a:rPr>
              <a:t>Orchestration</a:t>
            </a:r>
            <a:endParaRPr lang="en-US" sz="1500" dirty="0"/>
          </a:p>
        </p:txBody>
      </p:sp>
      <p:sp>
        <p:nvSpPr>
          <p:cNvPr id="17" name="text-476"/>
          <p:cNvSpPr txBox="1"/>
          <p:nvPr/>
        </p:nvSpPr>
        <p:spPr>
          <a:xfrm>
            <a:off x="2743200" y="2569464"/>
            <a:ext cx="5486400" cy="530352"/>
          </a:xfrm>
          <a:prstGeom prst="rect">
            <a:avLst/>
          </a:prstGeom>
          <a:noFill/>
          <a:ln/>
        </p:spPr>
        <p:txBody>
          <a:bodyPr wrap="square" lIns="0" tIns="0" rIns="0" bIns="0" rtlCol="0" anchor="ctr"/>
          <a:lstStyle/>
          <a:p>
            <a:pPr indent="0" marL="0">
              <a:buNone/>
            </a:pPr>
            <a:r>
              <a:rPr lang="en-US" sz="1400" dirty="0">
                <a:solidFill>
                  <a:schemeClr val="tx2"/>
                </a:solidFill>
              </a:rPr>
              <a:t>LangGraph decides which agent acts next</a:t>
            </a:r>
            <a:endParaRPr lang="en-US" sz="1400" dirty="0"/>
          </a:p>
        </p:txBody>
      </p:sp>
      <p:sp>
        <p:nvSpPr>
          <p:cNvPr id="18" name="card-477"/>
          <p:cNvSpPr/>
          <p:nvPr/>
        </p:nvSpPr>
        <p:spPr>
          <a:xfrm>
            <a:off x="548640" y="3191256"/>
            <a:ext cx="7818120" cy="530352"/>
          </a:xfrm>
          <a:prstGeom prst="roundRect">
            <a:avLst>
              <a:gd name="adj" fmla="val 17241"/>
            </a:avLst>
          </a:prstGeom>
          <a:solidFill>
            <a:schemeClr val="bg2"/>
          </a:solidFill>
          <a:ln/>
        </p:spPr>
      </p:sp>
      <p:sp>
        <p:nvSpPr>
          <p:cNvPr id="19" name="icon-bg-478"/>
          <p:cNvSpPr/>
          <p:nvPr/>
        </p:nvSpPr>
        <p:spPr>
          <a:xfrm>
            <a:off x="685800" y="3273552"/>
            <a:ext cx="365760" cy="365760"/>
          </a:xfrm>
          <a:prstGeom prst="ellipse">
            <a:avLst/>
          </a:prstGeom>
          <a:solidFill>
            <a:schemeClr val="accent1"/>
          </a:solidFill>
          <a:ln/>
        </p:spPr>
      </p:sp>
      <p:pic>
        <p:nvPicPr>
          <p:cNvPr id="20" name="icon-479" descr="Robot icon">    </p:cNvPr>
          <p:cNvPicPr>
            <a:picLocks noChangeAspect="1"/>
          </p:cNvPicPr>
          <p:nvPr/>
        </p:nvPicPr>
        <p:blipFill>
          <a:blip r:embed="rId4"/>
          <a:stretch>
            <a:fillRect/>
          </a:stretch>
        </p:blipFill>
        <p:spPr>
          <a:xfrm>
            <a:off x="777240" y="3364992"/>
            <a:ext cx="182880" cy="182880"/>
          </a:xfrm>
          <a:prstGeom prst="rect">
            <a:avLst/>
          </a:prstGeom>
        </p:spPr>
      </p:pic>
      <p:sp>
        <p:nvSpPr>
          <p:cNvPr id="21" name="text-480"/>
          <p:cNvSpPr txBox="1"/>
          <p:nvPr/>
        </p:nvSpPr>
        <p:spPr>
          <a:xfrm>
            <a:off x="1188720" y="3191256"/>
            <a:ext cx="1554480" cy="530352"/>
          </a:xfrm>
          <a:prstGeom prst="rect">
            <a:avLst/>
          </a:prstGeom>
          <a:noFill/>
          <a:ln/>
        </p:spPr>
        <p:txBody>
          <a:bodyPr wrap="square" lIns="0" tIns="0" rIns="0" bIns="0" rtlCol="0" anchor="ctr"/>
          <a:lstStyle/>
          <a:p>
            <a:pPr indent="0" marL="0">
              <a:buNone/>
            </a:pPr>
            <a:r>
              <a:rPr lang="en-US" sz="1500" b="1" dirty="0">
                <a:solidFill>
                  <a:schemeClr val="tx1"/>
                </a:solidFill>
              </a:rPr>
              <a:t>Agents</a:t>
            </a:r>
            <a:endParaRPr lang="en-US" sz="1500" dirty="0"/>
          </a:p>
        </p:txBody>
      </p:sp>
      <p:sp>
        <p:nvSpPr>
          <p:cNvPr id="22" name="card-481"/>
          <p:cNvSpPr/>
          <p:nvPr/>
        </p:nvSpPr>
        <p:spPr>
          <a:xfrm>
            <a:off x="2743200" y="3273552"/>
            <a:ext cx="1691640" cy="365760"/>
          </a:xfrm>
          <a:prstGeom prst="roundRect">
            <a:avLst>
              <a:gd name="adj" fmla="val 15000"/>
            </a:avLst>
          </a:prstGeom>
          <a:solidFill>
            <a:schemeClr val="accent1"/>
          </a:solidFill>
          <a:ln/>
        </p:spPr>
      </p:sp>
      <p:sp>
        <p:nvSpPr>
          <p:cNvPr id="23" name="text-482"/>
          <p:cNvSpPr txBox="1"/>
          <p:nvPr/>
        </p:nvSpPr>
        <p:spPr>
          <a:xfrm>
            <a:off x="2743200" y="3273552"/>
            <a:ext cx="1691640" cy="365760"/>
          </a:xfrm>
          <a:prstGeom prst="rect">
            <a:avLst/>
          </a:prstGeom>
          <a:noFill/>
          <a:ln/>
        </p:spPr>
        <p:txBody>
          <a:bodyPr wrap="square" lIns="0" tIns="0" rIns="0" bIns="0" rtlCol="0" anchor="ctr"/>
          <a:lstStyle/>
          <a:p>
            <a:pPr algn="ctr" indent="0" marL="0">
              <a:buNone/>
            </a:pPr>
            <a:r>
              <a:rPr lang="en-US" sz="1400" b="1" dirty="0">
                <a:solidFill>
                  <a:schemeClr val="bg1"/>
                </a:solidFill>
              </a:rPr>
              <a:t>1 · Analyst</a:t>
            </a:r>
            <a:endParaRPr lang="en-US" sz="1400" dirty="0"/>
          </a:p>
        </p:txBody>
      </p:sp>
      <p:sp>
        <p:nvSpPr>
          <p:cNvPr id="24" name="card-483"/>
          <p:cNvSpPr/>
          <p:nvPr/>
        </p:nvSpPr>
        <p:spPr>
          <a:xfrm>
            <a:off x="4572000" y="3273552"/>
            <a:ext cx="1691640" cy="365760"/>
          </a:xfrm>
          <a:prstGeom prst="roundRect">
            <a:avLst>
              <a:gd name="adj" fmla="val 15000"/>
            </a:avLst>
          </a:prstGeom>
          <a:solidFill>
            <a:schemeClr val="accent1"/>
          </a:solidFill>
          <a:ln/>
        </p:spPr>
      </p:sp>
      <p:sp>
        <p:nvSpPr>
          <p:cNvPr id="25" name="text-484"/>
          <p:cNvSpPr txBox="1"/>
          <p:nvPr/>
        </p:nvSpPr>
        <p:spPr>
          <a:xfrm>
            <a:off x="4572000" y="3273552"/>
            <a:ext cx="1691640" cy="365760"/>
          </a:xfrm>
          <a:prstGeom prst="rect">
            <a:avLst/>
          </a:prstGeom>
          <a:noFill/>
          <a:ln/>
        </p:spPr>
        <p:txBody>
          <a:bodyPr wrap="square" lIns="0" tIns="0" rIns="0" bIns="0" rtlCol="0" anchor="ctr"/>
          <a:lstStyle/>
          <a:p>
            <a:pPr algn="ctr" indent="0" marL="0">
              <a:buNone/>
            </a:pPr>
            <a:r>
              <a:rPr lang="en-US" sz="1400" b="1" dirty="0">
                <a:solidFill>
                  <a:schemeClr val="bg1"/>
                </a:solidFill>
              </a:rPr>
              <a:t>2 · Routing</a:t>
            </a:r>
            <a:endParaRPr lang="en-US" sz="1400" dirty="0"/>
          </a:p>
        </p:txBody>
      </p:sp>
      <p:sp>
        <p:nvSpPr>
          <p:cNvPr id="26" name="card-485"/>
          <p:cNvSpPr/>
          <p:nvPr/>
        </p:nvSpPr>
        <p:spPr>
          <a:xfrm>
            <a:off x="6400800" y="3273552"/>
            <a:ext cx="1691640" cy="365760"/>
          </a:xfrm>
          <a:prstGeom prst="roundRect">
            <a:avLst>
              <a:gd name="adj" fmla="val 15000"/>
            </a:avLst>
          </a:prstGeom>
          <a:solidFill>
            <a:schemeClr val="accent1"/>
          </a:solidFill>
          <a:ln/>
        </p:spPr>
      </p:sp>
      <p:sp>
        <p:nvSpPr>
          <p:cNvPr id="27" name="text-486"/>
          <p:cNvSpPr txBox="1"/>
          <p:nvPr/>
        </p:nvSpPr>
        <p:spPr>
          <a:xfrm>
            <a:off x="6400800" y="3273552"/>
            <a:ext cx="1691640" cy="365760"/>
          </a:xfrm>
          <a:prstGeom prst="rect">
            <a:avLst/>
          </a:prstGeom>
          <a:noFill/>
          <a:ln/>
        </p:spPr>
        <p:txBody>
          <a:bodyPr wrap="square" lIns="0" tIns="0" rIns="0" bIns="0" rtlCol="0" anchor="ctr"/>
          <a:lstStyle/>
          <a:p>
            <a:pPr algn="ctr" indent="0" marL="0">
              <a:buNone/>
            </a:pPr>
            <a:r>
              <a:rPr lang="en-US" sz="1400" b="1" dirty="0">
                <a:solidFill>
                  <a:schemeClr val="bg1"/>
                </a:solidFill>
              </a:rPr>
              <a:t>3 · Monitoring</a:t>
            </a:r>
            <a:endParaRPr lang="en-US" sz="1400" dirty="0"/>
          </a:p>
        </p:txBody>
      </p:sp>
      <p:sp>
        <p:nvSpPr>
          <p:cNvPr id="28" name="card-487"/>
          <p:cNvSpPr/>
          <p:nvPr/>
        </p:nvSpPr>
        <p:spPr>
          <a:xfrm>
            <a:off x="548640" y="3813048"/>
            <a:ext cx="7818120" cy="530352"/>
          </a:xfrm>
          <a:prstGeom prst="roundRect">
            <a:avLst>
              <a:gd name="adj" fmla="val 17241"/>
            </a:avLst>
          </a:prstGeom>
          <a:solidFill>
            <a:schemeClr val="bg2"/>
          </a:solidFill>
          <a:ln/>
        </p:spPr>
      </p:sp>
      <p:sp>
        <p:nvSpPr>
          <p:cNvPr id="29" name="icon-bg-488"/>
          <p:cNvSpPr/>
          <p:nvPr/>
        </p:nvSpPr>
        <p:spPr>
          <a:xfrm>
            <a:off x="685800" y="3895344"/>
            <a:ext cx="365760" cy="365760"/>
          </a:xfrm>
          <a:prstGeom prst="ellipse">
            <a:avLst/>
          </a:prstGeom>
          <a:solidFill>
            <a:schemeClr val="accent6"/>
          </a:solidFill>
          <a:ln/>
        </p:spPr>
      </p:sp>
      <p:pic>
        <p:nvPicPr>
          <p:cNvPr id="30" name="icon-489" descr="ShieldAlt icon">    </p:cNvPr>
          <p:cNvPicPr>
            <a:picLocks noChangeAspect="1"/>
          </p:cNvPicPr>
          <p:nvPr/>
        </p:nvPicPr>
        <p:blipFill>
          <a:blip r:embed="rId5"/>
          <a:stretch>
            <a:fillRect/>
          </a:stretch>
        </p:blipFill>
        <p:spPr>
          <a:xfrm>
            <a:off x="777240" y="3986784"/>
            <a:ext cx="182880" cy="182880"/>
          </a:xfrm>
          <a:prstGeom prst="rect">
            <a:avLst/>
          </a:prstGeom>
        </p:spPr>
      </p:pic>
      <p:sp>
        <p:nvSpPr>
          <p:cNvPr id="31" name="text-490"/>
          <p:cNvSpPr txBox="1"/>
          <p:nvPr/>
        </p:nvSpPr>
        <p:spPr>
          <a:xfrm>
            <a:off x="1188720" y="3813048"/>
            <a:ext cx="1554480" cy="530352"/>
          </a:xfrm>
          <a:prstGeom prst="rect">
            <a:avLst/>
          </a:prstGeom>
          <a:noFill/>
          <a:ln/>
        </p:spPr>
        <p:txBody>
          <a:bodyPr wrap="square" lIns="0" tIns="0" rIns="0" bIns="0" rtlCol="0" anchor="ctr"/>
          <a:lstStyle/>
          <a:p>
            <a:pPr indent="0" marL="0">
              <a:buNone/>
            </a:pPr>
            <a:r>
              <a:rPr lang="en-US" sz="1500" b="1" dirty="0">
                <a:solidFill>
                  <a:schemeClr val="tx1"/>
                </a:solidFill>
              </a:rPr>
              <a:t>Agent harness</a:t>
            </a:r>
            <a:endParaRPr lang="en-US" sz="1500" dirty="0"/>
          </a:p>
        </p:txBody>
      </p:sp>
      <p:sp>
        <p:nvSpPr>
          <p:cNvPr id="32" name="text-491"/>
          <p:cNvSpPr txBox="1"/>
          <p:nvPr/>
        </p:nvSpPr>
        <p:spPr>
          <a:xfrm>
            <a:off x="2743200" y="3813048"/>
            <a:ext cx="5486400" cy="530352"/>
          </a:xfrm>
          <a:prstGeom prst="rect">
            <a:avLst/>
          </a:prstGeom>
          <a:noFill/>
          <a:ln/>
        </p:spPr>
        <p:txBody>
          <a:bodyPr wrap="square" lIns="0" tIns="0" rIns="0" bIns="0" rtlCol="0" anchor="ctr"/>
          <a:lstStyle/>
          <a:p>
            <a:pPr indent="0" marL="0">
              <a:buNone/>
            </a:pPr>
            <a:r>
              <a:rPr lang="en-US" sz="1400" dirty="0">
                <a:solidFill>
                  <a:schemeClr val="tx2"/>
                </a:solidFill>
              </a:rPr>
              <a:t>Permissions, guardrails, retries, logging, review</a:t>
            </a:r>
            <a:endParaRPr lang="en-US" sz="1400" dirty="0"/>
          </a:p>
        </p:txBody>
      </p:sp>
      <p:sp>
        <p:nvSpPr>
          <p:cNvPr id="33" name="card-492"/>
          <p:cNvSpPr/>
          <p:nvPr/>
        </p:nvSpPr>
        <p:spPr>
          <a:xfrm>
            <a:off x="548640" y="4434840"/>
            <a:ext cx="7818120" cy="530352"/>
          </a:xfrm>
          <a:prstGeom prst="roundRect">
            <a:avLst>
              <a:gd name="adj" fmla="val 17241"/>
            </a:avLst>
          </a:prstGeom>
          <a:solidFill>
            <a:schemeClr val="bg2"/>
          </a:solidFill>
          <a:ln/>
        </p:spPr>
      </p:sp>
      <p:sp>
        <p:nvSpPr>
          <p:cNvPr id="34" name="icon-bg-493"/>
          <p:cNvSpPr/>
          <p:nvPr/>
        </p:nvSpPr>
        <p:spPr>
          <a:xfrm>
            <a:off x="685800" y="4517136"/>
            <a:ext cx="365760" cy="365760"/>
          </a:xfrm>
          <a:prstGeom prst="ellipse">
            <a:avLst/>
          </a:prstGeom>
          <a:solidFill>
            <a:schemeClr val="accent2"/>
          </a:solidFill>
          <a:ln/>
        </p:spPr>
      </p:sp>
      <p:pic>
        <p:nvPicPr>
          <p:cNvPr id="35" name="icon-494" descr="Brain icon">    </p:cNvPr>
          <p:cNvPicPr>
            <a:picLocks noChangeAspect="1"/>
          </p:cNvPicPr>
          <p:nvPr/>
        </p:nvPicPr>
        <p:blipFill>
          <a:blip r:embed="rId6"/>
          <a:stretch>
            <a:fillRect/>
          </a:stretch>
        </p:blipFill>
        <p:spPr>
          <a:xfrm>
            <a:off x="777240" y="4608576"/>
            <a:ext cx="182880" cy="182880"/>
          </a:xfrm>
          <a:prstGeom prst="rect">
            <a:avLst/>
          </a:prstGeom>
        </p:spPr>
      </p:pic>
      <p:sp>
        <p:nvSpPr>
          <p:cNvPr id="36" name="text-495"/>
          <p:cNvSpPr txBox="1"/>
          <p:nvPr/>
        </p:nvSpPr>
        <p:spPr>
          <a:xfrm>
            <a:off x="1188720" y="4434840"/>
            <a:ext cx="1554480" cy="530352"/>
          </a:xfrm>
          <a:prstGeom prst="rect">
            <a:avLst/>
          </a:prstGeom>
          <a:noFill/>
          <a:ln/>
        </p:spPr>
        <p:txBody>
          <a:bodyPr wrap="square" lIns="0" tIns="0" rIns="0" bIns="0" rtlCol="0" anchor="ctr"/>
          <a:lstStyle/>
          <a:p>
            <a:pPr indent="0" marL="0">
              <a:buNone/>
            </a:pPr>
            <a:r>
              <a:rPr lang="en-US" sz="1500" b="1" dirty="0">
                <a:solidFill>
                  <a:schemeClr val="tx1"/>
                </a:solidFill>
              </a:rPr>
              <a:t>Context</a:t>
            </a:r>
            <a:endParaRPr lang="en-US" sz="1500" dirty="0"/>
          </a:p>
        </p:txBody>
      </p:sp>
      <p:sp>
        <p:nvSpPr>
          <p:cNvPr id="37" name="text-496"/>
          <p:cNvSpPr txBox="1"/>
          <p:nvPr/>
        </p:nvSpPr>
        <p:spPr>
          <a:xfrm>
            <a:off x="2743200" y="4434840"/>
            <a:ext cx="5486400" cy="530352"/>
          </a:xfrm>
          <a:prstGeom prst="rect">
            <a:avLst/>
          </a:prstGeom>
          <a:noFill/>
          <a:ln/>
        </p:spPr>
        <p:txBody>
          <a:bodyPr wrap="square" lIns="0" tIns="0" rIns="0" bIns="0" rtlCol="0" anchor="ctr"/>
          <a:lstStyle/>
          <a:p>
            <a:pPr indent="0" marL="0">
              <a:buNone/>
            </a:pPr>
            <a:r>
              <a:rPr lang="en-US" sz="1400" dirty="0">
                <a:solidFill>
                  <a:schemeClr val="tx2"/>
                </a:solidFill>
              </a:rPr>
              <a:t>RAG: policies, SLA rules, jurisdiction, history</a:t>
            </a:r>
            <a:endParaRPr lang="en-US" sz="1400" dirty="0"/>
          </a:p>
        </p:txBody>
      </p:sp>
      <p:sp>
        <p:nvSpPr>
          <p:cNvPr id="38" name="card-497"/>
          <p:cNvSpPr/>
          <p:nvPr/>
        </p:nvSpPr>
        <p:spPr>
          <a:xfrm>
            <a:off x="548640" y="5056632"/>
            <a:ext cx="7818120" cy="530352"/>
          </a:xfrm>
          <a:prstGeom prst="roundRect">
            <a:avLst>
              <a:gd name="adj" fmla="val 17241"/>
            </a:avLst>
          </a:prstGeom>
          <a:solidFill>
            <a:schemeClr val="bg2"/>
          </a:solidFill>
          <a:ln/>
        </p:spPr>
      </p:sp>
      <p:sp>
        <p:nvSpPr>
          <p:cNvPr id="39" name="icon-bg-498"/>
          <p:cNvSpPr/>
          <p:nvPr/>
        </p:nvSpPr>
        <p:spPr>
          <a:xfrm>
            <a:off x="685800" y="5138928"/>
            <a:ext cx="365760" cy="365760"/>
          </a:xfrm>
          <a:prstGeom prst="ellipse">
            <a:avLst/>
          </a:prstGeom>
          <a:solidFill>
            <a:schemeClr val="accent2"/>
          </a:solidFill>
          <a:ln/>
        </p:spPr>
      </p:sp>
      <p:pic>
        <p:nvPicPr>
          <p:cNvPr id="40" name="icon-499" descr="Tools icon">    </p:cNvPr>
          <p:cNvPicPr>
            <a:picLocks noChangeAspect="1"/>
          </p:cNvPicPr>
          <p:nvPr/>
        </p:nvPicPr>
        <p:blipFill>
          <a:blip r:embed="rId7"/>
          <a:stretch>
            <a:fillRect/>
          </a:stretch>
        </p:blipFill>
        <p:spPr>
          <a:xfrm>
            <a:off x="777240" y="5230368"/>
            <a:ext cx="182880" cy="182880"/>
          </a:xfrm>
          <a:prstGeom prst="rect">
            <a:avLst/>
          </a:prstGeom>
        </p:spPr>
      </p:pic>
      <p:sp>
        <p:nvSpPr>
          <p:cNvPr id="41" name="text-500"/>
          <p:cNvSpPr txBox="1"/>
          <p:nvPr/>
        </p:nvSpPr>
        <p:spPr>
          <a:xfrm>
            <a:off x="1188720" y="5056632"/>
            <a:ext cx="1554480" cy="530352"/>
          </a:xfrm>
          <a:prstGeom prst="rect">
            <a:avLst/>
          </a:prstGeom>
          <a:noFill/>
          <a:ln/>
        </p:spPr>
        <p:txBody>
          <a:bodyPr wrap="square" lIns="0" tIns="0" rIns="0" bIns="0" rtlCol="0" anchor="ctr"/>
          <a:lstStyle/>
          <a:p>
            <a:pPr indent="0" marL="0">
              <a:buNone/>
            </a:pPr>
            <a:r>
              <a:rPr lang="en-US" sz="1500" b="1" dirty="0">
                <a:solidFill>
                  <a:schemeClr val="tx1"/>
                </a:solidFill>
              </a:rPr>
              <a:t>Tools</a:t>
            </a:r>
            <a:endParaRPr lang="en-US" sz="1500" dirty="0"/>
          </a:p>
        </p:txBody>
      </p:sp>
      <p:sp>
        <p:nvSpPr>
          <p:cNvPr id="42" name="text-501"/>
          <p:cNvSpPr txBox="1"/>
          <p:nvPr/>
        </p:nvSpPr>
        <p:spPr>
          <a:xfrm>
            <a:off x="2743200" y="5056632"/>
            <a:ext cx="5486400" cy="530352"/>
          </a:xfrm>
          <a:prstGeom prst="rect">
            <a:avLst/>
          </a:prstGeom>
          <a:noFill/>
          <a:ln/>
        </p:spPr>
        <p:txBody>
          <a:bodyPr wrap="square" lIns="0" tIns="0" rIns="0" bIns="0" rtlCol="0" anchor="ctr"/>
          <a:lstStyle/>
          <a:p>
            <a:pPr indent="0" marL="0">
              <a:buNone/>
            </a:pPr>
            <a:r>
              <a:rPr lang="en-US" sz="1400" dirty="0">
                <a:solidFill>
                  <a:schemeClr val="tx2"/>
                </a:solidFill>
              </a:rPr>
              <a:t>Assign, notify, escalate, authority lookups</a:t>
            </a:r>
            <a:endParaRPr lang="en-US" sz="1400" dirty="0"/>
          </a:p>
        </p:txBody>
      </p:sp>
      <p:sp>
        <p:nvSpPr>
          <p:cNvPr id="43" name="card-502"/>
          <p:cNvSpPr/>
          <p:nvPr/>
        </p:nvSpPr>
        <p:spPr>
          <a:xfrm>
            <a:off x="548640" y="5678424"/>
            <a:ext cx="7818120" cy="530352"/>
          </a:xfrm>
          <a:prstGeom prst="roundRect">
            <a:avLst>
              <a:gd name="adj" fmla="val 17241"/>
            </a:avLst>
          </a:prstGeom>
          <a:solidFill>
            <a:schemeClr val="bg2"/>
          </a:solidFill>
          <a:ln/>
        </p:spPr>
      </p:sp>
      <p:sp>
        <p:nvSpPr>
          <p:cNvPr id="44" name="icon-bg-503"/>
          <p:cNvSpPr/>
          <p:nvPr/>
        </p:nvSpPr>
        <p:spPr>
          <a:xfrm>
            <a:off x="685800" y="5760720"/>
            <a:ext cx="365760" cy="365760"/>
          </a:xfrm>
          <a:prstGeom prst="ellipse">
            <a:avLst/>
          </a:prstGeom>
          <a:solidFill>
            <a:schemeClr val="accent5"/>
          </a:solidFill>
          <a:ln/>
        </p:spPr>
      </p:sp>
      <p:pic>
        <p:nvPicPr>
          <p:cNvPr id="45" name="icon-504" descr="Database icon">    </p:cNvPr>
          <p:cNvPicPr>
            <a:picLocks noChangeAspect="1"/>
          </p:cNvPicPr>
          <p:nvPr/>
        </p:nvPicPr>
        <p:blipFill>
          <a:blip r:embed="rId8"/>
          <a:stretch>
            <a:fillRect/>
          </a:stretch>
        </p:blipFill>
        <p:spPr>
          <a:xfrm>
            <a:off x="777240" y="5852160"/>
            <a:ext cx="182880" cy="182880"/>
          </a:xfrm>
          <a:prstGeom prst="rect">
            <a:avLst/>
          </a:prstGeom>
        </p:spPr>
      </p:pic>
      <p:sp>
        <p:nvSpPr>
          <p:cNvPr id="46" name="text-505"/>
          <p:cNvSpPr txBox="1"/>
          <p:nvPr/>
        </p:nvSpPr>
        <p:spPr>
          <a:xfrm>
            <a:off x="1188720" y="5678424"/>
            <a:ext cx="1554480" cy="530352"/>
          </a:xfrm>
          <a:prstGeom prst="rect">
            <a:avLst/>
          </a:prstGeom>
          <a:noFill/>
          <a:ln/>
        </p:spPr>
        <p:txBody>
          <a:bodyPr wrap="square" lIns="0" tIns="0" rIns="0" bIns="0" rtlCol="0" anchor="ctr"/>
          <a:lstStyle/>
          <a:p>
            <a:pPr indent="0" marL="0">
              <a:buNone/>
            </a:pPr>
            <a:r>
              <a:rPr lang="en-US" sz="1500" b="1" dirty="0">
                <a:solidFill>
                  <a:schemeClr val="tx1"/>
                </a:solidFill>
              </a:rPr>
              <a:t>Data</a:t>
            </a:r>
            <a:endParaRPr lang="en-US" sz="1500" dirty="0"/>
          </a:p>
        </p:txBody>
      </p:sp>
      <p:sp>
        <p:nvSpPr>
          <p:cNvPr id="47" name="text-506"/>
          <p:cNvSpPr txBox="1"/>
          <p:nvPr/>
        </p:nvSpPr>
        <p:spPr>
          <a:xfrm>
            <a:off x="2743200" y="5678424"/>
            <a:ext cx="5486400" cy="530352"/>
          </a:xfrm>
          <a:prstGeom prst="rect">
            <a:avLst/>
          </a:prstGeom>
          <a:noFill/>
          <a:ln/>
        </p:spPr>
        <p:txBody>
          <a:bodyPr wrap="square" lIns="0" tIns="0" rIns="0" bIns="0" rtlCol="0" anchor="ctr"/>
          <a:lstStyle/>
          <a:p>
            <a:pPr indent="0" marL="0">
              <a:buNone/>
            </a:pPr>
            <a:r>
              <a:rPr lang="en-US" sz="1400" dirty="0">
                <a:solidFill>
                  <a:schemeClr val="tx2"/>
                </a:solidFill>
              </a:rPr>
              <a:t>PostgreSQL + pgvector: operational data and knowledge</a:t>
            </a:r>
            <a:endParaRPr lang="en-US" sz="1400" dirty="0"/>
          </a:p>
        </p:txBody>
      </p:sp>
      <p:sp>
        <p:nvSpPr>
          <p:cNvPr id="48" name="card-507"/>
          <p:cNvSpPr/>
          <p:nvPr/>
        </p:nvSpPr>
        <p:spPr>
          <a:xfrm>
            <a:off x="8641080" y="1325880"/>
            <a:ext cx="2999232" cy="4882896"/>
          </a:xfrm>
          <a:prstGeom prst="roundRect">
            <a:avLst>
              <a:gd name="adj" fmla="val 3049"/>
            </a:avLst>
          </a:prstGeom>
          <a:solidFill>
            <a:schemeClr val="tx1"/>
          </a:solidFill>
          <a:ln/>
        </p:spPr>
      </p:sp>
      <p:sp>
        <p:nvSpPr>
          <p:cNvPr id="49" name="text-508"/>
          <p:cNvSpPr txBox="1"/>
          <p:nvPr/>
        </p:nvSpPr>
        <p:spPr>
          <a:xfrm>
            <a:off x="8915400" y="1554480"/>
            <a:ext cx="237744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REQUEST FLOW</a:t>
            </a:r>
            <a:endParaRPr lang="en-US" sz="1200" dirty="0"/>
          </a:p>
        </p:txBody>
      </p:sp>
      <p:sp>
        <p:nvSpPr>
          <p:cNvPr id="50" name="card-509"/>
          <p:cNvSpPr/>
          <p:nvPr/>
        </p:nvSpPr>
        <p:spPr>
          <a:xfrm>
            <a:off x="8915400" y="1965960"/>
            <a:ext cx="2450592" cy="411480"/>
          </a:xfrm>
          <a:prstGeom prst="roundRect">
            <a:avLst>
              <a:gd name="adj" fmla="val 13333"/>
            </a:avLst>
          </a:prstGeom>
          <a:solidFill>
            <a:schemeClr val="tx2"/>
          </a:solidFill>
          <a:ln/>
        </p:spPr>
      </p:sp>
      <p:sp>
        <p:nvSpPr>
          <p:cNvPr id="51" name="text-510"/>
          <p:cNvSpPr txBox="1"/>
          <p:nvPr/>
        </p:nvSpPr>
        <p:spPr>
          <a:xfrm>
            <a:off x="8915400" y="1965960"/>
            <a:ext cx="2450592" cy="411480"/>
          </a:xfrm>
          <a:prstGeom prst="rect">
            <a:avLst/>
          </a:prstGeom>
          <a:noFill/>
          <a:ln/>
        </p:spPr>
        <p:txBody>
          <a:bodyPr wrap="square" lIns="0" tIns="0" rIns="0" bIns="0" rtlCol="0" anchor="ctr"/>
          <a:lstStyle/>
          <a:p>
            <a:pPr algn="ctr" indent="0" marL="0">
              <a:buNone/>
            </a:pPr>
            <a:r>
              <a:rPr lang="en-US" sz="1400" b="1" dirty="0">
                <a:solidFill>
                  <a:schemeClr val="bg1"/>
                </a:solidFill>
              </a:rPr>
              <a:t>Frontend</a:t>
            </a:r>
            <a:endParaRPr lang="en-US" sz="1400" dirty="0"/>
          </a:p>
        </p:txBody>
      </p:sp>
      <p:sp>
        <p:nvSpPr>
          <p:cNvPr id="52" name="arrow-511"/>
          <p:cNvSpPr/>
          <p:nvPr/>
        </p:nvSpPr>
        <p:spPr>
          <a:xfrm>
            <a:off x="10140696" y="2386584"/>
            <a:ext cx="0" cy="164592"/>
          </a:xfrm>
          <a:prstGeom prst="line">
            <a:avLst/>
          </a:prstGeom>
          <a:noFill/>
          <a:ln w="19050">
            <a:solidFill>
              <a:schemeClr val="accent2"/>
            </a:solidFill>
            <a:prstDash val="solid"/>
            <a:tailEnd type="triangle"/>
          </a:ln>
        </p:spPr>
      </p:sp>
      <p:sp>
        <p:nvSpPr>
          <p:cNvPr id="53" name="card-512"/>
          <p:cNvSpPr/>
          <p:nvPr/>
        </p:nvSpPr>
        <p:spPr>
          <a:xfrm>
            <a:off x="8915400" y="2560320"/>
            <a:ext cx="2450592" cy="411480"/>
          </a:xfrm>
          <a:prstGeom prst="roundRect">
            <a:avLst>
              <a:gd name="adj" fmla="val 13333"/>
            </a:avLst>
          </a:prstGeom>
          <a:solidFill>
            <a:schemeClr val="tx2"/>
          </a:solidFill>
          <a:ln/>
        </p:spPr>
      </p:sp>
      <p:sp>
        <p:nvSpPr>
          <p:cNvPr id="54" name="text-513"/>
          <p:cNvSpPr txBox="1"/>
          <p:nvPr/>
        </p:nvSpPr>
        <p:spPr>
          <a:xfrm>
            <a:off x="8915400" y="2560320"/>
            <a:ext cx="2450592" cy="411480"/>
          </a:xfrm>
          <a:prstGeom prst="rect">
            <a:avLst/>
          </a:prstGeom>
          <a:noFill/>
          <a:ln/>
        </p:spPr>
        <p:txBody>
          <a:bodyPr wrap="square" lIns="0" tIns="0" rIns="0" bIns="0" rtlCol="0" anchor="ctr"/>
          <a:lstStyle/>
          <a:p>
            <a:pPr algn="ctr" indent="0" marL="0">
              <a:buNone/>
            </a:pPr>
            <a:r>
              <a:rPr lang="en-US" sz="1400" b="1" dirty="0">
                <a:solidFill>
                  <a:schemeClr val="bg1"/>
                </a:solidFill>
              </a:rPr>
              <a:t>FastAPI</a:t>
            </a:r>
            <a:endParaRPr lang="en-US" sz="1400" dirty="0"/>
          </a:p>
        </p:txBody>
      </p:sp>
      <p:sp>
        <p:nvSpPr>
          <p:cNvPr id="55" name="arrow-514"/>
          <p:cNvSpPr/>
          <p:nvPr/>
        </p:nvSpPr>
        <p:spPr>
          <a:xfrm>
            <a:off x="10140696" y="2980944"/>
            <a:ext cx="0" cy="164592"/>
          </a:xfrm>
          <a:prstGeom prst="line">
            <a:avLst/>
          </a:prstGeom>
          <a:noFill/>
          <a:ln w="19050">
            <a:solidFill>
              <a:schemeClr val="accent2"/>
            </a:solidFill>
            <a:prstDash val="solid"/>
            <a:tailEnd type="triangle"/>
          </a:ln>
        </p:spPr>
      </p:sp>
      <p:sp>
        <p:nvSpPr>
          <p:cNvPr id="56" name="card-515"/>
          <p:cNvSpPr/>
          <p:nvPr/>
        </p:nvSpPr>
        <p:spPr>
          <a:xfrm>
            <a:off x="8915400" y="3154680"/>
            <a:ext cx="2450592" cy="411480"/>
          </a:xfrm>
          <a:prstGeom prst="roundRect">
            <a:avLst>
              <a:gd name="adj" fmla="val 13333"/>
            </a:avLst>
          </a:prstGeom>
          <a:solidFill>
            <a:schemeClr val="tx2"/>
          </a:solidFill>
          <a:ln/>
        </p:spPr>
      </p:sp>
      <p:sp>
        <p:nvSpPr>
          <p:cNvPr id="57" name="text-516"/>
          <p:cNvSpPr txBox="1"/>
          <p:nvPr/>
        </p:nvSpPr>
        <p:spPr>
          <a:xfrm>
            <a:off x="8915400" y="3154680"/>
            <a:ext cx="2450592" cy="411480"/>
          </a:xfrm>
          <a:prstGeom prst="rect">
            <a:avLst/>
          </a:prstGeom>
          <a:noFill/>
          <a:ln/>
        </p:spPr>
        <p:txBody>
          <a:bodyPr wrap="square" lIns="0" tIns="0" rIns="0" bIns="0" rtlCol="0" anchor="ctr"/>
          <a:lstStyle/>
          <a:p>
            <a:pPr algn="ctr" indent="0" marL="0">
              <a:buNone/>
            </a:pPr>
            <a:r>
              <a:rPr lang="en-US" sz="1400" b="1" dirty="0">
                <a:solidFill>
                  <a:schemeClr val="bg1"/>
                </a:solidFill>
              </a:rPr>
              <a:t>LangGraph</a:t>
            </a:r>
            <a:endParaRPr lang="en-US" sz="1400" dirty="0"/>
          </a:p>
        </p:txBody>
      </p:sp>
      <p:sp>
        <p:nvSpPr>
          <p:cNvPr id="58" name="arrow-517"/>
          <p:cNvSpPr/>
          <p:nvPr/>
        </p:nvSpPr>
        <p:spPr>
          <a:xfrm>
            <a:off x="10140696" y="3575304"/>
            <a:ext cx="0" cy="164592"/>
          </a:xfrm>
          <a:prstGeom prst="line">
            <a:avLst/>
          </a:prstGeom>
          <a:noFill/>
          <a:ln w="19050">
            <a:solidFill>
              <a:schemeClr val="accent2"/>
            </a:solidFill>
            <a:prstDash val="solid"/>
            <a:tailEnd type="triangle"/>
          </a:ln>
        </p:spPr>
      </p:sp>
      <p:sp>
        <p:nvSpPr>
          <p:cNvPr id="59" name="card-518"/>
          <p:cNvSpPr/>
          <p:nvPr/>
        </p:nvSpPr>
        <p:spPr>
          <a:xfrm>
            <a:off x="8915400" y="3749040"/>
            <a:ext cx="2450592" cy="411480"/>
          </a:xfrm>
          <a:prstGeom prst="roundRect">
            <a:avLst>
              <a:gd name="adj" fmla="val 13333"/>
            </a:avLst>
          </a:prstGeom>
          <a:solidFill>
            <a:schemeClr val="tx2"/>
          </a:solidFill>
          <a:ln/>
        </p:spPr>
      </p:sp>
      <p:sp>
        <p:nvSpPr>
          <p:cNvPr id="60" name="text-519"/>
          <p:cNvSpPr txBox="1"/>
          <p:nvPr/>
        </p:nvSpPr>
        <p:spPr>
          <a:xfrm>
            <a:off x="8915400" y="3749040"/>
            <a:ext cx="2450592" cy="411480"/>
          </a:xfrm>
          <a:prstGeom prst="rect">
            <a:avLst/>
          </a:prstGeom>
          <a:noFill/>
          <a:ln/>
        </p:spPr>
        <p:txBody>
          <a:bodyPr wrap="square" lIns="0" tIns="0" rIns="0" bIns="0" rtlCol="0" anchor="ctr"/>
          <a:lstStyle/>
          <a:p>
            <a:pPr algn="ctr" indent="0" marL="0">
              <a:buNone/>
            </a:pPr>
            <a:r>
              <a:rPr lang="en-US" sz="1400" b="1" dirty="0">
                <a:solidFill>
                  <a:schemeClr val="bg1"/>
                </a:solidFill>
              </a:rPr>
              <a:t>AI agents</a:t>
            </a:r>
            <a:endParaRPr lang="en-US" sz="1400" dirty="0"/>
          </a:p>
        </p:txBody>
      </p:sp>
      <p:sp>
        <p:nvSpPr>
          <p:cNvPr id="61" name="arrow-520"/>
          <p:cNvSpPr/>
          <p:nvPr/>
        </p:nvSpPr>
        <p:spPr>
          <a:xfrm>
            <a:off x="10140696" y="4169664"/>
            <a:ext cx="0" cy="164592"/>
          </a:xfrm>
          <a:prstGeom prst="line">
            <a:avLst/>
          </a:prstGeom>
          <a:noFill/>
          <a:ln w="19050">
            <a:solidFill>
              <a:schemeClr val="accent2"/>
            </a:solidFill>
            <a:prstDash val="solid"/>
            <a:tailEnd type="triangle"/>
          </a:ln>
        </p:spPr>
      </p:sp>
      <p:sp>
        <p:nvSpPr>
          <p:cNvPr id="62" name="card-521"/>
          <p:cNvSpPr/>
          <p:nvPr/>
        </p:nvSpPr>
        <p:spPr>
          <a:xfrm>
            <a:off x="8915400" y="4343400"/>
            <a:ext cx="2450592" cy="411480"/>
          </a:xfrm>
          <a:prstGeom prst="roundRect">
            <a:avLst>
              <a:gd name="adj" fmla="val 13333"/>
            </a:avLst>
          </a:prstGeom>
          <a:solidFill>
            <a:schemeClr val="tx2"/>
          </a:solidFill>
          <a:ln/>
        </p:spPr>
      </p:sp>
      <p:sp>
        <p:nvSpPr>
          <p:cNvPr id="63" name="text-522"/>
          <p:cNvSpPr txBox="1"/>
          <p:nvPr/>
        </p:nvSpPr>
        <p:spPr>
          <a:xfrm>
            <a:off x="8915400" y="4343400"/>
            <a:ext cx="2450592" cy="411480"/>
          </a:xfrm>
          <a:prstGeom prst="rect">
            <a:avLst/>
          </a:prstGeom>
          <a:noFill/>
          <a:ln/>
        </p:spPr>
        <p:txBody>
          <a:bodyPr wrap="square" lIns="0" tIns="0" rIns="0" bIns="0" rtlCol="0" anchor="ctr"/>
          <a:lstStyle/>
          <a:p>
            <a:pPr algn="ctr" indent="0" marL="0">
              <a:buNone/>
            </a:pPr>
            <a:r>
              <a:rPr lang="en-US" sz="1400" b="1" dirty="0">
                <a:solidFill>
                  <a:schemeClr val="bg1"/>
                </a:solidFill>
              </a:rPr>
              <a:t>Tools + context</a:t>
            </a:r>
            <a:endParaRPr lang="en-US" sz="1400" dirty="0"/>
          </a:p>
        </p:txBody>
      </p:sp>
      <p:sp>
        <p:nvSpPr>
          <p:cNvPr id="64" name="arrow-523"/>
          <p:cNvSpPr/>
          <p:nvPr/>
        </p:nvSpPr>
        <p:spPr>
          <a:xfrm>
            <a:off x="10140696" y="4764024"/>
            <a:ext cx="0" cy="164592"/>
          </a:xfrm>
          <a:prstGeom prst="line">
            <a:avLst/>
          </a:prstGeom>
          <a:noFill/>
          <a:ln w="19050">
            <a:solidFill>
              <a:schemeClr val="accent2"/>
            </a:solidFill>
            <a:prstDash val="solid"/>
            <a:tailEnd type="triangle"/>
          </a:ln>
        </p:spPr>
      </p:sp>
      <p:sp>
        <p:nvSpPr>
          <p:cNvPr id="65" name="card-524"/>
          <p:cNvSpPr/>
          <p:nvPr/>
        </p:nvSpPr>
        <p:spPr>
          <a:xfrm>
            <a:off x="8915400" y="4937760"/>
            <a:ext cx="2450592" cy="411480"/>
          </a:xfrm>
          <a:prstGeom prst="roundRect">
            <a:avLst>
              <a:gd name="adj" fmla="val 13333"/>
            </a:avLst>
          </a:prstGeom>
          <a:solidFill>
            <a:schemeClr val="tx2"/>
          </a:solidFill>
          <a:ln/>
        </p:spPr>
      </p:sp>
      <p:sp>
        <p:nvSpPr>
          <p:cNvPr id="66" name="text-525"/>
          <p:cNvSpPr txBox="1"/>
          <p:nvPr/>
        </p:nvSpPr>
        <p:spPr>
          <a:xfrm>
            <a:off x="8915400" y="4937760"/>
            <a:ext cx="2450592" cy="411480"/>
          </a:xfrm>
          <a:prstGeom prst="rect">
            <a:avLst/>
          </a:prstGeom>
          <a:noFill/>
          <a:ln/>
        </p:spPr>
        <p:txBody>
          <a:bodyPr wrap="square" lIns="0" tIns="0" rIns="0" bIns="0" rtlCol="0" anchor="ctr"/>
          <a:lstStyle/>
          <a:p>
            <a:pPr algn="ctr" indent="0" marL="0">
              <a:buNone/>
            </a:pPr>
            <a:r>
              <a:rPr lang="en-US" sz="1400" b="1" dirty="0">
                <a:solidFill>
                  <a:schemeClr val="bg1"/>
                </a:solidFill>
              </a:rPr>
              <a:t>Database + external</a:t>
            </a:r>
            <a:endParaRPr lang="en-US" sz="1400" dirty="0"/>
          </a:p>
        </p:txBody>
      </p:sp>
      <p:sp>
        <p:nvSpPr>
          <p:cNvPr id="67" name="arrow-526"/>
          <p:cNvSpPr/>
          <p:nvPr/>
        </p:nvSpPr>
        <p:spPr>
          <a:xfrm>
            <a:off x="10140696" y="5358384"/>
            <a:ext cx="0" cy="164592"/>
          </a:xfrm>
          <a:prstGeom prst="line">
            <a:avLst/>
          </a:prstGeom>
          <a:noFill/>
          <a:ln w="19050">
            <a:solidFill>
              <a:schemeClr val="accent2"/>
            </a:solidFill>
            <a:prstDash val="solid"/>
            <a:tailEnd type="triangle"/>
          </a:ln>
        </p:spPr>
      </p:sp>
      <p:sp>
        <p:nvSpPr>
          <p:cNvPr id="68" name="card-527"/>
          <p:cNvSpPr/>
          <p:nvPr/>
        </p:nvSpPr>
        <p:spPr>
          <a:xfrm>
            <a:off x="8915400" y="5532120"/>
            <a:ext cx="2450592" cy="411480"/>
          </a:xfrm>
          <a:prstGeom prst="roundRect">
            <a:avLst>
              <a:gd name="adj" fmla="val 13333"/>
            </a:avLst>
          </a:prstGeom>
          <a:solidFill>
            <a:schemeClr val="accent5"/>
          </a:solidFill>
          <a:ln/>
        </p:spPr>
      </p:sp>
      <p:sp>
        <p:nvSpPr>
          <p:cNvPr id="69" name="text-528"/>
          <p:cNvSpPr txBox="1"/>
          <p:nvPr/>
        </p:nvSpPr>
        <p:spPr>
          <a:xfrm>
            <a:off x="8915400" y="5532120"/>
            <a:ext cx="2450592" cy="411480"/>
          </a:xfrm>
          <a:prstGeom prst="rect">
            <a:avLst/>
          </a:prstGeom>
          <a:noFill/>
          <a:ln/>
        </p:spPr>
        <p:txBody>
          <a:bodyPr wrap="square" lIns="0" tIns="0" rIns="0" bIns="0" rtlCol="0" anchor="ctr"/>
          <a:lstStyle/>
          <a:p>
            <a:pPr algn="ctr" indent="0" marL="0">
              <a:buNone/>
            </a:pPr>
            <a:r>
              <a:rPr lang="en-US" sz="1400" b="1" dirty="0">
                <a:solidFill>
                  <a:schemeClr val="bg1"/>
                </a:solidFill>
              </a:rPr>
              <a:t>Result to user</a:t>
            </a:r>
            <a:endParaRPr lang="en-US" sz="1400" dirty="0"/>
          </a:p>
        </p:txBody>
      </p:sp>
      <p:sp>
        <p:nvSpPr>
          <p:cNvPr id="25" name="Slide Number Placeholder 0"/>
          <p:cNvSpPr>
            <a:spLocks noGrp="1"/>
          </p:cNvSpPr>
          <p:nvPr>
            <p:ph type="sldNum" sz="quarter" idx="4294967295"/>
          </p:nvPr>
        </p:nvSpPr>
        <p:spPr>
          <a:xfrm>
            <a:off x="10972800" y="6419088"/>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200" b="1" dirty="0">
                <a:solidFill>
                  <a:schemeClr val="tx1"/>
                </a:solidFill>
              </a:rPr>
              <a:t>Context, Agent Handoffs &amp; Tools</a:t>
            </a:r>
            <a:endParaRPr lang="en-US" sz="3200" dirty="0"/>
          </a:p>
        </p:txBody>
      </p:sp>
      <p:sp>
        <p:nvSpPr>
          <p:cNvPr id="3" name="card-529"/>
          <p:cNvSpPr/>
          <p:nvPr/>
        </p:nvSpPr>
        <p:spPr>
          <a:xfrm>
            <a:off x="548640" y="1371600"/>
            <a:ext cx="3520440" cy="4754880"/>
          </a:xfrm>
          <a:prstGeom prst="roundRect">
            <a:avLst>
              <a:gd name="adj" fmla="val 2597"/>
            </a:avLst>
          </a:prstGeom>
          <a:solidFill>
            <a:schemeClr val="bg2"/>
          </a:solidFill>
          <a:ln/>
        </p:spPr>
      </p:sp>
      <p:sp>
        <p:nvSpPr>
          <p:cNvPr id="4" name="icon-bg-530"/>
          <p:cNvSpPr/>
          <p:nvPr/>
        </p:nvSpPr>
        <p:spPr>
          <a:xfrm>
            <a:off x="777240" y="1600200"/>
            <a:ext cx="548640" cy="548640"/>
          </a:xfrm>
          <a:prstGeom prst="ellipse">
            <a:avLst/>
          </a:prstGeom>
          <a:solidFill>
            <a:schemeClr val="accent2"/>
          </a:solidFill>
          <a:ln/>
        </p:spPr>
      </p:sp>
      <p:pic>
        <p:nvPicPr>
          <p:cNvPr id="5" name="icon-531" descr="Brain icon">    </p:cNvPr>
          <p:cNvPicPr>
            <a:picLocks noChangeAspect="1"/>
          </p:cNvPicPr>
          <p:nvPr/>
        </p:nvPicPr>
        <p:blipFill>
          <a:blip r:embed="rId1"/>
          <a:stretch>
            <a:fillRect/>
          </a:stretch>
        </p:blipFill>
        <p:spPr>
          <a:xfrm>
            <a:off x="914400" y="1737360"/>
            <a:ext cx="274320" cy="274320"/>
          </a:xfrm>
          <a:prstGeom prst="rect">
            <a:avLst/>
          </a:prstGeom>
        </p:spPr>
      </p:pic>
      <p:sp>
        <p:nvSpPr>
          <p:cNvPr id="6" name="text-532"/>
          <p:cNvSpPr txBox="1"/>
          <p:nvPr/>
        </p:nvSpPr>
        <p:spPr>
          <a:xfrm>
            <a:off x="1508760" y="1600200"/>
            <a:ext cx="2423160" cy="548640"/>
          </a:xfrm>
          <a:prstGeom prst="rect">
            <a:avLst/>
          </a:prstGeom>
          <a:noFill/>
          <a:ln/>
        </p:spPr>
        <p:txBody>
          <a:bodyPr wrap="square" lIns="0" tIns="0" rIns="0" bIns="0" rtlCol="0" anchor="ctr"/>
          <a:lstStyle/>
          <a:p>
            <a:pPr indent="0" marL="0">
              <a:buNone/>
            </a:pPr>
            <a:r>
              <a:rPr lang="en-US" sz="1900" b="1" dirty="0">
                <a:solidFill>
                  <a:schemeClr val="tx1"/>
                </a:solidFill>
              </a:rPr>
              <a:t>Context-aware AI</a:t>
            </a:r>
            <a:endParaRPr lang="en-US" sz="1900" dirty="0"/>
          </a:p>
        </p:txBody>
      </p:sp>
      <p:sp>
        <p:nvSpPr>
          <p:cNvPr id="7" name="text-533"/>
          <p:cNvSpPr txBox="1"/>
          <p:nvPr/>
        </p:nvSpPr>
        <p:spPr>
          <a:xfrm>
            <a:off x="822960" y="2560320"/>
            <a:ext cx="2971800" cy="1828800"/>
          </a:xfrm>
          <a:prstGeom prst="rect">
            <a:avLst/>
          </a:prstGeom>
          <a:noFill/>
          <a:ln/>
        </p:spPr>
        <p:txBody>
          <a:bodyPr wrap="square" lIns="0" tIns="0" rIns="0" bIns="0" rtlCol="0" anchor="t"/>
          <a:lstStyle/>
          <a:p>
            <a:pPr marL="177800" indent="-177800">
              <a:spcAft>
                <a:spcPts val="800"/>
              </a:spcAft>
              <a:buSzPct val="100000"/>
              <a:buChar char="•"/>
            </a:pPr>
            <a:r>
              <a:rPr lang="en-US" sz="1600" dirty="0">
                <a:solidFill>
                  <a:schemeClr val="tx2"/>
                </a:solidFill>
              </a:rPr>
              <a:t>Department policies</a:t>
            </a:r>
            <a:endParaRPr lang="en-US" sz="1600" dirty="0"/>
          </a:p>
          <a:p>
            <a:pPr marL="177800" indent="-177800">
              <a:spcAft>
                <a:spcPts val="800"/>
              </a:spcAft>
              <a:buSzPct val="100000"/>
              <a:buChar char="•"/>
            </a:pPr>
            <a:r>
              <a:rPr lang="en-US" sz="1600" dirty="0">
                <a:solidFill>
                  <a:schemeClr val="tx2"/>
                </a:solidFill>
              </a:rPr>
              <a:t>Applicable SLA rules</a:t>
            </a:r>
            <a:endParaRPr lang="en-US" sz="1600" dirty="0"/>
          </a:p>
          <a:p>
            <a:pPr marL="177800" indent="-177800">
              <a:spcAft>
                <a:spcPts val="800"/>
              </a:spcAft>
              <a:buSzPct val="100000"/>
              <a:buChar char="•"/>
            </a:pPr>
            <a:r>
              <a:rPr lang="en-US" sz="1600" dirty="0">
                <a:solidFill>
                  <a:schemeClr val="tx2"/>
                </a:solidFill>
              </a:rPr>
              <a:t>Jurisdiction information</a:t>
            </a:r>
            <a:endParaRPr lang="en-US" sz="1600" dirty="0"/>
          </a:p>
          <a:p>
            <a:pPr marL="177800" indent="-177800">
              <a:spcAft>
                <a:spcPts val="800"/>
              </a:spcAft>
              <a:buSzPct val="100000"/>
              <a:buChar char="•"/>
            </a:pPr>
            <a:r>
              <a:rPr lang="en-US" sz="1600" dirty="0">
                <a:solidFill>
                  <a:schemeClr val="tx2"/>
                </a:solidFill>
              </a:rPr>
              <a:t>Previous complaint history</a:t>
            </a:r>
            <a:endParaRPr lang="en-US" sz="1600" dirty="0"/>
          </a:p>
        </p:txBody>
      </p:sp>
      <p:sp>
        <p:nvSpPr>
          <p:cNvPr id="8" name="card-534"/>
          <p:cNvSpPr/>
          <p:nvPr/>
        </p:nvSpPr>
        <p:spPr>
          <a:xfrm>
            <a:off x="822960" y="4663440"/>
            <a:ext cx="2971800" cy="1188720"/>
          </a:xfrm>
          <a:prstGeom prst="roundRect">
            <a:avLst>
              <a:gd name="adj" fmla="val 7692"/>
            </a:avLst>
          </a:prstGeom>
          <a:solidFill>
            <a:schemeClr val="tx1"/>
          </a:solidFill>
          <a:ln/>
        </p:spPr>
      </p:sp>
      <p:sp>
        <p:nvSpPr>
          <p:cNvPr id="9" name="text-535"/>
          <p:cNvSpPr txBox="1"/>
          <p:nvPr/>
        </p:nvSpPr>
        <p:spPr>
          <a:xfrm>
            <a:off x="1005840" y="4663440"/>
            <a:ext cx="2606040" cy="1188720"/>
          </a:xfrm>
          <a:prstGeom prst="rect">
            <a:avLst/>
          </a:prstGeom>
          <a:noFill/>
          <a:ln/>
        </p:spPr>
        <p:txBody>
          <a:bodyPr wrap="square" lIns="0" tIns="0" rIns="0" bIns="0" rtlCol="0" anchor="ctr"/>
          <a:lstStyle/>
          <a:p>
            <a:pPr indent="0" marL="0">
              <a:buNone/>
            </a:pPr>
            <a:r>
              <a:rPr lang="en-US" sz="1500" dirty="0">
                <a:solidFill>
                  <a:schemeClr val="bg1"/>
                </a:solidFill>
              </a:rPr>
              <a:t>Agents receive only the context that is relevant to their task.</a:t>
            </a:r>
            <a:endParaRPr lang="en-US" sz="1500" dirty="0"/>
          </a:p>
        </p:txBody>
      </p:sp>
      <p:sp>
        <p:nvSpPr>
          <p:cNvPr id="10" name="card-536"/>
          <p:cNvSpPr/>
          <p:nvPr/>
        </p:nvSpPr>
        <p:spPr>
          <a:xfrm>
            <a:off x="4334256" y="1371600"/>
            <a:ext cx="3520440" cy="4754880"/>
          </a:xfrm>
          <a:prstGeom prst="roundRect">
            <a:avLst>
              <a:gd name="adj" fmla="val 2597"/>
            </a:avLst>
          </a:prstGeom>
          <a:solidFill>
            <a:schemeClr val="bg2"/>
          </a:solidFill>
          <a:ln/>
        </p:spPr>
      </p:sp>
      <p:sp>
        <p:nvSpPr>
          <p:cNvPr id="11" name="icon-bg-537"/>
          <p:cNvSpPr/>
          <p:nvPr/>
        </p:nvSpPr>
        <p:spPr>
          <a:xfrm>
            <a:off x="4562856" y="1600200"/>
            <a:ext cx="548640" cy="548640"/>
          </a:xfrm>
          <a:prstGeom prst="ellipse">
            <a:avLst/>
          </a:prstGeom>
          <a:solidFill>
            <a:schemeClr val="accent1"/>
          </a:solidFill>
          <a:ln/>
        </p:spPr>
      </p:sp>
      <p:pic>
        <p:nvPicPr>
          <p:cNvPr id="12" name="icon-538" descr="ExchangeAlt icon">    </p:cNvPr>
          <p:cNvPicPr>
            <a:picLocks noChangeAspect="1"/>
          </p:cNvPicPr>
          <p:nvPr/>
        </p:nvPicPr>
        <p:blipFill>
          <a:blip r:embed="rId2"/>
          <a:stretch>
            <a:fillRect/>
          </a:stretch>
        </p:blipFill>
        <p:spPr>
          <a:xfrm>
            <a:off x="4700016" y="1737360"/>
            <a:ext cx="274320" cy="274320"/>
          </a:xfrm>
          <a:prstGeom prst="rect">
            <a:avLst/>
          </a:prstGeom>
        </p:spPr>
      </p:pic>
      <p:sp>
        <p:nvSpPr>
          <p:cNvPr id="13" name="text-539"/>
          <p:cNvSpPr txBox="1"/>
          <p:nvPr/>
        </p:nvSpPr>
        <p:spPr>
          <a:xfrm>
            <a:off x="5294376" y="1600200"/>
            <a:ext cx="2423160" cy="548640"/>
          </a:xfrm>
          <a:prstGeom prst="rect">
            <a:avLst/>
          </a:prstGeom>
          <a:noFill/>
          <a:ln/>
        </p:spPr>
        <p:txBody>
          <a:bodyPr wrap="square" lIns="0" tIns="0" rIns="0" bIns="0" rtlCol="0" anchor="ctr"/>
          <a:lstStyle/>
          <a:p>
            <a:pPr indent="0" marL="0">
              <a:buNone/>
            </a:pPr>
            <a:r>
              <a:rPr lang="en-US" sz="1900" b="1" dirty="0">
                <a:solidFill>
                  <a:schemeClr val="tx1"/>
                </a:solidFill>
              </a:rPr>
              <a:t>Agent-to-agent handoffs</a:t>
            </a:r>
            <a:endParaRPr lang="en-US" sz="1900" dirty="0"/>
          </a:p>
        </p:txBody>
      </p:sp>
      <p:sp>
        <p:nvSpPr>
          <p:cNvPr id="14" name="card-540"/>
          <p:cNvSpPr/>
          <p:nvPr/>
        </p:nvSpPr>
        <p:spPr>
          <a:xfrm>
            <a:off x="4608576" y="2514600"/>
            <a:ext cx="2103120" cy="502920"/>
          </a:xfrm>
          <a:prstGeom prst="roundRect">
            <a:avLst>
              <a:gd name="adj" fmla="val 10909"/>
            </a:avLst>
          </a:prstGeom>
          <a:solidFill>
            <a:schemeClr val="accent1"/>
          </a:solidFill>
          <a:ln/>
        </p:spPr>
      </p:sp>
      <p:sp>
        <p:nvSpPr>
          <p:cNvPr id="15" name="text-541"/>
          <p:cNvSpPr txBox="1"/>
          <p:nvPr/>
        </p:nvSpPr>
        <p:spPr>
          <a:xfrm>
            <a:off x="4608576" y="2514600"/>
            <a:ext cx="2103120" cy="502920"/>
          </a:xfrm>
          <a:prstGeom prst="rect">
            <a:avLst/>
          </a:prstGeom>
          <a:noFill/>
          <a:ln/>
        </p:spPr>
        <p:txBody>
          <a:bodyPr wrap="square" lIns="0" tIns="0" rIns="0" bIns="0" rtlCol="0" anchor="ctr"/>
          <a:lstStyle/>
          <a:p>
            <a:pPr algn="ctr" indent="0" marL="0">
              <a:buNone/>
            </a:pPr>
            <a:r>
              <a:rPr lang="en-US" sz="1400" b="1" dirty="0">
                <a:solidFill>
                  <a:schemeClr val="bg1"/>
                </a:solidFill>
              </a:rPr>
              <a:t>Complaint Analyst</a:t>
            </a:r>
            <a:endParaRPr lang="en-US" sz="1400" dirty="0"/>
          </a:p>
        </p:txBody>
      </p:sp>
      <p:sp>
        <p:nvSpPr>
          <p:cNvPr id="16" name="arrow-542"/>
          <p:cNvSpPr/>
          <p:nvPr/>
        </p:nvSpPr>
        <p:spPr>
          <a:xfrm>
            <a:off x="5660136" y="3035808"/>
            <a:ext cx="0" cy="512064"/>
          </a:xfrm>
          <a:prstGeom prst="line">
            <a:avLst/>
          </a:prstGeom>
          <a:noFill/>
          <a:ln w="25400">
            <a:solidFill>
              <a:schemeClr val="accent2"/>
            </a:solidFill>
            <a:prstDash val="solid"/>
            <a:tailEnd type="triangle"/>
          </a:ln>
        </p:spPr>
      </p:sp>
      <p:sp>
        <p:nvSpPr>
          <p:cNvPr id="17" name="text-543"/>
          <p:cNvSpPr txBox="1"/>
          <p:nvPr/>
        </p:nvSpPr>
        <p:spPr>
          <a:xfrm>
            <a:off x="5843016" y="3108960"/>
            <a:ext cx="1737360" cy="274320"/>
          </a:xfrm>
          <a:prstGeom prst="rect">
            <a:avLst/>
          </a:prstGeom>
          <a:noFill/>
          <a:ln/>
        </p:spPr>
        <p:txBody>
          <a:bodyPr wrap="square" lIns="0" tIns="0" rIns="0" bIns="0" rtlCol="0" anchor="t"/>
          <a:lstStyle/>
          <a:p>
            <a:pPr indent="0" marL="0">
              <a:buNone/>
            </a:pPr>
            <a:r>
              <a:rPr lang="en-US" sz="1300" i="1" dirty="0">
                <a:solidFill>
                  <a:schemeClr val="accent6"/>
                </a:solidFill>
              </a:rPr>
              <a:t>analysis result</a:t>
            </a:r>
            <a:endParaRPr lang="en-US" sz="1300" dirty="0"/>
          </a:p>
        </p:txBody>
      </p:sp>
      <p:sp>
        <p:nvSpPr>
          <p:cNvPr id="18" name="card-544"/>
          <p:cNvSpPr/>
          <p:nvPr/>
        </p:nvSpPr>
        <p:spPr>
          <a:xfrm>
            <a:off x="4608576" y="3566160"/>
            <a:ext cx="2103120" cy="502920"/>
          </a:xfrm>
          <a:prstGeom prst="roundRect">
            <a:avLst>
              <a:gd name="adj" fmla="val 10909"/>
            </a:avLst>
          </a:prstGeom>
          <a:solidFill>
            <a:schemeClr val="accent1"/>
          </a:solidFill>
          <a:ln/>
        </p:spPr>
      </p:sp>
      <p:sp>
        <p:nvSpPr>
          <p:cNvPr id="19" name="text-545"/>
          <p:cNvSpPr txBox="1"/>
          <p:nvPr/>
        </p:nvSpPr>
        <p:spPr>
          <a:xfrm>
            <a:off x="4608576" y="3566160"/>
            <a:ext cx="2103120" cy="502920"/>
          </a:xfrm>
          <a:prstGeom prst="rect">
            <a:avLst/>
          </a:prstGeom>
          <a:noFill/>
          <a:ln/>
        </p:spPr>
        <p:txBody>
          <a:bodyPr wrap="square" lIns="0" tIns="0" rIns="0" bIns="0" rtlCol="0" anchor="ctr"/>
          <a:lstStyle/>
          <a:p>
            <a:pPr algn="ctr" indent="0" marL="0">
              <a:buNone/>
            </a:pPr>
            <a:r>
              <a:rPr lang="en-US" sz="1400" b="1" dirty="0">
                <a:solidFill>
                  <a:schemeClr val="bg1"/>
                </a:solidFill>
              </a:rPr>
              <a:t>Resolution &amp; Routing</a:t>
            </a:r>
            <a:endParaRPr lang="en-US" sz="1400" dirty="0"/>
          </a:p>
        </p:txBody>
      </p:sp>
      <p:sp>
        <p:nvSpPr>
          <p:cNvPr id="20" name="arrow-546"/>
          <p:cNvSpPr/>
          <p:nvPr/>
        </p:nvSpPr>
        <p:spPr>
          <a:xfrm>
            <a:off x="5660136" y="4087368"/>
            <a:ext cx="0" cy="512064"/>
          </a:xfrm>
          <a:prstGeom prst="line">
            <a:avLst/>
          </a:prstGeom>
          <a:noFill/>
          <a:ln w="25400">
            <a:solidFill>
              <a:schemeClr val="accent2"/>
            </a:solidFill>
            <a:prstDash val="solid"/>
            <a:tailEnd type="triangle"/>
          </a:ln>
        </p:spPr>
      </p:sp>
      <p:sp>
        <p:nvSpPr>
          <p:cNvPr id="21" name="text-547"/>
          <p:cNvSpPr txBox="1"/>
          <p:nvPr/>
        </p:nvSpPr>
        <p:spPr>
          <a:xfrm>
            <a:off x="5843016" y="4160520"/>
            <a:ext cx="1737360" cy="274320"/>
          </a:xfrm>
          <a:prstGeom prst="rect">
            <a:avLst/>
          </a:prstGeom>
          <a:noFill/>
          <a:ln/>
        </p:spPr>
        <p:txBody>
          <a:bodyPr wrap="square" lIns="0" tIns="0" rIns="0" bIns="0" rtlCol="0" anchor="t"/>
          <a:lstStyle/>
          <a:p>
            <a:pPr indent="0" marL="0">
              <a:buNone/>
            </a:pPr>
            <a:r>
              <a:rPr lang="en-US" sz="1300" i="1" dirty="0">
                <a:solidFill>
                  <a:schemeClr val="accent6"/>
                </a:solidFill>
              </a:rPr>
              <a:t>assignment + SLA</a:t>
            </a:r>
            <a:endParaRPr lang="en-US" sz="1300" dirty="0"/>
          </a:p>
        </p:txBody>
      </p:sp>
      <p:sp>
        <p:nvSpPr>
          <p:cNvPr id="22" name="card-548"/>
          <p:cNvSpPr/>
          <p:nvPr/>
        </p:nvSpPr>
        <p:spPr>
          <a:xfrm>
            <a:off x="4608576" y="4617720"/>
            <a:ext cx="2103120" cy="502920"/>
          </a:xfrm>
          <a:prstGeom prst="roundRect">
            <a:avLst>
              <a:gd name="adj" fmla="val 10909"/>
            </a:avLst>
          </a:prstGeom>
          <a:solidFill>
            <a:schemeClr val="accent1"/>
          </a:solidFill>
          <a:ln/>
        </p:spPr>
      </p:sp>
      <p:sp>
        <p:nvSpPr>
          <p:cNvPr id="23" name="text-549"/>
          <p:cNvSpPr txBox="1"/>
          <p:nvPr/>
        </p:nvSpPr>
        <p:spPr>
          <a:xfrm>
            <a:off x="4608576" y="4617720"/>
            <a:ext cx="2103120" cy="502920"/>
          </a:xfrm>
          <a:prstGeom prst="rect">
            <a:avLst/>
          </a:prstGeom>
          <a:noFill/>
          <a:ln/>
        </p:spPr>
        <p:txBody>
          <a:bodyPr wrap="square" lIns="0" tIns="0" rIns="0" bIns="0" rtlCol="0" anchor="ctr"/>
          <a:lstStyle/>
          <a:p>
            <a:pPr algn="ctr" indent="0" marL="0">
              <a:buNone/>
            </a:pPr>
            <a:r>
              <a:rPr lang="en-US" sz="1400" b="1" dirty="0">
                <a:solidFill>
                  <a:schemeClr val="bg1"/>
                </a:solidFill>
              </a:rPr>
              <a:t>Monitoring &amp; Escalation</a:t>
            </a:r>
            <a:endParaRPr lang="en-US" sz="1400" dirty="0"/>
          </a:p>
        </p:txBody>
      </p:sp>
      <p:sp>
        <p:nvSpPr>
          <p:cNvPr id="24" name="text-550"/>
          <p:cNvSpPr txBox="1"/>
          <p:nvPr/>
        </p:nvSpPr>
        <p:spPr>
          <a:xfrm>
            <a:off x="4608576" y="5394960"/>
            <a:ext cx="2971800" cy="594360"/>
          </a:xfrm>
          <a:prstGeom prst="rect">
            <a:avLst/>
          </a:prstGeom>
          <a:noFill/>
          <a:ln/>
        </p:spPr>
        <p:txBody>
          <a:bodyPr wrap="square" lIns="0" tIns="0" rIns="0" bIns="0" rtlCol="0" anchor="t"/>
          <a:lstStyle/>
          <a:p>
            <a:pPr indent="0" marL="0">
              <a:buNone/>
            </a:pPr>
            <a:r>
              <a:rPr lang="en-US" sz="1400" dirty="0">
                <a:solidFill>
                  <a:schemeClr val="tx2"/>
                </a:solidFill>
              </a:rPr>
              <a:t>Structured outputs replace long conversations, keeping context small.</a:t>
            </a:r>
            <a:endParaRPr lang="en-US" sz="1400" dirty="0"/>
          </a:p>
        </p:txBody>
      </p:sp>
      <p:sp>
        <p:nvSpPr>
          <p:cNvPr id="25" name="card-551"/>
          <p:cNvSpPr/>
          <p:nvPr/>
        </p:nvSpPr>
        <p:spPr>
          <a:xfrm>
            <a:off x="8119872" y="1371600"/>
            <a:ext cx="3520440" cy="4754880"/>
          </a:xfrm>
          <a:prstGeom prst="roundRect">
            <a:avLst>
              <a:gd name="adj" fmla="val 2597"/>
            </a:avLst>
          </a:prstGeom>
          <a:solidFill>
            <a:schemeClr val="bg2"/>
          </a:solidFill>
          <a:ln/>
        </p:spPr>
      </p:sp>
      <p:sp>
        <p:nvSpPr>
          <p:cNvPr id="26" name="icon-bg-552"/>
          <p:cNvSpPr/>
          <p:nvPr/>
        </p:nvSpPr>
        <p:spPr>
          <a:xfrm>
            <a:off x="8348472" y="1600200"/>
            <a:ext cx="548640" cy="548640"/>
          </a:xfrm>
          <a:prstGeom prst="ellipse">
            <a:avLst/>
          </a:prstGeom>
          <a:solidFill>
            <a:schemeClr val="accent1"/>
          </a:solidFill>
          <a:ln/>
        </p:spPr>
      </p:sp>
      <p:pic>
        <p:nvPicPr>
          <p:cNvPr id="27" name="icon-553" descr="Tools icon">    </p:cNvPr>
          <p:cNvPicPr>
            <a:picLocks noChangeAspect="1"/>
          </p:cNvPicPr>
          <p:nvPr/>
        </p:nvPicPr>
        <p:blipFill>
          <a:blip r:embed="rId3"/>
          <a:stretch>
            <a:fillRect/>
          </a:stretch>
        </p:blipFill>
        <p:spPr>
          <a:xfrm>
            <a:off x="8485632" y="1737360"/>
            <a:ext cx="274320" cy="274320"/>
          </a:xfrm>
          <a:prstGeom prst="rect">
            <a:avLst/>
          </a:prstGeom>
        </p:spPr>
      </p:pic>
      <p:sp>
        <p:nvSpPr>
          <p:cNvPr id="28" name="text-554"/>
          <p:cNvSpPr txBox="1"/>
          <p:nvPr/>
        </p:nvSpPr>
        <p:spPr>
          <a:xfrm>
            <a:off x="9079992" y="1600200"/>
            <a:ext cx="2423160" cy="548640"/>
          </a:xfrm>
          <a:prstGeom prst="rect">
            <a:avLst/>
          </a:prstGeom>
          <a:noFill/>
          <a:ln/>
        </p:spPr>
        <p:txBody>
          <a:bodyPr wrap="square" lIns="0" tIns="0" rIns="0" bIns="0" rtlCol="0" anchor="ctr"/>
          <a:lstStyle/>
          <a:p>
            <a:pPr indent="0" marL="0">
              <a:buNone/>
            </a:pPr>
            <a:r>
              <a:rPr lang="en-US" sz="1900" b="1" dirty="0">
                <a:solidFill>
                  <a:schemeClr val="tx1"/>
                </a:solidFill>
              </a:rPr>
              <a:t>Agentic tools</a:t>
            </a:r>
            <a:endParaRPr lang="en-US" sz="1900" dirty="0"/>
          </a:p>
        </p:txBody>
      </p:sp>
      <p:sp>
        <p:nvSpPr>
          <p:cNvPr id="29" name="card-555"/>
          <p:cNvSpPr/>
          <p:nvPr/>
        </p:nvSpPr>
        <p:spPr>
          <a:xfrm>
            <a:off x="8394192" y="2468880"/>
            <a:ext cx="2971800" cy="365760"/>
          </a:xfrm>
          <a:prstGeom prst="roundRect">
            <a:avLst>
              <a:gd name="adj" fmla="val 15000"/>
            </a:avLst>
          </a:prstGeom>
          <a:solidFill>
            <a:schemeClr val="bg1"/>
          </a:solidFill>
          <a:ln/>
        </p:spPr>
      </p:sp>
      <p:sp>
        <p:nvSpPr>
          <p:cNvPr id="30" name="text-556"/>
          <p:cNvSpPr txBox="1"/>
          <p:nvPr/>
        </p:nvSpPr>
        <p:spPr>
          <a:xfrm>
            <a:off x="8577072" y="2468880"/>
            <a:ext cx="2697480" cy="365760"/>
          </a:xfrm>
          <a:prstGeom prst="rect">
            <a:avLst/>
          </a:prstGeom>
          <a:noFill/>
          <a:ln/>
        </p:spPr>
        <p:txBody>
          <a:bodyPr wrap="square" lIns="0" tIns="0" rIns="0" bIns="0" rtlCol="0" anchor="ctr"/>
          <a:lstStyle/>
          <a:p>
            <a:pPr indent="0" marL="0">
              <a:buNone/>
            </a:pPr>
            <a:r>
              <a:rPr lang="en-US" sz="1400" b="1" dirty="0">
                <a:solidFill>
                  <a:schemeClr val="tx1"/>
                </a:solidFill>
              </a:rPr>
              <a:t>Complaint management</a:t>
            </a:r>
            <a:endParaRPr lang="en-US" sz="1400" dirty="0"/>
          </a:p>
        </p:txBody>
      </p:sp>
      <p:sp>
        <p:nvSpPr>
          <p:cNvPr id="31" name="card-557"/>
          <p:cNvSpPr/>
          <p:nvPr/>
        </p:nvSpPr>
        <p:spPr>
          <a:xfrm>
            <a:off x="8394192" y="2926080"/>
            <a:ext cx="2971800" cy="365760"/>
          </a:xfrm>
          <a:prstGeom prst="roundRect">
            <a:avLst>
              <a:gd name="adj" fmla="val 15000"/>
            </a:avLst>
          </a:prstGeom>
          <a:solidFill>
            <a:schemeClr val="bg1"/>
          </a:solidFill>
          <a:ln/>
        </p:spPr>
      </p:sp>
      <p:sp>
        <p:nvSpPr>
          <p:cNvPr id="32" name="text-558"/>
          <p:cNvSpPr txBox="1"/>
          <p:nvPr/>
        </p:nvSpPr>
        <p:spPr>
          <a:xfrm>
            <a:off x="8577072" y="2926080"/>
            <a:ext cx="2697480" cy="365760"/>
          </a:xfrm>
          <a:prstGeom prst="rect">
            <a:avLst/>
          </a:prstGeom>
          <a:noFill/>
          <a:ln/>
        </p:spPr>
        <p:txBody>
          <a:bodyPr wrap="square" lIns="0" tIns="0" rIns="0" bIns="0" rtlCol="0" anchor="ctr"/>
          <a:lstStyle/>
          <a:p>
            <a:pPr indent="0" marL="0">
              <a:buNone/>
            </a:pPr>
            <a:r>
              <a:rPr lang="en-US" sz="1400" b="1" dirty="0">
                <a:solidFill>
                  <a:schemeClr val="tx1"/>
                </a:solidFill>
              </a:rPr>
              <a:t>Department / authority lookup</a:t>
            </a:r>
            <a:endParaRPr lang="en-US" sz="1400" dirty="0"/>
          </a:p>
        </p:txBody>
      </p:sp>
      <p:sp>
        <p:nvSpPr>
          <p:cNvPr id="33" name="card-559"/>
          <p:cNvSpPr/>
          <p:nvPr/>
        </p:nvSpPr>
        <p:spPr>
          <a:xfrm>
            <a:off x="8394192" y="3383280"/>
            <a:ext cx="2971800" cy="365760"/>
          </a:xfrm>
          <a:prstGeom prst="roundRect">
            <a:avLst>
              <a:gd name="adj" fmla="val 15000"/>
            </a:avLst>
          </a:prstGeom>
          <a:solidFill>
            <a:schemeClr val="bg1"/>
          </a:solidFill>
          <a:ln/>
        </p:spPr>
      </p:sp>
      <p:sp>
        <p:nvSpPr>
          <p:cNvPr id="34" name="text-560"/>
          <p:cNvSpPr txBox="1"/>
          <p:nvPr/>
        </p:nvSpPr>
        <p:spPr>
          <a:xfrm>
            <a:off x="8577072" y="3383280"/>
            <a:ext cx="2697480" cy="365760"/>
          </a:xfrm>
          <a:prstGeom prst="rect">
            <a:avLst/>
          </a:prstGeom>
          <a:noFill/>
          <a:ln/>
        </p:spPr>
        <p:txBody>
          <a:bodyPr wrap="square" lIns="0" tIns="0" rIns="0" bIns="0" rtlCol="0" anchor="ctr"/>
          <a:lstStyle/>
          <a:p>
            <a:pPr indent="0" marL="0">
              <a:buNone/>
            </a:pPr>
            <a:r>
              <a:rPr lang="en-US" sz="1400" b="1" dirty="0">
                <a:solidFill>
                  <a:schemeClr val="tx1"/>
                </a:solidFill>
              </a:rPr>
              <a:t>Officer lookup</a:t>
            </a:r>
            <a:endParaRPr lang="en-US" sz="1400" dirty="0"/>
          </a:p>
        </p:txBody>
      </p:sp>
      <p:sp>
        <p:nvSpPr>
          <p:cNvPr id="35" name="card-561"/>
          <p:cNvSpPr/>
          <p:nvPr/>
        </p:nvSpPr>
        <p:spPr>
          <a:xfrm>
            <a:off x="8394192" y="3840480"/>
            <a:ext cx="2971800" cy="365760"/>
          </a:xfrm>
          <a:prstGeom prst="roundRect">
            <a:avLst>
              <a:gd name="adj" fmla="val 15000"/>
            </a:avLst>
          </a:prstGeom>
          <a:solidFill>
            <a:schemeClr val="bg1"/>
          </a:solidFill>
          <a:ln/>
        </p:spPr>
      </p:sp>
      <p:sp>
        <p:nvSpPr>
          <p:cNvPr id="36" name="text-562"/>
          <p:cNvSpPr txBox="1"/>
          <p:nvPr/>
        </p:nvSpPr>
        <p:spPr>
          <a:xfrm>
            <a:off x="8577072" y="3840480"/>
            <a:ext cx="2697480" cy="365760"/>
          </a:xfrm>
          <a:prstGeom prst="rect">
            <a:avLst/>
          </a:prstGeom>
          <a:noFill/>
          <a:ln/>
        </p:spPr>
        <p:txBody>
          <a:bodyPr wrap="square" lIns="0" tIns="0" rIns="0" bIns="0" rtlCol="0" anchor="ctr"/>
          <a:lstStyle/>
          <a:p>
            <a:pPr indent="0" marL="0">
              <a:buNone/>
            </a:pPr>
            <a:r>
              <a:rPr lang="en-US" sz="1400" b="1" dirty="0">
                <a:solidFill>
                  <a:schemeClr val="tx1"/>
                </a:solidFill>
              </a:rPr>
              <a:t>Assignment</a:t>
            </a:r>
            <a:endParaRPr lang="en-US" sz="1400" dirty="0"/>
          </a:p>
        </p:txBody>
      </p:sp>
      <p:sp>
        <p:nvSpPr>
          <p:cNvPr id="37" name="card-563"/>
          <p:cNvSpPr/>
          <p:nvPr/>
        </p:nvSpPr>
        <p:spPr>
          <a:xfrm>
            <a:off x="8394192" y="4297680"/>
            <a:ext cx="2971800" cy="365760"/>
          </a:xfrm>
          <a:prstGeom prst="roundRect">
            <a:avLst>
              <a:gd name="adj" fmla="val 15000"/>
            </a:avLst>
          </a:prstGeom>
          <a:solidFill>
            <a:schemeClr val="bg1"/>
          </a:solidFill>
          <a:ln/>
        </p:spPr>
      </p:sp>
      <p:sp>
        <p:nvSpPr>
          <p:cNvPr id="38" name="text-564"/>
          <p:cNvSpPr txBox="1"/>
          <p:nvPr/>
        </p:nvSpPr>
        <p:spPr>
          <a:xfrm>
            <a:off x="8577072" y="4297680"/>
            <a:ext cx="2697480" cy="365760"/>
          </a:xfrm>
          <a:prstGeom prst="rect">
            <a:avLst/>
          </a:prstGeom>
          <a:noFill/>
          <a:ln/>
        </p:spPr>
        <p:txBody>
          <a:bodyPr wrap="square" lIns="0" tIns="0" rIns="0" bIns="0" rtlCol="0" anchor="ctr"/>
          <a:lstStyle/>
          <a:p>
            <a:pPr indent="0" marL="0">
              <a:buNone/>
            </a:pPr>
            <a:r>
              <a:rPr lang="en-US" sz="1400" b="1" dirty="0">
                <a:solidFill>
                  <a:schemeClr val="tx1"/>
                </a:solidFill>
              </a:rPr>
              <a:t>Notifications</a:t>
            </a:r>
            <a:endParaRPr lang="en-US" sz="1400" dirty="0"/>
          </a:p>
        </p:txBody>
      </p:sp>
      <p:sp>
        <p:nvSpPr>
          <p:cNvPr id="39" name="card-565"/>
          <p:cNvSpPr/>
          <p:nvPr/>
        </p:nvSpPr>
        <p:spPr>
          <a:xfrm>
            <a:off x="8394192" y="4754880"/>
            <a:ext cx="2971800" cy="365760"/>
          </a:xfrm>
          <a:prstGeom prst="roundRect">
            <a:avLst>
              <a:gd name="adj" fmla="val 15000"/>
            </a:avLst>
          </a:prstGeom>
          <a:solidFill>
            <a:schemeClr val="bg1"/>
          </a:solidFill>
          <a:ln/>
        </p:spPr>
      </p:sp>
      <p:sp>
        <p:nvSpPr>
          <p:cNvPr id="40" name="text-566"/>
          <p:cNvSpPr txBox="1"/>
          <p:nvPr/>
        </p:nvSpPr>
        <p:spPr>
          <a:xfrm>
            <a:off x="8577072" y="4754880"/>
            <a:ext cx="2697480" cy="365760"/>
          </a:xfrm>
          <a:prstGeom prst="rect">
            <a:avLst/>
          </a:prstGeom>
          <a:noFill/>
          <a:ln/>
        </p:spPr>
        <p:txBody>
          <a:bodyPr wrap="square" lIns="0" tIns="0" rIns="0" bIns="0" rtlCol="0" anchor="ctr"/>
          <a:lstStyle/>
          <a:p>
            <a:pPr indent="0" marL="0">
              <a:buNone/>
            </a:pPr>
            <a:r>
              <a:rPr lang="en-US" sz="1400" b="1" dirty="0">
                <a:solidFill>
                  <a:schemeClr val="tx1"/>
                </a:solidFill>
              </a:rPr>
              <a:t>Escalation</a:t>
            </a:r>
            <a:endParaRPr lang="en-US" sz="1400" dirty="0"/>
          </a:p>
        </p:txBody>
      </p:sp>
      <p:sp>
        <p:nvSpPr>
          <p:cNvPr id="41" name="card-567"/>
          <p:cNvSpPr/>
          <p:nvPr/>
        </p:nvSpPr>
        <p:spPr>
          <a:xfrm>
            <a:off x="8394192" y="5212080"/>
            <a:ext cx="2971800" cy="365760"/>
          </a:xfrm>
          <a:prstGeom prst="roundRect">
            <a:avLst>
              <a:gd name="adj" fmla="val 15000"/>
            </a:avLst>
          </a:prstGeom>
          <a:solidFill>
            <a:schemeClr val="bg1"/>
          </a:solidFill>
          <a:ln/>
        </p:spPr>
      </p:sp>
      <p:sp>
        <p:nvSpPr>
          <p:cNvPr id="42" name="text-568"/>
          <p:cNvSpPr txBox="1"/>
          <p:nvPr/>
        </p:nvSpPr>
        <p:spPr>
          <a:xfrm>
            <a:off x="8577072" y="5212080"/>
            <a:ext cx="2697480" cy="365760"/>
          </a:xfrm>
          <a:prstGeom prst="rect">
            <a:avLst/>
          </a:prstGeom>
          <a:noFill/>
          <a:ln/>
        </p:spPr>
        <p:txBody>
          <a:bodyPr wrap="square" lIns="0" tIns="0" rIns="0" bIns="0" rtlCol="0" anchor="ctr"/>
          <a:lstStyle/>
          <a:p>
            <a:pPr indent="0" marL="0">
              <a:buNone/>
            </a:pPr>
            <a:r>
              <a:rPr lang="en-US" sz="1400" b="1" dirty="0">
                <a:solidFill>
                  <a:schemeClr val="tx1"/>
                </a:solidFill>
              </a:rPr>
              <a:t>Knowledge search</a:t>
            </a:r>
            <a:endParaRPr lang="en-US" sz="1400" dirty="0"/>
          </a:p>
        </p:txBody>
      </p:sp>
      <p:sp>
        <p:nvSpPr>
          <p:cNvPr id="43" name="text-569"/>
          <p:cNvSpPr txBox="1"/>
          <p:nvPr/>
        </p:nvSpPr>
        <p:spPr>
          <a:xfrm>
            <a:off x="8394192" y="5669280"/>
            <a:ext cx="2971800" cy="457200"/>
          </a:xfrm>
          <a:prstGeom prst="rect">
            <a:avLst/>
          </a:prstGeom>
          <a:noFill/>
          <a:ln/>
        </p:spPr>
        <p:txBody>
          <a:bodyPr wrap="square" lIns="0" tIns="0" rIns="0" bIns="0" rtlCol="0" anchor="t"/>
          <a:lstStyle/>
          <a:p>
            <a:pPr indent="0" marL="0">
              <a:buNone/>
            </a:pPr>
            <a:r>
              <a:rPr lang="en-US" sz="1400" dirty="0">
                <a:solidFill>
                  <a:schemeClr val="tx2"/>
                </a:solidFill>
              </a:rPr>
              <a:t>Every tool call goes through the Agent Harness permission check.</a:t>
            </a:r>
            <a:endParaRPr lang="en-US" sz="1400" dirty="0"/>
          </a:p>
        </p:txBody>
      </p:sp>
      <p:sp>
        <p:nvSpPr>
          <p:cNvPr id="25" name="Slide Number Placeholder 0"/>
          <p:cNvSpPr>
            <a:spLocks noGrp="1"/>
          </p:cNvSpPr>
          <p:nvPr>
            <p:ph type="sldNum" sz="quarter" idx="4294967295"/>
          </p:nvPr>
        </p:nvSpPr>
        <p:spPr>
          <a:xfrm>
            <a:off x="10972800" y="6419088"/>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200" b="1" dirty="0">
                <a:solidFill>
                  <a:schemeClr val="tx1"/>
                </a:solidFill>
              </a:rPr>
              <a:t>Security &amp; AI Guardrails</a:t>
            </a:r>
            <a:endParaRPr lang="en-US" sz="3200" dirty="0"/>
          </a:p>
        </p:txBody>
      </p:sp>
      <p:sp>
        <p:nvSpPr>
          <p:cNvPr id="3" name="text-570"/>
          <p:cNvSpPr txBox="1"/>
          <p:nvPr/>
        </p:nvSpPr>
        <p:spPr>
          <a:xfrm>
            <a:off x="548640" y="1325880"/>
            <a:ext cx="7315200"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EVERY AI DECISION PASSES THROUGH</a:t>
            </a:r>
            <a:endParaRPr lang="en-US" sz="1200" dirty="0"/>
          </a:p>
        </p:txBody>
      </p:sp>
      <p:sp>
        <p:nvSpPr>
          <p:cNvPr id="4" name="card-571"/>
          <p:cNvSpPr/>
          <p:nvPr/>
        </p:nvSpPr>
        <p:spPr>
          <a:xfrm>
            <a:off x="548640" y="1691640"/>
            <a:ext cx="1691640" cy="868680"/>
          </a:xfrm>
          <a:prstGeom prst="roundRect">
            <a:avLst>
              <a:gd name="adj" fmla="val 10526"/>
            </a:avLst>
          </a:prstGeom>
          <a:solidFill>
            <a:schemeClr val="accent1"/>
          </a:solidFill>
          <a:ln/>
        </p:spPr>
      </p:sp>
      <p:sp>
        <p:nvSpPr>
          <p:cNvPr id="5" name="text-572"/>
          <p:cNvSpPr txBox="1"/>
          <p:nvPr/>
        </p:nvSpPr>
        <p:spPr>
          <a:xfrm>
            <a:off x="640080" y="1691640"/>
            <a:ext cx="1508760" cy="868680"/>
          </a:xfrm>
          <a:prstGeom prst="rect">
            <a:avLst/>
          </a:prstGeom>
          <a:noFill/>
          <a:ln/>
        </p:spPr>
        <p:txBody>
          <a:bodyPr wrap="square" lIns="0" tIns="0" rIns="0" bIns="0" rtlCol="0" anchor="ctr"/>
          <a:lstStyle/>
          <a:p>
            <a:pPr algn="ctr" indent="0" marL="0">
              <a:buNone/>
            </a:pPr>
            <a:r>
              <a:rPr lang="en-US" sz="1400" b="1" dirty="0">
                <a:solidFill>
                  <a:schemeClr val="bg1"/>
                </a:solidFill>
              </a:rPr>
              <a:t>Input validation</a:t>
            </a:r>
            <a:endParaRPr lang="en-US" sz="1400" dirty="0"/>
          </a:p>
        </p:txBody>
      </p:sp>
      <p:sp>
        <p:nvSpPr>
          <p:cNvPr id="6" name="shape-573"/>
          <p:cNvSpPr/>
          <p:nvPr/>
        </p:nvSpPr>
        <p:spPr>
          <a:xfrm rot="5400000">
            <a:off x="2267712" y="2011680"/>
            <a:ext cx="137160" cy="201168"/>
          </a:xfrm>
          <a:prstGeom prst="triangle">
            <a:avLst/>
          </a:prstGeom>
          <a:solidFill>
            <a:schemeClr val="accent6"/>
          </a:solidFill>
          <a:ln/>
        </p:spPr>
      </p:sp>
      <p:sp>
        <p:nvSpPr>
          <p:cNvPr id="7" name="card-574"/>
          <p:cNvSpPr/>
          <p:nvPr/>
        </p:nvSpPr>
        <p:spPr>
          <a:xfrm>
            <a:off x="2428646" y="1691640"/>
            <a:ext cx="1691640" cy="868680"/>
          </a:xfrm>
          <a:prstGeom prst="roundRect">
            <a:avLst>
              <a:gd name="adj" fmla="val 10526"/>
            </a:avLst>
          </a:prstGeom>
          <a:solidFill>
            <a:schemeClr val="accent1"/>
          </a:solidFill>
          <a:ln/>
        </p:spPr>
      </p:sp>
      <p:sp>
        <p:nvSpPr>
          <p:cNvPr id="8" name="text-575"/>
          <p:cNvSpPr txBox="1"/>
          <p:nvPr/>
        </p:nvSpPr>
        <p:spPr>
          <a:xfrm>
            <a:off x="2520086" y="1691640"/>
            <a:ext cx="1508760" cy="868680"/>
          </a:xfrm>
          <a:prstGeom prst="rect">
            <a:avLst/>
          </a:prstGeom>
          <a:noFill/>
          <a:ln/>
        </p:spPr>
        <p:txBody>
          <a:bodyPr wrap="square" lIns="0" tIns="0" rIns="0" bIns="0" rtlCol="0" anchor="ctr"/>
          <a:lstStyle/>
          <a:p>
            <a:pPr algn="ctr" indent="0" marL="0">
              <a:buNone/>
            </a:pPr>
            <a:r>
              <a:rPr lang="en-US" sz="1400" b="1" dirty="0">
                <a:solidFill>
                  <a:schemeClr val="bg1"/>
                </a:solidFill>
              </a:rPr>
              <a:t>Structured output check</a:t>
            </a:r>
            <a:endParaRPr lang="en-US" sz="1400" dirty="0"/>
          </a:p>
        </p:txBody>
      </p:sp>
      <p:sp>
        <p:nvSpPr>
          <p:cNvPr id="9" name="shape-576"/>
          <p:cNvSpPr/>
          <p:nvPr/>
        </p:nvSpPr>
        <p:spPr>
          <a:xfrm rot="5400000">
            <a:off x="4147718" y="2011680"/>
            <a:ext cx="137160" cy="201168"/>
          </a:xfrm>
          <a:prstGeom prst="triangle">
            <a:avLst/>
          </a:prstGeom>
          <a:solidFill>
            <a:schemeClr val="accent6"/>
          </a:solidFill>
          <a:ln/>
        </p:spPr>
      </p:sp>
      <p:sp>
        <p:nvSpPr>
          <p:cNvPr id="10" name="card-577"/>
          <p:cNvSpPr/>
          <p:nvPr/>
        </p:nvSpPr>
        <p:spPr>
          <a:xfrm>
            <a:off x="4308653" y="1691640"/>
            <a:ext cx="1691640" cy="868680"/>
          </a:xfrm>
          <a:prstGeom prst="roundRect">
            <a:avLst>
              <a:gd name="adj" fmla="val 10526"/>
            </a:avLst>
          </a:prstGeom>
          <a:solidFill>
            <a:schemeClr val="accent1"/>
          </a:solidFill>
          <a:ln/>
        </p:spPr>
      </p:sp>
      <p:sp>
        <p:nvSpPr>
          <p:cNvPr id="11" name="text-578"/>
          <p:cNvSpPr txBox="1"/>
          <p:nvPr/>
        </p:nvSpPr>
        <p:spPr>
          <a:xfrm>
            <a:off x="4400093" y="1691640"/>
            <a:ext cx="1508760" cy="868680"/>
          </a:xfrm>
          <a:prstGeom prst="rect">
            <a:avLst/>
          </a:prstGeom>
          <a:noFill/>
          <a:ln/>
        </p:spPr>
        <p:txBody>
          <a:bodyPr wrap="square" lIns="0" tIns="0" rIns="0" bIns="0" rtlCol="0" anchor="ctr"/>
          <a:lstStyle/>
          <a:p>
            <a:pPr algn="ctr" indent="0" marL="0">
              <a:buNone/>
            </a:pPr>
            <a:r>
              <a:rPr lang="en-US" sz="1400" b="1" dirty="0">
                <a:solidFill>
                  <a:schemeClr val="bg1"/>
                </a:solidFill>
              </a:rPr>
              <a:t>Confidence threshold</a:t>
            </a:r>
            <a:endParaRPr lang="en-US" sz="1400" dirty="0"/>
          </a:p>
        </p:txBody>
      </p:sp>
      <p:sp>
        <p:nvSpPr>
          <p:cNvPr id="12" name="shape-579"/>
          <p:cNvSpPr/>
          <p:nvPr/>
        </p:nvSpPr>
        <p:spPr>
          <a:xfrm rot="5400000">
            <a:off x="6027725" y="2011680"/>
            <a:ext cx="137160" cy="201168"/>
          </a:xfrm>
          <a:prstGeom prst="triangle">
            <a:avLst/>
          </a:prstGeom>
          <a:solidFill>
            <a:schemeClr val="accent6"/>
          </a:solidFill>
          <a:ln/>
        </p:spPr>
      </p:sp>
      <p:sp>
        <p:nvSpPr>
          <p:cNvPr id="13" name="card-580"/>
          <p:cNvSpPr/>
          <p:nvPr/>
        </p:nvSpPr>
        <p:spPr>
          <a:xfrm>
            <a:off x="6188659" y="1691640"/>
            <a:ext cx="1691640" cy="868680"/>
          </a:xfrm>
          <a:prstGeom prst="roundRect">
            <a:avLst>
              <a:gd name="adj" fmla="val 10526"/>
            </a:avLst>
          </a:prstGeom>
          <a:solidFill>
            <a:schemeClr val="accent1"/>
          </a:solidFill>
          <a:ln/>
        </p:spPr>
      </p:sp>
      <p:sp>
        <p:nvSpPr>
          <p:cNvPr id="14" name="text-581"/>
          <p:cNvSpPr txBox="1"/>
          <p:nvPr/>
        </p:nvSpPr>
        <p:spPr>
          <a:xfrm>
            <a:off x="6280099" y="1691640"/>
            <a:ext cx="1508760" cy="868680"/>
          </a:xfrm>
          <a:prstGeom prst="rect">
            <a:avLst/>
          </a:prstGeom>
          <a:noFill/>
          <a:ln/>
        </p:spPr>
        <p:txBody>
          <a:bodyPr wrap="square" lIns="0" tIns="0" rIns="0" bIns="0" rtlCol="0" anchor="ctr"/>
          <a:lstStyle/>
          <a:p>
            <a:pPr algn="ctr" indent="0" marL="0">
              <a:buNone/>
            </a:pPr>
            <a:r>
              <a:rPr lang="en-US" sz="1400" b="1" dirty="0">
                <a:solidFill>
                  <a:schemeClr val="bg1"/>
                </a:solidFill>
              </a:rPr>
              <a:t>Business-rule validation</a:t>
            </a:r>
            <a:endParaRPr lang="en-US" sz="1400" dirty="0"/>
          </a:p>
        </p:txBody>
      </p:sp>
      <p:sp>
        <p:nvSpPr>
          <p:cNvPr id="15" name="shape-582"/>
          <p:cNvSpPr/>
          <p:nvPr/>
        </p:nvSpPr>
        <p:spPr>
          <a:xfrm rot="5400000">
            <a:off x="7907731" y="2011680"/>
            <a:ext cx="137160" cy="201168"/>
          </a:xfrm>
          <a:prstGeom prst="triangle">
            <a:avLst/>
          </a:prstGeom>
          <a:solidFill>
            <a:schemeClr val="accent6"/>
          </a:solidFill>
          <a:ln/>
        </p:spPr>
      </p:sp>
      <p:sp>
        <p:nvSpPr>
          <p:cNvPr id="16" name="card-583"/>
          <p:cNvSpPr/>
          <p:nvPr/>
        </p:nvSpPr>
        <p:spPr>
          <a:xfrm>
            <a:off x="8068666" y="1691640"/>
            <a:ext cx="1691640" cy="868680"/>
          </a:xfrm>
          <a:prstGeom prst="roundRect">
            <a:avLst>
              <a:gd name="adj" fmla="val 10526"/>
            </a:avLst>
          </a:prstGeom>
          <a:solidFill>
            <a:schemeClr val="accent1"/>
          </a:solidFill>
          <a:ln/>
        </p:spPr>
      </p:sp>
      <p:sp>
        <p:nvSpPr>
          <p:cNvPr id="17" name="text-584"/>
          <p:cNvSpPr txBox="1"/>
          <p:nvPr/>
        </p:nvSpPr>
        <p:spPr>
          <a:xfrm>
            <a:off x="8160106" y="1691640"/>
            <a:ext cx="1508760" cy="868680"/>
          </a:xfrm>
          <a:prstGeom prst="rect">
            <a:avLst/>
          </a:prstGeom>
          <a:noFill/>
          <a:ln/>
        </p:spPr>
        <p:txBody>
          <a:bodyPr wrap="square" lIns="0" tIns="0" rIns="0" bIns="0" rtlCol="0" anchor="ctr"/>
          <a:lstStyle/>
          <a:p>
            <a:pPr algn="ctr" indent="0" marL="0">
              <a:buNone/>
            </a:pPr>
            <a:r>
              <a:rPr lang="en-US" sz="1400" b="1" dirty="0">
                <a:solidFill>
                  <a:schemeClr val="bg1"/>
                </a:solidFill>
              </a:rPr>
              <a:t>Tool permission check</a:t>
            </a:r>
            <a:endParaRPr lang="en-US" sz="1400" dirty="0"/>
          </a:p>
        </p:txBody>
      </p:sp>
      <p:sp>
        <p:nvSpPr>
          <p:cNvPr id="18" name="shape-585"/>
          <p:cNvSpPr/>
          <p:nvPr/>
        </p:nvSpPr>
        <p:spPr>
          <a:xfrm rot="5400000">
            <a:off x="9787738" y="2011680"/>
            <a:ext cx="137160" cy="201168"/>
          </a:xfrm>
          <a:prstGeom prst="triangle">
            <a:avLst/>
          </a:prstGeom>
          <a:solidFill>
            <a:schemeClr val="accent6"/>
          </a:solidFill>
          <a:ln/>
        </p:spPr>
      </p:sp>
      <p:sp>
        <p:nvSpPr>
          <p:cNvPr id="19" name="card-586"/>
          <p:cNvSpPr/>
          <p:nvPr/>
        </p:nvSpPr>
        <p:spPr>
          <a:xfrm>
            <a:off x="9948672" y="1691640"/>
            <a:ext cx="1691640" cy="868680"/>
          </a:xfrm>
          <a:prstGeom prst="roundRect">
            <a:avLst>
              <a:gd name="adj" fmla="val 10526"/>
            </a:avLst>
          </a:prstGeom>
          <a:solidFill>
            <a:schemeClr val="accent2"/>
          </a:solidFill>
          <a:ln/>
        </p:spPr>
      </p:sp>
      <p:sp>
        <p:nvSpPr>
          <p:cNvPr id="20" name="text-587"/>
          <p:cNvSpPr txBox="1"/>
          <p:nvPr/>
        </p:nvSpPr>
        <p:spPr>
          <a:xfrm>
            <a:off x="10040112" y="1691640"/>
            <a:ext cx="1508760" cy="868680"/>
          </a:xfrm>
          <a:prstGeom prst="rect">
            <a:avLst/>
          </a:prstGeom>
          <a:noFill/>
          <a:ln/>
        </p:spPr>
        <p:txBody>
          <a:bodyPr wrap="square" lIns="0" tIns="0" rIns="0" bIns="0" rtlCol="0" anchor="ctr"/>
          <a:lstStyle/>
          <a:p>
            <a:pPr algn="ctr" indent="0" marL="0">
              <a:buNone/>
            </a:pPr>
            <a:r>
              <a:rPr lang="en-US" sz="1400" b="1" dirty="0">
                <a:solidFill>
                  <a:schemeClr val="tx1"/>
                </a:solidFill>
              </a:rPr>
              <a:t>Human review if uncertain</a:t>
            </a:r>
            <a:endParaRPr lang="en-US" sz="1400" dirty="0"/>
          </a:p>
        </p:txBody>
      </p:sp>
      <p:sp>
        <p:nvSpPr>
          <p:cNvPr id="21" name="card-588"/>
          <p:cNvSpPr/>
          <p:nvPr/>
        </p:nvSpPr>
        <p:spPr>
          <a:xfrm>
            <a:off x="548640" y="2880360"/>
            <a:ext cx="5486400" cy="3246120"/>
          </a:xfrm>
          <a:prstGeom prst="roundRect">
            <a:avLst>
              <a:gd name="adj" fmla="val 2817"/>
            </a:avLst>
          </a:prstGeom>
          <a:solidFill>
            <a:schemeClr val="bg2"/>
          </a:solidFill>
          <a:ln/>
        </p:spPr>
      </p:sp>
      <p:sp>
        <p:nvSpPr>
          <p:cNvPr id="22" name="icon-bg-589"/>
          <p:cNvSpPr/>
          <p:nvPr/>
        </p:nvSpPr>
        <p:spPr>
          <a:xfrm>
            <a:off x="777240" y="3154680"/>
            <a:ext cx="548640" cy="548640"/>
          </a:xfrm>
          <a:prstGeom prst="ellipse">
            <a:avLst/>
          </a:prstGeom>
          <a:solidFill>
            <a:schemeClr val="accent6"/>
          </a:solidFill>
          <a:ln/>
        </p:spPr>
      </p:sp>
      <p:pic>
        <p:nvPicPr>
          <p:cNvPr id="23" name="icon-590" descr="Lock icon">    </p:cNvPr>
          <p:cNvPicPr>
            <a:picLocks noChangeAspect="1"/>
          </p:cNvPicPr>
          <p:nvPr/>
        </p:nvPicPr>
        <p:blipFill>
          <a:blip r:embed="rId1"/>
          <a:stretch>
            <a:fillRect/>
          </a:stretch>
        </p:blipFill>
        <p:spPr>
          <a:xfrm>
            <a:off x="914400" y="3291840"/>
            <a:ext cx="274320" cy="274320"/>
          </a:xfrm>
          <a:prstGeom prst="rect">
            <a:avLst/>
          </a:prstGeom>
        </p:spPr>
      </p:pic>
      <p:sp>
        <p:nvSpPr>
          <p:cNvPr id="24" name="text-591"/>
          <p:cNvSpPr txBox="1"/>
          <p:nvPr/>
        </p:nvSpPr>
        <p:spPr>
          <a:xfrm>
            <a:off x="1508760" y="3154680"/>
            <a:ext cx="4297680" cy="548640"/>
          </a:xfrm>
          <a:prstGeom prst="rect">
            <a:avLst/>
          </a:prstGeom>
          <a:noFill/>
          <a:ln/>
        </p:spPr>
        <p:txBody>
          <a:bodyPr wrap="square" lIns="0" tIns="0" rIns="0" bIns="0" rtlCol="0" anchor="ctr"/>
          <a:lstStyle/>
          <a:p>
            <a:pPr indent="0" marL="0">
              <a:buNone/>
            </a:pPr>
            <a:r>
              <a:rPr lang="en-US" sz="1900" b="1" dirty="0">
                <a:solidFill>
                  <a:schemeClr val="tx1"/>
                </a:solidFill>
              </a:rPr>
              <a:t>Security &amp; access control</a:t>
            </a:r>
            <a:endParaRPr lang="en-US" sz="1900" dirty="0"/>
          </a:p>
        </p:txBody>
      </p:sp>
      <p:sp>
        <p:nvSpPr>
          <p:cNvPr id="25" name="shape-592"/>
          <p:cNvSpPr/>
          <p:nvPr/>
        </p:nvSpPr>
        <p:spPr>
          <a:xfrm>
            <a:off x="868680" y="4023360"/>
            <a:ext cx="182880" cy="182880"/>
          </a:xfrm>
          <a:prstGeom prst="ellipse">
            <a:avLst/>
          </a:prstGeom>
          <a:solidFill>
            <a:schemeClr val="accent1"/>
          </a:solidFill>
          <a:ln/>
        </p:spPr>
      </p:sp>
      <p:sp>
        <p:nvSpPr>
          <p:cNvPr id="26" name="text-593"/>
          <p:cNvSpPr txBox="1"/>
          <p:nvPr/>
        </p:nvSpPr>
        <p:spPr>
          <a:xfrm>
            <a:off x="1234440" y="3931920"/>
            <a:ext cx="4572000" cy="365760"/>
          </a:xfrm>
          <a:prstGeom prst="rect">
            <a:avLst/>
          </a:prstGeom>
          <a:noFill/>
          <a:ln/>
        </p:spPr>
        <p:txBody>
          <a:bodyPr wrap="square" lIns="0" tIns="0" rIns="0" bIns="0" rtlCol="0" anchor="ctr"/>
          <a:lstStyle/>
          <a:p>
            <a:pPr indent="0" marL="0">
              <a:buNone/>
            </a:pPr>
            <a:r>
              <a:rPr lang="en-US" sz="1500" dirty="0">
                <a:solidFill>
                  <a:schemeClr val="tx2"/>
                </a:solidFill>
              </a:rPr>
              <a:t>JWT authentication</a:t>
            </a:r>
            <a:endParaRPr lang="en-US" sz="1500" dirty="0"/>
          </a:p>
        </p:txBody>
      </p:sp>
      <p:sp>
        <p:nvSpPr>
          <p:cNvPr id="27" name="shape-594"/>
          <p:cNvSpPr/>
          <p:nvPr/>
        </p:nvSpPr>
        <p:spPr>
          <a:xfrm>
            <a:off x="868680" y="4453128"/>
            <a:ext cx="182880" cy="182880"/>
          </a:xfrm>
          <a:prstGeom prst="ellipse">
            <a:avLst/>
          </a:prstGeom>
          <a:solidFill>
            <a:schemeClr val="accent1"/>
          </a:solidFill>
          <a:ln/>
        </p:spPr>
      </p:sp>
      <p:sp>
        <p:nvSpPr>
          <p:cNvPr id="28" name="text-595"/>
          <p:cNvSpPr txBox="1"/>
          <p:nvPr/>
        </p:nvSpPr>
        <p:spPr>
          <a:xfrm>
            <a:off x="1234440" y="4361688"/>
            <a:ext cx="4572000" cy="365760"/>
          </a:xfrm>
          <a:prstGeom prst="rect">
            <a:avLst/>
          </a:prstGeom>
          <a:noFill/>
          <a:ln/>
        </p:spPr>
        <p:txBody>
          <a:bodyPr wrap="square" lIns="0" tIns="0" rIns="0" bIns="0" rtlCol="0" anchor="ctr"/>
          <a:lstStyle/>
          <a:p>
            <a:pPr indent="0" marL="0">
              <a:buNone/>
            </a:pPr>
            <a:r>
              <a:rPr lang="en-US" sz="1500" dirty="0">
                <a:solidFill>
                  <a:schemeClr val="tx2"/>
                </a:solidFill>
              </a:rPr>
              <a:t>Role-based authorization</a:t>
            </a:r>
            <a:endParaRPr lang="en-US" sz="1500" dirty="0"/>
          </a:p>
        </p:txBody>
      </p:sp>
      <p:sp>
        <p:nvSpPr>
          <p:cNvPr id="29" name="shape-596"/>
          <p:cNvSpPr/>
          <p:nvPr/>
        </p:nvSpPr>
        <p:spPr>
          <a:xfrm>
            <a:off x="868680" y="4882896"/>
            <a:ext cx="182880" cy="182880"/>
          </a:xfrm>
          <a:prstGeom prst="ellipse">
            <a:avLst/>
          </a:prstGeom>
          <a:solidFill>
            <a:schemeClr val="accent1"/>
          </a:solidFill>
          <a:ln/>
        </p:spPr>
      </p:sp>
      <p:sp>
        <p:nvSpPr>
          <p:cNvPr id="30" name="text-597"/>
          <p:cNvSpPr txBox="1"/>
          <p:nvPr/>
        </p:nvSpPr>
        <p:spPr>
          <a:xfrm>
            <a:off x="1234440" y="4791456"/>
            <a:ext cx="4572000" cy="365760"/>
          </a:xfrm>
          <a:prstGeom prst="rect">
            <a:avLst/>
          </a:prstGeom>
          <a:noFill/>
          <a:ln/>
        </p:spPr>
        <p:txBody>
          <a:bodyPr wrap="square" lIns="0" tIns="0" rIns="0" bIns="0" rtlCol="0" anchor="ctr"/>
          <a:lstStyle/>
          <a:p>
            <a:pPr indent="0" marL="0">
              <a:buNone/>
            </a:pPr>
            <a:r>
              <a:rPr lang="en-US" sz="1500" dirty="0">
                <a:solidFill>
                  <a:schemeClr val="tx2"/>
                </a:solidFill>
              </a:rPr>
              <a:t>Citizen, officer and admin permissions</a:t>
            </a:r>
            <a:endParaRPr lang="en-US" sz="1500" dirty="0"/>
          </a:p>
        </p:txBody>
      </p:sp>
      <p:sp>
        <p:nvSpPr>
          <p:cNvPr id="31" name="shape-598"/>
          <p:cNvSpPr/>
          <p:nvPr/>
        </p:nvSpPr>
        <p:spPr>
          <a:xfrm>
            <a:off x="868680" y="5312664"/>
            <a:ext cx="182880" cy="182880"/>
          </a:xfrm>
          <a:prstGeom prst="ellipse">
            <a:avLst/>
          </a:prstGeom>
          <a:solidFill>
            <a:schemeClr val="accent1"/>
          </a:solidFill>
          <a:ln/>
        </p:spPr>
      </p:sp>
      <p:sp>
        <p:nvSpPr>
          <p:cNvPr id="32" name="text-599"/>
          <p:cNvSpPr txBox="1"/>
          <p:nvPr/>
        </p:nvSpPr>
        <p:spPr>
          <a:xfrm>
            <a:off x="1234440" y="5221224"/>
            <a:ext cx="4572000" cy="365760"/>
          </a:xfrm>
          <a:prstGeom prst="rect">
            <a:avLst/>
          </a:prstGeom>
          <a:noFill/>
          <a:ln/>
        </p:spPr>
        <p:txBody>
          <a:bodyPr wrap="square" lIns="0" tIns="0" rIns="0" bIns="0" rtlCol="0" anchor="ctr"/>
          <a:lstStyle/>
          <a:p>
            <a:pPr indent="0" marL="0">
              <a:buNone/>
            </a:pPr>
            <a:r>
              <a:rPr lang="en-US" sz="1500" dirty="0">
                <a:solidFill>
                  <a:schemeClr val="tx2"/>
                </a:solidFill>
              </a:rPr>
              <a:t>Restricted agent tool access</a:t>
            </a:r>
            <a:endParaRPr lang="en-US" sz="1500" dirty="0"/>
          </a:p>
        </p:txBody>
      </p:sp>
      <p:sp>
        <p:nvSpPr>
          <p:cNvPr id="33" name="shape-600"/>
          <p:cNvSpPr/>
          <p:nvPr/>
        </p:nvSpPr>
        <p:spPr>
          <a:xfrm>
            <a:off x="868680" y="5742432"/>
            <a:ext cx="182880" cy="182880"/>
          </a:xfrm>
          <a:prstGeom prst="ellipse">
            <a:avLst/>
          </a:prstGeom>
          <a:solidFill>
            <a:schemeClr val="accent1"/>
          </a:solidFill>
          <a:ln/>
        </p:spPr>
      </p:sp>
      <p:sp>
        <p:nvSpPr>
          <p:cNvPr id="34" name="text-601"/>
          <p:cNvSpPr txBox="1"/>
          <p:nvPr/>
        </p:nvSpPr>
        <p:spPr>
          <a:xfrm>
            <a:off x="1234440" y="5650992"/>
            <a:ext cx="4572000" cy="365760"/>
          </a:xfrm>
          <a:prstGeom prst="rect">
            <a:avLst/>
          </a:prstGeom>
          <a:noFill/>
          <a:ln/>
        </p:spPr>
        <p:txBody>
          <a:bodyPr wrap="square" lIns="0" tIns="0" rIns="0" bIns="0" rtlCol="0" anchor="ctr"/>
          <a:lstStyle/>
          <a:p>
            <a:pPr indent="0" marL="0">
              <a:buNone/>
            </a:pPr>
            <a:r>
              <a:rPr lang="en-US" sz="1500" dirty="0">
                <a:solidFill>
                  <a:schemeClr val="tx2"/>
                </a:solidFill>
              </a:rPr>
              <a:t>Input and action validation</a:t>
            </a:r>
            <a:endParaRPr lang="en-US" sz="1500" dirty="0"/>
          </a:p>
        </p:txBody>
      </p:sp>
      <p:sp>
        <p:nvSpPr>
          <p:cNvPr id="35" name="card-602"/>
          <p:cNvSpPr/>
          <p:nvPr/>
        </p:nvSpPr>
        <p:spPr>
          <a:xfrm>
            <a:off x="6309360" y="2880360"/>
            <a:ext cx="5330952" cy="3246120"/>
          </a:xfrm>
          <a:prstGeom prst="roundRect">
            <a:avLst>
              <a:gd name="adj" fmla="val 2817"/>
            </a:avLst>
          </a:prstGeom>
          <a:solidFill>
            <a:schemeClr val="tx1"/>
          </a:solidFill>
          <a:ln/>
        </p:spPr>
      </p:sp>
      <p:sp>
        <p:nvSpPr>
          <p:cNvPr id="36" name="text-603"/>
          <p:cNvSpPr txBox="1"/>
          <p:nvPr/>
        </p:nvSpPr>
        <p:spPr>
          <a:xfrm>
            <a:off x="6583680" y="3108960"/>
            <a:ext cx="45720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AGENTS NEVER ACT DIRECTLY</a:t>
            </a:r>
            <a:endParaRPr lang="en-US" sz="1200" dirty="0"/>
          </a:p>
        </p:txBody>
      </p:sp>
      <p:sp>
        <p:nvSpPr>
          <p:cNvPr id="37" name="card-604"/>
          <p:cNvSpPr/>
          <p:nvPr/>
        </p:nvSpPr>
        <p:spPr>
          <a:xfrm>
            <a:off x="6583680" y="3657600"/>
            <a:ext cx="1463040" cy="822960"/>
          </a:xfrm>
          <a:prstGeom prst="roundRect">
            <a:avLst>
              <a:gd name="adj" fmla="val 11111"/>
            </a:avLst>
          </a:prstGeom>
          <a:solidFill>
            <a:schemeClr val="accent1"/>
          </a:solidFill>
          <a:ln/>
        </p:spPr>
      </p:sp>
      <p:sp>
        <p:nvSpPr>
          <p:cNvPr id="38" name="text-605"/>
          <p:cNvSpPr txBox="1"/>
          <p:nvPr/>
        </p:nvSpPr>
        <p:spPr>
          <a:xfrm>
            <a:off x="6583680" y="3657600"/>
            <a:ext cx="1463040" cy="822960"/>
          </a:xfrm>
          <a:prstGeom prst="rect">
            <a:avLst/>
          </a:prstGeom>
          <a:noFill/>
          <a:ln/>
        </p:spPr>
        <p:txBody>
          <a:bodyPr wrap="square" lIns="0" tIns="0" rIns="0" bIns="0" rtlCol="0" anchor="ctr"/>
          <a:lstStyle/>
          <a:p>
            <a:pPr algn="ctr" indent="0" marL="0">
              <a:buNone/>
            </a:pPr>
            <a:r>
              <a:rPr lang="en-US" sz="1400" b="1" dirty="0">
                <a:solidFill>
                  <a:schemeClr val="bg1"/>
                </a:solidFill>
              </a:rPr>
              <a:t>AI agent</a:t>
            </a:r>
            <a:endParaRPr lang="en-US" sz="1400" dirty="0"/>
          </a:p>
        </p:txBody>
      </p:sp>
      <p:sp>
        <p:nvSpPr>
          <p:cNvPr id="39" name="card-606"/>
          <p:cNvSpPr/>
          <p:nvPr/>
        </p:nvSpPr>
        <p:spPr>
          <a:xfrm>
            <a:off x="8229600" y="3657600"/>
            <a:ext cx="1463040" cy="822960"/>
          </a:xfrm>
          <a:prstGeom prst="roundRect">
            <a:avLst>
              <a:gd name="adj" fmla="val 11111"/>
            </a:avLst>
          </a:prstGeom>
          <a:solidFill>
            <a:schemeClr val="accent2"/>
          </a:solidFill>
          <a:ln/>
        </p:spPr>
      </p:sp>
      <p:sp>
        <p:nvSpPr>
          <p:cNvPr id="40" name="text-607"/>
          <p:cNvSpPr txBox="1"/>
          <p:nvPr/>
        </p:nvSpPr>
        <p:spPr>
          <a:xfrm>
            <a:off x="8229600" y="3657600"/>
            <a:ext cx="1463040" cy="822960"/>
          </a:xfrm>
          <a:prstGeom prst="rect">
            <a:avLst/>
          </a:prstGeom>
          <a:noFill/>
          <a:ln/>
        </p:spPr>
        <p:txBody>
          <a:bodyPr wrap="square" lIns="0" tIns="0" rIns="0" bIns="0" rtlCol="0" anchor="ctr"/>
          <a:lstStyle/>
          <a:p>
            <a:pPr algn="ctr" indent="0" marL="0">
              <a:buNone/>
            </a:pPr>
            <a:r>
              <a:rPr lang="en-US" sz="1400" b="1" dirty="0">
                <a:solidFill>
                  <a:schemeClr val="tx1"/>
                </a:solidFill>
              </a:rPr>
              <a:t>Agent Harness</a:t>
            </a:r>
            <a:endParaRPr lang="en-US" sz="1400" dirty="0"/>
          </a:p>
        </p:txBody>
      </p:sp>
      <p:sp>
        <p:nvSpPr>
          <p:cNvPr id="41" name="card-608"/>
          <p:cNvSpPr/>
          <p:nvPr/>
        </p:nvSpPr>
        <p:spPr>
          <a:xfrm>
            <a:off x="9875520" y="3657600"/>
            <a:ext cx="1463040" cy="822960"/>
          </a:xfrm>
          <a:prstGeom prst="roundRect">
            <a:avLst>
              <a:gd name="adj" fmla="val 11111"/>
            </a:avLst>
          </a:prstGeom>
          <a:solidFill>
            <a:schemeClr val="accent5"/>
          </a:solidFill>
          <a:ln/>
        </p:spPr>
      </p:sp>
      <p:sp>
        <p:nvSpPr>
          <p:cNvPr id="42" name="text-609"/>
          <p:cNvSpPr txBox="1"/>
          <p:nvPr/>
        </p:nvSpPr>
        <p:spPr>
          <a:xfrm>
            <a:off x="9875520" y="3657600"/>
            <a:ext cx="1463040" cy="822960"/>
          </a:xfrm>
          <a:prstGeom prst="rect">
            <a:avLst/>
          </a:prstGeom>
          <a:noFill/>
          <a:ln/>
        </p:spPr>
        <p:txBody>
          <a:bodyPr wrap="square" lIns="0" tIns="0" rIns="0" bIns="0" rtlCol="0" anchor="ctr"/>
          <a:lstStyle/>
          <a:p>
            <a:pPr algn="ctr" indent="0" marL="0">
              <a:buNone/>
            </a:pPr>
            <a:r>
              <a:rPr lang="en-US" sz="1400" b="1" dirty="0">
                <a:solidFill>
                  <a:schemeClr val="bg1"/>
                </a:solidFill>
              </a:rPr>
              <a:t>Tool / action</a:t>
            </a:r>
            <a:endParaRPr lang="en-US" sz="1400" dirty="0"/>
          </a:p>
        </p:txBody>
      </p:sp>
      <p:sp>
        <p:nvSpPr>
          <p:cNvPr id="43" name="arrow-610"/>
          <p:cNvSpPr/>
          <p:nvPr/>
        </p:nvSpPr>
        <p:spPr>
          <a:xfrm>
            <a:off x="8046720" y="4069080"/>
            <a:ext cx="182880" cy="0"/>
          </a:xfrm>
          <a:prstGeom prst="line">
            <a:avLst/>
          </a:prstGeom>
          <a:noFill/>
          <a:ln w="22225">
            <a:solidFill>
              <a:schemeClr val="bg1"/>
            </a:solidFill>
            <a:prstDash val="solid"/>
            <a:tailEnd type="triangle"/>
          </a:ln>
        </p:spPr>
      </p:sp>
      <p:sp>
        <p:nvSpPr>
          <p:cNvPr id="44" name="arrow-611"/>
          <p:cNvSpPr/>
          <p:nvPr/>
        </p:nvSpPr>
        <p:spPr>
          <a:xfrm>
            <a:off x="9692640" y="4069080"/>
            <a:ext cx="182880" cy="0"/>
          </a:xfrm>
          <a:prstGeom prst="line">
            <a:avLst/>
          </a:prstGeom>
          <a:noFill/>
          <a:ln w="22225">
            <a:solidFill>
              <a:schemeClr val="bg1"/>
            </a:solidFill>
            <a:prstDash val="solid"/>
            <a:tailEnd type="triangle"/>
          </a:ln>
        </p:spPr>
      </p:sp>
      <p:sp>
        <p:nvSpPr>
          <p:cNvPr id="45" name="text-612"/>
          <p:cNvSpPr txBox="1"/>
          <p:nvPr/>
        </p:nvSpPr>
        <p:spPr>
          <a:xfrm>
            <a:off x="6583680" y="4754880"/>
            <a:ext cx="4846320" cy="1188720"/>
          </a:xfrm>
          <a:prstGeom prst="rect">
            <a:avLst/>
          </a:prstGeom>
          <a:noFill/>
          <a:ln/>
        </p:spPr>
        <p:txBody>
          <a:bodyPr wrap="square" lIns="0" tIns="0" rIns="0" bIns="0" rtlCol="0" anchor="t"/>
          <a:lstStyle/>
          <a:p>
            <a:pPr indent="0" marL="0">
              <a:buNone/>
            </a:pPr>
            <a:r>
              <a:rPr lang="en-US" sz="1500" dirty="0">
                <a:solidFill>
                  <a:schemeClr val="bg1"/>
                </a:solidFill>
              </a:rPr>
              <a:t>The harness checks permissions and guardrails, retries failures, enforces token limits, logs every step and routes uncertain cases to human review.</a:t>
            </a:r>
            <a:endParaRPr lang="en-US" sz="1500" dirty="0"/>
          </a:p>
        </p:txBody>
      </p:sp>
      <p:sp>
        <p:nvSpPr>
          <p:cNvPr id="25" name="Slide Number Placeholder 0"/>
          <p:cNvSpPr>
            <a:spLocks noGrp="1"/>
          </p:cNvSpPr>
          <p:nvPr>
            <p:ph type="sldNum" sz="quarter" idx="4294967295"/>
          </p:nvPr>
        </p:nvSpPr>
        <p:spPr>
          <a:xfrm>
            <a:off x="10972800" y="6419088"/>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200" b="1" dirty="0">
                <a:solidFill>
                  <a:schemeClr val="tx1"/>
                </a:solidFill>
              </a:rPr>
              <a:t>Human Review &amp; Full Audit Trail</a:t>
            </a:r>
            <a:endParaRPr lang="en-US" sz="3200" dirty="0"/>
          </a:p>
        </p:txBody>
      </p:sp>
      <p:sp>
        <p:nvSpPr>
          <p:cNvPr id="3" name="card-613"/>
          <p:cNvSpPr/>
          <p:nvPr/>
        </p:nvSpPr>
        <p:spPr>
          <a:xfrm>
            <a:off x="548640" y="1371600"/>
            <a:ext cx="5943600" cy="4754880"/>
          </a:xfrm>
          <a:prstGeom prst="roundRect">
            <a:avLst>
              <a:gd name="adj" fmla="val 1923"/>
            </a:avLst>
          </a:prstGeom>
          <a:solidFill>
            <a:schemeClr val="bg2"/>
          </a:solidFill>
          <a:ln/>
        </p:spPr>
      </p:sp>
      <p:sp>
        <p:nvSpPr>
          <p:cNvPr id="4" name="icon-bg-614"/>
          <p:cNvSpPr/>
          <p:nvPr/>
        </p:nvSpPr>
        <p:spPr>
          <a:xfrm>
            <a:off x="777240" y="1645920"/>
            <a:ext cx="548640" cy="548640"/>
          </a:xfrm>
          <a:prstGeom prst="ellipse">
            <a:avLst/>
          </a:prstGeom>
          <a:solidFill>
            <a:schemeClr val="accent2"/>
          </a:solidFill>
          <a:ln/>
        </p:spPr>
      </p:sp>
      <p:pic>
        <p:nvPicPr>
          <p:cNvPr id="5" name="icon-615" descr="UserEdit icon">    </p:cNvPr>
          <p:cNvPicPr>
            <a:picLocks noChangeAspect="1"/>
          </p:cNvPicPr>
          <p:nvPr/>
        </p:nvPicPr>
        <p:blipFill>
          <a:blip r:embed="rId1"/>
          <a:stretch>
            <a:fillRect/>
          </a:stretch>
        </p:blipFill>
        <p:spPr>
          <a:xfrm>
            <a:off x="914400" y="1783080"/>
            <a:ext cx="274320" cy="274320"/>
          </a:xfrm>
          <a:prstGeom prst="rect">
            <a:avLst/>
          </a:prstGeom>
        </p:spPr>
      </p:pic>
      <p:sp>
        <p:nvSpPr>
          <p:cNvPr id="6" name="text-616"/>
          <p:cNvSpPr txBox="1"/>
          <p:nvPr/>
        </p:nvSpPr>
        <p:spPr>
          <a:xfrm>
            <a:off x="1508760" y="1645920"/>
            <a:ext cx="4754880" cy="548640"/>
          </a:xfrm>
          <a:prstGeom prst="rect">
            <a:avLst/>
          </a:prstGeom>
          <a:noFill/>
          <a:ln/>
        </p:spPr>
        <p:txBody>
          <a:bodyPr wrap="square" lIns="0" tIns="0" rIns="0" bIns="0" rtlCol="0" anchor="ctr"/>
          <a:lstStyle/>
          <a:p>
            <a:pPr indent="0" marL="0">
              <a:buNone/>
            </a:pPr>
            <a:r>
              <a:rPr lang="en-US" sz="1900" b="1" dirty="0">
                <a:solidFill>
                  <a:schemeClr val="tx1"/>
                </a:solidFill>
              </a:rPr>
              <a:t>Human-in-the-loop</a:t>
            </a:r>
            <a:endParaRPr lang="en-US" sz="1900" dirty="0"/>
          </a:p>
        </p:txBody>
      </p:sp>
      <p:sp>
        <p:nvSpPr>
          <p:cNvPr id="7" name="card-617"/>
          <p:cNvSpPr/>
          <p:nvPr/>
        </p:nvSpPr>
        <p:spPr>
          <a:xfrm>
            <a:off x="1965960" y="2514600"/>
            <a:ext cx="3108960" cy="548640"/>
          </a:xfrm>
          <a:prstGeom prst="roundRect">
            <a:avLst>
              <a:gd name="adj" fmla="val 16667"/>
            </a:avLst>
          </a:prstGeom>
          <a:solidFill>
            <a:schemeClr val="tx1"/>
          </a:solidFill>
          <a:ln/>
        </p:spPr>
      </p:sp>
      <p:sp>
        <p:nvSpPr>
          <p:cNvPr id="8" name="text-618"/>
          <p:cNvSpPr txBox="1"/>
          <p:nvPr/>
        </p:nvSpPr>
        <p:spPr>
          <a:xfrm>
            <a:off x="1965960" y="2514600"/>
            <a:ext cx="3108960" cy="548640"/>
          </a:xfrm>
          <a:prstGeom prst="rect">
            <a:avLst/>
          </a:prstGeom>
          <a:noFill/>
          <a:ln/>
        </p:spPr>
        <p:txBody>
          <a:bodyPr wrap="square" lIns="0" tIns="0" rIns="0" bIns="0" rtlCol="0" anchor="ctr"/>
          <a:lstStyle/>
          <a:p>
            <a:pPr algn="ctr" indent="0" marL="0">
              <a:buNone/>
            </a:pPr>
            <a:r>
              <a:rPr lang="en-US" sz="1400" b="1" dirty="0">
                <a:solidFill>
                  <a:schemeClr val="bg1"/>
                </a:solidFill>
              </a:rPr>
              <a:t>AI decision + confidence score</a:t>
            </a:r>
            <a:endParaRPr lang="en-US" sz="1400" dirty="0"/>
          </a:p>
        </p:txBody>
      </p:sp>
      <p:sp>
        <p:nvSpPr>
          <p:cNvPr id="9" name="arrow-619"/>
          <p:cNvSpPr/>
          <p:nvPr/>
        </p:nvSpPr>
        <p:spPr>
          <a:xfrm>
            <a:off x="2286000" y="3063240"/>
            <a:ext cx="0" cy="548640"/>
          </a:xfrm>
          <a:prstGeom prst="line">
            <a:avLst/>
          </a:prstGeom>
          <a:noFill/>
          <a:ln w="22225">
            <a:solidFill>
              <a:schemeClr val="accent6"/>
            </a:solidFill>
            <a:prstDash val="solid"/>
            <a:tailEnd type="triangle"/>
          </a:ln>
        </p:spPr>
      </p:sp>
      <p:sp>
        <p:nvSpPr>
          <p:cNvPr id="10" name="arrow-620"/>
          <p:cNvSpPr/>
          <p:nvPr/>
        </p:nvSpPr>
        <p:spPr>
          <a:xfrm>
            <a:off x="4754880" y="3063240"/>
            <a:ext cx="0" cy="548640"/>
          </a:xfrm>
          <a:prstGeom prst="line">
            <a:avLst/>
          </a:prstGeom>
          <a:noFill/>
          <a:ln w="22225">
            <a:solidFill>
              <a:schemeClr val="accent6"/>
            </a:solidFill>
            <a:prstDash val="solid"/>
            <a:tailEnd type="triangle"/>
          </a:ln>
        </p:spPr>
      </p:sp>
      <p:sp>
        <p:nvSpPr>
          <p:cNvPr id="11" name="card-621"/>
          <p:cNvSpPr/>
          <p:nvPr/>
        </p:nvSpPr>
        <p:spPr>
          <a:xfrm>
            <a:off x="822960" y="3611880"/>
            <a:ext cx="2468880" cy="868680"/>
          </a:xfrm>
          <a:prstGeom prst="roundRect">
            <a:avLst>
              <a:gd name="adj" fmla="val 10526"/>
            </a:avLst>
          </a:prstGeom>
          <a:solidFill>
            <a:schemeClr val="accent5"/>
          </a:solidFill>
          <a:ln/>
        </p:spPr>
      </p:sp>
      <p:sp>
        <p:nvSpPr>
          <p:cNvPr id="12" name="text-622"/>
          <p:cNvSpPr txBox="1"/>
          <p:nvPr/>
        </p:nvSpPr>
        <p:spPr>
          <a:xfrm>
            <a:off x="868680" y="3611880"/>
            <a:ext cx="2377440" cy="868680"/>
          </a:xfrm>
          <a:prstGeom prst="rect">
            <a:avLst/>
          </a:prstGeom>
          <a:noFill/>
          <a:ln/>
        </p:spPr>
        <p:txBody>
          <a:bodyPr wrap="square" lIns="0" tIns="0" rIns="0" bIns="0" rtlCol="0" anchor="ctr"/>
          <a:lstStyle/>
          <a:p>
            <a:pPr algn="ctr" indent="0" marL="0">
              <a:buNone/>
            </a:pPr>
            <a:r>
              <a:rPr lang="en-US" sz="1400" b="1" dirty="0">
                <a:solidFill>
                  <a:schemeClr val="bg1"/>
                </a:solidFill>
              </a:rPr>
              <a:t>High confidence</a:t>
            </a:r>
            <a:endParaRPr lang="en-US" sz="1400" dirty="0"/>
          </a:p>
          <a:p>
            <a:pPr algn="ctr" indent="0" marL="0">
              <a:buNone/>
            </a:pPr>
            <a:r>
              <a:rPr lang="en-US" sz="1400" b="1" dirty="0">
                <a:solidFill>
                  <a:schemeClr val="bg1"/>
                </a:solidFill>
              </a:rPr>
              <a:t>Proceeds automatically</a:t>
            </a:r>
            <a:endParaRPr lang="en-US" sz="1400" dirty="0"/>
          </a:p>
        </p:txBody>
      </p:sp>
      <p:sp>
        <p:nvSpPr>
          <p:cNvPr id="13" name="card-623"/>
          <p:cNvSpPr/>
          <p:nvPr/>
        </p:nvSpPr>
        <p:spPr>
          <a:xfrm>
            <a:off x="3749040" y="3611880"/>
            <a:ext cx="2468880" cy="868680"/>
          </a:xfrm>
          <a:prstGeom prst="roundRect">
            <a:avLst>
              <a:gd name="adj" fmla="val 10526"/>
            </a:avLst>
          </a:prstGeom>
          <a:solidFill>
            <a:schemeClr val="accent2"/>
          </a:solidFill>
          <a:ln/>
        </p:spPr>
      </p:sp>
      <p:sp>
        <p:nvSpPr>
          <p:cNvPr id="14" name="text-624"/>
          <p:cNvSpPr txBox="1"/>
          <p:nvPr/>
        </p:nvSpPr>
        <p:spPr>
          <a:xfrm>
            <a:off x="3794760" y="3611880"/>
            <a:ext cx="2377440" cy="868680"/>
          </a:xfrm>
          <a:prstGeom prst="rect">
            <a:avLst/>
          </a:prstGeom>
          <a:noFill/>
          <a:ln/>
        </p:spPr>
        <p:txBody>
          <a:bodyPr wrap="square" lIns="0" tIns="0" rIns="0" bIns="0" rtlCol="0" anchor="ctr"/>
          <a:lstStyle/>
          <a:p>
            <a:pPr algn="ctr" indent="0" marL="0">
              <a:buNone/>
            </a:pPr>
            <a:r>
              <a:rPr lang="en-US" sz="1400" b="1" dirty="0">
                <a:solidFill>
                  <a:schemeClr val="tx1"/>
                </a:solidFill>
              </a:rPr>
              <a:t>Low confidence or sensitive</a:t>
            </a:r>
            <a:endParaRPr lang="en-US" sz="1400" dirty="0"/>
          </a:p>
          <a:p>
            <a:pPr algn="ctr" indent="0" marL="0">
              <a:buNone/>
            </a:pPr>
            <a:r>
              <a:rPr lang="en-US" sz="1400" b="1" dirty="0">
                <a:solidFill>
                  <a:schemeClr val="tx1"/>
                </a:solidFill>
              </a:rPr>
              <a:t>Sent for human review</a:t>
            </a:r>
            <a:endParaRPr lang="en-US" sz="1400" dirty="0"/>
          </a:p>
        </p:txBody>
      </p:sp>
      <p:sp>
        <p:nvSpPr>
          <p:cNvPr id="15" name="arrow-625"/>
          <p:cNvSpPr/>
          <p:nvPr/>
        </p:nvSpPr>
        <p:spPr>
          <a:xfrm>
            <a:off x="2057400" y="4480560"/>
            <a:ext cx="0" cy="411480"/>
          </a:xfrm>
          <a:prstGeom prst="line">
            <a:avLst/>
          </a:prstGeom>
          <a:noFill/>
          <a:ln w="22225">
            <a:solidFill>
              <a:schemeClr val="accent6"/>
            </a:solidFill>
            <a:prstDash val="solid"/>
            <a:tailEnd type="triangle"/>
          </a:ln>
        </p:spPr>
      </p:sp>
      <p:sp>
        <p:nvSpPr>
          <p:cNvPr id="16" name="arrow-626"/>
          <p:cNvSpPr/>
          <p:nvPr/>
        </p:nvSpPr>
        <p:spPr>
          <a:xfrm>
            <a:off x="4983480" y="4480560"/>
            <a:ext cx="0" cy="411480"/>
          </a:xfrm>
          <a:prstGeom prst="line">
            <a:avLst/>
          </a:prstGeom>
          <a:noFill/>
          <a:ln w="22225">
            <a:solidFill>
              <a:schemeClr val="accent6"/>
            </a:solidFill>
            <a:prstDash val="solid"/>
            <a:tailEnd type="triangle"/>
          </a:ln>
        </p:spPr>
      </p:sp>
      <p:sp>
        <p:nvSpPr>
          <p:cNvPr id="17" name="card-627"/>
          <p:cNvSpPr/>
          <p:nvPr/>
        </p:nvSpPr>
        <p:spPr>
          <a:xfrm>
            <a:off x="822960" y="4892040"/>
            <a:ext cx="2468880" cy="1005840"/>
          </a:xfrm>
          <a:prstGeom prst="roundRect">
            <a:avLst>
              <a:gd name="adj" fmla="val 9091"/>
            </a:avLst>
          </a:prstGeom>
          <a:solidFill>
            <a:schemeClr val="bg1"/>
          </a:solidFill>
          <a:ln/>
        </p:spPr>
      </p:sp>
      <p:sp>
        <p:nvSpPr>
          <p:cNvPr id="18" name="text-628"/>
          <p:cNvSpPr txBox="1"/>
          <p:nvPr/>
        </p:nvSpPr>
        <p:spPr>
          <a:xfrm>
            <a:off x="914400" y="4892040"/>
            <a:ext cx="2286000" cy="1005840"/>
          </a:xfrm>
          <a:prstGeom prst="rect">
            <a:avLst/>
          </a:prstGeom>
          <a:noFill/>
          <a:ln/>
        </p:spPr>
        <p:txBody>
          <a:bodyPr wrap="square" lIns="0" tIns="0" rIns="0" bIns="0" rtlCol="0" anchor="ctr"/>
          <a:lstStyle/>
          <a:p>
            <a:pPr algn="ctr" indent="0" marL="0">
              <a:buNone/>
            </a:pPr>
            <a:r>
              <a:rPr lang="en-US" sz="1400" dirty="0">
                <a:solidFill>
                  <a:schemeClr val="tx2"/>
                </a:solidFill>
              </a:rPr>
              <a:t>Outcome recorded in the audit trail</a:t>
            </a:r>
            <a:endParaRPr lang="en-US" sz="1400" dirty="0"/>
          </a:p>
        </p:txBody>
      </p:sp>
      <p:sp>
        <p:nvSpPr>
          <p:cNvPr id="19" name="card-629"/>
          <p:cNvSpPr/>
          <p:nvPr/>
        </p:nvSpPr>
        <p:spPr>
          <a:xfrm>
            <a:off x="3749040" y="4892040"/>
            <a:ext cx="2468880" cy="1005840"/>
          </a:xfrm>
          <a:prstGeom prst="roundRect">
            <a:avLst>
              <a:gd name="adj" fmla="val 9091"/>
            </a:avLst>
          </a:prstGeom>
          <a:solidFill>
            <a:schemeClr val="bg1"/>
          </a:solidFill>
          <a:ln/>
        </p:spPr>
      </p:sp>
      <p:sp>
        <p:nvSpPr>
          <p:cNvPr id="20" name="text-630"/>
          <p:cNvSpPr txBox="1"/>
          <p:nvPr/>
        </p:nvSpPr>
        <p:spPr>
          <a:xfrm>
            <a:off x="3840480" y="4892040"/>
            <a:ext cx="2286000" cy="1005840"/>
          </a:xfrm>
          <a:prstGeom prst="rect">
            <a:avLst/>
          </a:prstGeom>
          <a:noFill/>
          <a:ln/>
        </p:spPr>
        <p:txBody>
          <a:bodyPr wrap="square" lIns="0" tIns="0" rIns="0" bIns="0" rtlCol="0" anchor="ctr"/>
          <a:lstStyle/>
          <a:p>
            <a:pPr algn="ctr" indent="0" marL="0">
              <a:buNone/>
            </a:pPr>
            <a:r>
              <a:rPr lang="en-US" sz="1400" dirty="0">
                <a:solidFill>
                  <a:schemeClr val="tx2"/>
                </a:solidFill>
              </a:rPr>
              <a:t>Officer or admin can modify the decision or assign manually</a:t>
            </a:r>
            <a:endParaRPr lang="en-US" sz="1400" dirty="0"/>
          </a:p>
        </p:txBody>
      </p:sp>
      <p:sp>
        <p:nvSpPr>
          <p:cNvPr id="21" name="card-631"/>
          <p:cNvSpPr/>
          <p:nvPr/>
        </p:nvSpPr>
        <p:spPr>
          <a:xfrm>
            <a:off x="6766560" y="1371600"/>
            <a:ext cx="4873752" cy="4754880"/>
          </a:xfrm>
          <a:prstGeom prst="roundRect">
            <a:avLst>
              <a:gd name="adj" fmla="val 1923"/>
            </a:avLst>
          </a:prstGeom>
          <a:solidFill>
            <a:schemeClr val="tx1"/>
          </a:solidFill>
          <a:ln/>
        </p:spPr>
      </p:sp>
      <p:sp>
        <p:nvSpPr>
          <p:cNvPr id="22" name="icon-bg-632"/>
          <p:cNvSpPr/>
          <p:nvPr/>
        </p:nvSpPr>
        <p:spPr>
          <a:xfrm>
            <a:off x="6995160" y="1645920"/>
            <a:ext cx="548640" cy="548640"/>
          </a:xfrm>
          <a:prstGeom prst="ellipse">
            <a:avLst/>
          </a:prstGeom>
          <a:solidFill>
            <a:schemeClr val="accent1"/>
          </a:solidFill>
          <a:ln/>
        </p:spPr>
      </p:sp>
      <p:pic>
        <p:nvPicPr>
          <p:cNvPr id="23" name="icon-633" descr="ClipboardList icon">    </p:cNvPr>
          <p:cNvPicPr>
            <a:picLocks noChangeAspect="1"/>
          </p:cNvPicPr>
          <p:nvPr/>
        </p:nvPicPr>
        <p:blipFill>
          <a:blip r:embed="rId2"/>
          <a:stretch>
            <a:fillRect/>
          </a:stretch>
        </p:blipFill>
        <p:spPr>
          <a:xfrm>
            <a:off x="7132320" y="1783080"/>
            <a:ext cx="274320" cy="274320"/>
          </a:xfrm>
          <a:prstGeom prst="rect">
            <a:avLst/>
          </a:prstGeom>
        </p:spPr>
      </p:pic>
      <p:sp>
        <p:nvSpPr>
          <p:cNvPr id="24" name="text-634"/>
          <p:cNvSpPr txBox="1"/>
          <p:nvPr/>
        </p:nvSpPr>
        <p:spPr>
          <a:xfrm>
            <a:off x="7726680" y="1645920"/>
            <a:ext cx="3749040" cy="548640"/>
          </a:xfrm>
          <a:prstGeom prst="rect">
            <a:avLst/>
          </a:prstGeom>
          <a:noFill/>
          <a:ln/>
        </p:spPr>
        <p:txBody>
          <a:bodyPr wrap="square" lIns="0" tIns="0" rIns="0" bIns="0" rtlCol="0" anchor="ctr"/>
          <a:lstStyle/>
          <a:p>
            <a:pPr indent="0" marL="0">
              <a:buNone/>
            </a:pPr>
            <a:r>
              <a:rPr lang="en-US" sz="1900" b="1" dirty="0">
                <a:solidFill>
                  <a:schemeClr val="bg1"/>
                </a:solidFill>
              </a:rPr>
              <a:t>Audit &amp; transparency</a:t>
            </a:r>
            <a:endParaRPr lang="en-US" sz="1900" dirty="0"/>
          </a:p>
        </p:txBody>
      </p:sp>
      <p:sp>
        <p:nvSpPr>
          <p:cNvPr id="25" name="icon-bg-635"/>
          <p:cNvSpPr/>
          <p:nvPr/>
        </p:nvSpPr>
        <p:spPr>
          <a:xfrm>
            <a:off x="7059168" y="2715768"/>
            <a:ext cx="420624" cy="420624"/>
          </a:xfrm>
          <a:prstGeom prst="ellipse">
            <a:avLst/>
          </a:prstGeom>
          <a:solidFill>
            <a:schemeClr val="accent1"/>
          </a:solidFill>
          <a:ln/>
        </p:spPr>
      </p:sp>
      <p:pic>
        <p:nvPicPr>
          <p:cNvPr id="26" name="icon-636" descr="History icon">    </p:cNvPr>
          <p:cNvPicPr>
            <a:picLocks noChangeAspect="1"/>
          </p:cNvPicPr>
          <p:nvPr/>
        </p:nvPicPr>
        <p:blipFill>
          <a:blip r:embed="rId3"/>
          <a:stretch>
            <a:fillRect/>
          </a:stretch>
        </p:blipFill>
        <p:spPr>
          <a:xfrm>
            <a:off x="7164324" y="2820924"/>
            <a:ext cx="210312" cy="210312"/>
          </a:xfrm>
          <a:prstGeom prst="rect">
            <a:avLst/>
          </a:prstGeom>
        </p:spPr>
      </p:pic>
      <p:sp>
        <p:nvSpPr>
          <p:cNvPr id="27" name="text-637"/>
          <p:cNvSpPr txBox="1"/>
          <p:nvPr/>
        </p:nvSpPr>
        <p:spPr>
          <a:xfrm>
            <a:off x="7726680" y="2697480"/>
            <a:ext cx="3749040" cy="457200"/>
          </a:xfrm>
          <a:prstGeom prst="rect">
            <a:avLst/>
          </a:prstGeom>
          <a:noFill/>
          <a:ln/>
        </p:spPr>
        <p:txBody>
          <a:bodyPr wrap="square" lIns="0" tIns="0" rIns="0" bIns="0" rtlCol="0" anchor="ctr"/>
          <a:lstStyle/>
          <a:p>
            <a:pPr indent="0" marL="0">
              <a:buNone/>
            </a:pPr>
            <a:r>
              <a:rPr lang="en-US" sz="1500" dirty="0">
                <a:solidFill>
                  <a:schemeClr val="bg1"/>
                </a:solidFill>
              </a:rPr>
              <a:t>Agent execution history</a:t>
            </a:r>
            <a:endParaRPr lang="en-US" sz="1500" dirty="0"/>
          </a:p>
        </p:txBody>
      </p:sp>
      <p:sp>
        <p:nvSpPr>
          <p:cNvPr id="28" name="icon-bg-638"/>
          <p:cNvSpPr/>
          <p:nvPr/>
        </p:nvSpPr>
        <p:spPr>
          <a:xfrm>
            <a:off x="7059168" y="3383280"/>
            <a:ext cx="420624" cy="420624"/>
          </a:xfrm>
          <a:prstGeom prst="ellipse">
            <a:avLst/>
          </a:prstGeom>
          <a:solidFill>
            <a:schemeClr val="accent1"/>
          </a:solidFill>
          <a:ln/>
        </p:spPr>
      </p:sp>
      <p:pic>
        <p:nvPicPr>
          <p:cNvPr id="29" name="icon-639" descr="Cogs icon">    </p:cNvPr>
          <p:cNvPicPr>
            <a:picLocks noChangeAspect="1"/>
          </p:cNvPicPr>
          <p:nvPr/>
        </p:nvPicPr>
        <p:blipFill>
          <a:blip r:embed="rId4"/>
          <a:stretch>
            <a:fillRect/>
          </a:stretch>
        </p:blipFill>
        <p:spPr>
          <a:xfrm>
            <a:off x="7164324" y="3488436"/>
            <a:ext cx="210312" cy="210312"/>
          </a:xfrm>
          <a:prstGeom prst="rect">
            <a:avLst/>
          </a:prstGeom>
        </p:spPr>
      </p:pic>
      <p:sp>
        <p:nvSpPr>
          <p:cNvPr id="30" name="text-640"/>
          <p:cNvSpPr txBox="1"/>
          <p:nvPr/>
        </p:nvSpPr>
        <p:spPr>
          <a:xfrm>
            <a:off x="7726680" y="3364992"/>
            <a:ext cx="3749040" cy="457200"/>
          </a:xfrm>
          <a:prstGeom prst="rect">
            <a:avLst/>
          </a:prstGeom>
          <a:noFill/>
          <a:ln/>
        </p:spPr>
        <p:txBody>
          <a:bodyPr wrap="square" lIns="0" tIns="0" rIns="0" bIns="0" rtlCol="0" anchor="ctr"/>
          <a:lstStyle/>
          <a:p>
            <a:pPr indent="0" marL="0">
              <a:buNone/>
            </a:pPr>
            <a:r>
              <a:rPr lang="en-US" sz="1500" dirty="0">
                <a:solidFill>
                  <a:schemeClr val="bg1"/>
                </a:solidFill>
              </a:rPr>
              <a:t>Decisions and tool calls</a:t>
            </a:r>
            <a:endParaRPr lang="en-US" sz="1500" dirty="0"/>
          </a:p>
        </p:txBody>
      </p:sp>
      <p:sp>
        <p:nvSpPr>
          <p:cNvPr id="31" name="icon-bg-641"/>
          <p:cNvSpPr/>
          <p:nvPr/>
        </p:nvSpPr>
        <p:spPr>
          <a:xfrm>
            <a:off x="7059168" y="4050792"/>
            <a:ext cx="420624" cy="420624"/>
          </a:xfrm>
          <a:prstGeom prst="ellipse">
            <a:avLst/>
          </a:prstGeom>
          <a:solidFill>
            <a:schemeClr val="accent1"/>
          </a:solidFill>
          <a:ln/>
        </p:spPr>
      </p:sp>
      <p:pic>
        <p:nvPicPr>
          <p:cNvPr id="32" name="icon-642" descr="TachometerAlt icon">    </p:cNvPr>
          <p:cNvPicPr>
            <a:picLocks noChangeAspect="1"/>
          </p:cNvPicPr>
          <p:nvPr/>
        </p:nvPicPr>
        <p:blipFill>
          <a:blip r:embed="rId5"/>
          <a:stretch>
            <a:fillRect/>
          </a:stretch>
        </p:blipFill>
        <p:spPr>
          <a:xfrm>
            <a:off x="7164324" y="4155948"/>
            <a:ext cx="210312" cy="210312"/>
          </a:xfrm>
          <a:prstGeom prst="rect">
            <a:avLst/>
          </a:prstGeom>
        </p:spPr>
      </p:pic>
      <p:sp>
        <p:nvSpPr>
          <p:cNvPr id="33" name="text-643"/>
          <p:cNvSpPr txBox="1"/>
          <p:nvPr/>
        </p:nvSpPr>
        <p:spPr>
          <a:xfrm>
            <a:off x="7726680" y="4032504"/>
            <a:ext cx="3749040" cy="457200"/>
          </a:xfrm>
          <a:prstGeom prst="rect">
            <a:avLst/>
          </a:prstGeom>
          <a:noFill/>
          <a:ln/>
        </p:spPr>
        <p:txBody>
          <a:bodyPr wrap="square" lIns="0" tIns="0" rIns="0" bIns="0" rtlCol="0" anchor="ctr"/>
          <a:lstStyle/>
          <a:p>
            <a:pPr indent="0" marL="0">
              <a:buNone/>
            </a:pPr>
            <a:r>
              <a:rPr lang="en-US" sz="1500" dirty="0">
                <a:solidFill>
                  <a:schemeClr val="bg1"/>
                </a:solidFill>
              </a:rPr>
              <a:t>Token usage and latency</a:t>
            </a:r>
            <a:endParaRPr lang="en-US" sz="1500" dirty="0"/>
          </a:p>
        </p:txBody>
      </p:sp>
      <p:sp>
        <p:nvSpPr>
          <p:cNvPr id="34" name="icon-bg-644"/>
          <p:cNvSpPr/>
          <p:nvPr/>
        </p:nvSpPr>
        <p:spPr>
          <a:xfrm>
            <a:off x="7059168" y="4718304"/>
            <a:ext cx="420624" cy="420624"/>
          </a:xfrm>
          <a:prstGeom prst="ellipse">
            <a:avLst/>
          </a:prstGeom>
          <a:solidFill>
            <a:schemeClr val="accent1"/>
          </a:solidFill>
          <a:ln/>
        </p:spPr>
      </p:sp>
      <p:pic>
        <p:nvPicPr>
          <p:cNvPr id="35" name="icon-645" descr="FolderOpen icon">    </p:cNvPr>
          <p:cNvPicPr>
            <a:picLocks noChangeAspect="1"/>
          </p:cNvPicPr>
          <p:nvPr/>
        </p:nvPicPr>
        <p:blipFill>
          <a:blip r:embed="rId6"/>
          <a:stretch>
            <a:fillRect/>
          </a:stretch>
        </p:blipFill>
        <p:spPr>
          <a:xfrm>
            <a:off x="7164324" y="4823460"/>
            <a:ext cx="210312" cy="210312"/>
          </a:xfrm>
          <a:prstGeom prst="rect">
            <a:avLst/>
          </a:prstGeom>
        </p:spPr>
      </p:pic>
      <p:sp>
        <p:nvSpPr>
          <p:cNvPr id="36" name="text-646"/>
          <p:cNvSpPr txBox="1"/>
          <p:nvPr/>
        </p:nvSpPr>
        <p:spPr>
          <a:xfrm>
            <a:off x="7726680" y="4700016"/>
            <a:ext cx="3749040" cy="457200"/>
          </a:xfrm>
          <a:prstGeom prst="rect">
            <a:avLst/>
          </a:prstGeom>
          <a:noFill/>
          <a:ln/>
        </p:spPr>
        <p:txBody>
          <a:bodyPr wrap="square" lIns="0" tIns="0" rIns="0" bIns="0" rtlCol="0" anchor="ctr"/>
          <a:lstStyle/>
          <a:p>
            <a:pPr indent="0" marL="0">
              <a:buNone/>
            </a:pPr>
            <a:r>
              <a:rPr lang="en-US" sz="1500" dirty="0">
                <a:solidFill>
                  <a:schemeClr val="bg1"/>
                </a:solidFill>
              </a:rPr>
              <a:t>Complaint and escalation history</a:t>
            </a:r>
            <a:endParaRPr lang="en-US" sz="1500" dirty="0"/>
          </a:p>
        </p:txBody>
      </p:sp>
      <p:sp>
        <p:nvSpPr>
          <p:cNvPr id="37" name="icon-bg-647"/>
          <p:cNvSpPr/>
          <p:nvPr/>
        </p:nvSpPr>
        <p:spPr>
          <a:xfrm>
            <a:off x="7059168" y="5385816"/>
            <a:ext cx="420624" cy="420624"/>
          </a:xfrm>
          <a:prstGeom prst="ellipse">
            <a:avLst/>
          </a:prstGeom>
          <a:solidFill>
            <a:schemeClr val="accent1"/>
          </a:solidFill>
          <a:ln/>
        </p:spPr>
      </p:sp>
      <p:pic>
        <p:nvPicPr>
          <p:cNvPr id="38" name="icon-648" descr="Eye icon">    </p:cNvPr>
          <p:cNvPicPr>
            <a:picLocks noChangeAspect="1"/>
          </p:cNvPicPr>
          <p:nvPr/>
        </p:nvPicPr>
        <p:blipFill>
          <a:blip r:embed="rId7"/>
          <a:stretch>
            <a:fillRect/>
          </a:stretch>
        </p:blipFill>
        <p:spPr>
          <a:xfrm>
            <a:off x="7164324" y="5490972"/>
            <a:ext cx="210312" cy="210312"/>
          </a:xfrm>
          <a:prstGeom prst="rect">
            <a:avLst/>
          </a:prstGeom>
        </p:spPr>
      </p:pic>
      <p:sp>
        <p:nvSpPr>
          <p:cNvPr id="39" name="text-649"/>
          <p:cNvSpPr txBox="1"/>
          <p:nvPr/>
        </p:nvSpPr>
        <p:spPr>
          <a:xfrm>
            <a:off x="7726680" y="5367528"/>
            <a:ext cx="3749040" cy="457200"/>
          </a:xfrm>
          <a:prstGeom prst="rect">
            <a:avLst/>
          </a:prstGeom>
          <a:noFill/>
          <a:ln/>
        </p:spPr>
        <p:txBody>
          <a:bodyPr wrap="square" lIns="0" tIns="0" rIns="0" bIns="0" rtlCol="0" anchor="ctr"/>
          <a:lstStyle/>
          <a:p>
            <a:pPr indent="0" marL="0">
              <a:buNone/>
            </a:pPr>
            <a:r>
              <a:rPr lang="en-US" sz="1500" dirty="0">
                <a:solidFill>
                  <a:schemeClr val="bg1"/>
                </a:solidFill>
              </a:rPr>
              <a:t>Human review of any AI decision</a:t>
            </a:r>
            <a:endParaRPr lang="en-US" sz="1500" dirty="0"/>
          </a:p>
        </p:txBody>
      </p:sp>
      <p:sp>
        <p:nvSpPr>
          <p:cNvPr id="25" name="Slide Number Placeholder 0"/>
          <p:cNvSpPr>
            <a:spLocks noGrp="1"/>
          </p:cNvSpPr>
          <p:nvPr>
            <p:ph type="sldNum" sz="quarter" idx="4294967295"/>
          </p:nvPr>
        </p:nvSpPr>
        <p:spPr>
          <a:xfrm>
            <a:off x="10972800" y="6419088"/>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200" b="1" dirty="0">
                <a:solidFill>
                  <a:schemeClr val="tx1"/>
                </a:solidFill>
              </a:rPr>
              <a:t>Measured, Evaluated, Always Improving</a:t>
            </a:r>
            <a:endParaRPr lang="en-US" sz="3200" dirty="0"/>
          </a:p>
        </p:txBody>
      </p:sp>
      <p:sp>
        <p:nvSpPr>
          <p:cNvPr id="3" name="card-650"/>
          <p:cNvSpPr/>
          <p:nvPr/>
        </p:nvSpPr>
        <p:spPr>
          <a:xfrm>
            <a:off x="548640" y="1371600"/>
            <a:ext cx="2203704" cy="1463040"/>
          </a:xfrm>
          <a:prstGeom prst="roundRect">
            <a:avLst>
              <a:gd name="adj" fmla="val 6250"/>
            </a:avLst>
          </a:prstGeom>
          <a:solidFill>
            <a:schemeClr val="bg2"/>
          </a:solidFill>
          <a:ln/>
        </p:spPr>
      </p:sp>
      <p:sp>
        <p:nvSpPr>
          <p:cNvPr id="4" name="icon-bg-651"/>
          <p:cNvSpPr/>
          <p:nvPr/>
        </p:nvSpPr>
        <p:spPr>
          <a:xfrm>
            <a:off x="754380" y="1577340"/>
            <a:ext cx="502920" cy="502920"/>
          </a:xfrm>
          <a:prstGeom prst="ellipse">
            <a:avLst/>
          </a:prstGeom>
          <a:solidFill>
            <a:schemeClr val="accent5"/>
          </a:solidFill>
          <a:ln/>
        </p:spPr>
      </p:sp>
      <p:pic>
        <p:nvPicPr>
          <p:cNvPr id="5" name="icon-652" descr="Flask icon">    </p:cNvPr>
          <p:cNvPicPr>
            <a:picLocks noChangeAspect="1"/>
          </p:cNvPicPr>
          <p:nvPr/>
        </p:nvPicPr>
        <p:blipFill>
          <a:blip r:embed="rId1"/>
          <a:stretch>
            <a:fillRect/>
          </a:stretch>
        </p:blipFill>
        <p:spPr>
          <a:xfrm>
            <a:off x="880110" y="1703070"/>
            <a:ext cx="251460" cy="251460"/>
          </a:xfrm>
          <a:prstGeom prst="rect">
            <a:avLst/>
          </a:prstGeom>
        </p:spPr>
      </p:pic>
      <p:sp>
        <p:nvSpPr>
          <p:cNvPr id="6" name="text-653"/>
          <p:cNvSpPr txBox="1"/>
          <p:nvPr/>
        </p:nvSpPr>
        <p:spPr>
          <a:xfrm>
            <a:off x="731520" y="2240280"/>
            <a:ext cx="1883664" cy="548640"/>
          </a:xfrm>
          <a:prstGeom prst="rect">
            <a:avLst/>
          </a:prstGeom>
          <a:noFill/>
          <a:ln/>
        </p:spPr>
        <p:txBody>
          <a:bodyPr wrap="square" lIns="0" tIns="0" rIns="0" bIns="0" rtlCol="0" anchor="t"/>
          <a:lstStyle/>
          <a:p>
            <a:pPr indent="0" marL="0">
              <a:buNone/>
            </a:pPr>
            <a:r>
              <a:rPr lang="en-US" sz="1400" b="1" dirty="0">
                <a:solidFill>
                  <a:schemeClr val="tx1"/>
                </a:solidFill>
              </a:rPr>
              <a:t>Prompt evaluation</a:t>
            </a:r>
            <a:endParaRPr lang="en-US" sz="1400" dirty="0"/>
          </a:p>
        </p:txBody>
      </p:sp>
      <p:sp>
        <p:nvSpPr>
          <p:cNvPr id="7" name="card-654"/>
          <p:cNvSpPr/>
          <p:nvPr/>
        </p:nvSpPr>
        <p:spPr>
          <a:xfrm>
            <a:off x="2916936" y="1371600"/>
            <a:ext cx="2203704" cy="1463040"/>
          </a:xfrm>
          <a:prstGeom prst="roundRect">
            <a:avLst>
              <a:gd name="adj" fmla="val 6250"/>
            </a:avLst>
          </a:prstGeom>
          <a:solidFill>
            <a:schemeClr val="bg2"/>
          </a:solidFill>
          <a:ln/>
        </p:spPr>
      </p:sp>
      <p:sp>
        <p:nvSpPr>
          <p:cNvPr id="8" name="icon-bg-655"/>
          <p:cNvSpPr/>
          <p:nvPr/>
        </p:nvSpPr>
        <p:spPr>
          <a:xfrm>
            <a:off x="3122676" y="1577340"/>
            <a:ext cx="502920" cy="502920"/>
          </a:xfrm>
          <a:prstGeom prst="ellipse">
            <a:avLst/>
          </a:prstGeom>
          <a:solidFill>
            <a:schemeClr val="accent5"/>
          </a:solidFill>
          <a:ln/>
        </p:spPr>
      </p:sp>
      <p:pic>
        <p:nvPicPr>
          <p:cNvPr id="9" name="icon-656" descr="Tasks icon">    </p:cNvPr>
          <p:cNvPicPr>
            <a:picLocks noChangeAspect="1"/>
          </p:cNvPicPr>
          <p:nvPr/>
        </p:nvPicPr>
        <p:blipFill>
          <a:blip r:embed="rId2"/>
          <a:stretch>
            <a:fillRect/>
          </a:stretch>
        </p:blipFill>
        <p:spPr>
          <a:xfrm>
            <a:off x="3248406" y="1703070"/>
            <a:ext cx="251460" cy="251460"/>
          </a:xfrm>
          <a:prstGeom prst="rect">
            <a:avLst/>
          </a:prstGeom>
        </p:spPr>
      </p:pic>
      <p:sp>
        <p:nvSpPr>
          <p:cNvPr id="10" name="text-657"/>
          <p:cNvSpPr txBox="1"/>
          <p:nvPr/>
        </p:nvSpPr>
        <p:spPr>
          <a:xfrm>
            <a:off x="3099816" y="2240280"/>
            <a:ext cx="1883664" cy="548640"/>
          </a:xfrm>
          <a:prstGeom prst="rect">
            <a:avLst/>
          </a:prstGeom>
          <a:noFill/>
          <a:ln/>
        </p:spPr>
        <p:txBody>
          <a:bodyPr wrap="square" lIns="0" tIns="0" rIns="0" bIns="0" rtlCol="0" anchor="t"/>
          <a:lstStyle/>
          <a:p>
            <a:pPr indent="0" marL="0">
              <a:buNone/>
            </a:pPr>
            <a:r>
              <a:rPr lang="en-US" sz="1400" b="1" dirty="0">
                <a:solidFill>
                  <a:schemeClr val="tx1"/>
                </a:solidFill>
              </a:rPr>
              <a:t>Classification accuracy</a:t>
            </a:r>
            <a:endParaRPr lang="en-US" sz="1400" dirty="0"/>
          </a:p>
        </p:txBody>
      </p:sp>
      <p:sp>
        <p:nvSpPr>
          <p:cNvPr id="11" name="card-658"/>
          <p:cNvSpPr/>
          <p:nvPr/>
        </p:nvSpPr>
        <p:spPr>
          <a:xfrm>
            <a:off x="5285232" y="1371600"/>
            <a:ext cx="2203704" cy="1463040"/>
          </a:xfrm>
          <a:prstGeom prst="roundRect">
            <a:avLst>
              <a:gd name="adj" fmla="val 6250"/>
            </a:avLst>
          </a:prstGeom>
          <a:solidFill>
            <a:schemeClr val="bg2"/>
          </a:solidFill>
          <a:ln/>
        </p:spPr>
      </p:sp>
      <p:sp>
        <p:nvSpPr>
          <p:cNvPr id="12" name="icon-bg-659"/>
          <p:cNvSpPr/>
          <p:nvPr/>
        </p:nvSpPr>
        <p:spPr>
          <a:xfrm>
            <a:off x="5490972" y="1577340"/>
            <a:ext cx="502920" cy="502920"/>
          </a:xfrm>
          <a:prstGeom prst="ellipse">
            <a:avLst/>
          </a:prstGeom>
          <a:solidFill>
            <a:schemeClr val="accent5"/>
          </a:solidFill>
          <a:ln/>
        </p:spPr>
      </p:sp>
      <p:pic>
        <p:nvPicPr>
          <p:cNvPr id="13" name="icon-660" descr="Route icon">    </p:cNvPr>
          <p:cNvPicPr>
            <a:picLocks noChangeAspect="1"/>
          </p:cNvPicPr>
          <p:nvPr/>
        </p:nvPicPr>
        <p:blipFill>
          <a:blip r:embed="rId3"/>
          <a:stretch>
            <a:fillRect/>
          </a:stretch>
        </p:blipFill>
        <p:spPr>
          <a:xfrm>
            <a:off x="5616702" y="1703070"/>
            <a:ext cx="251460" cy="251460"/>
          </a:xfrm>
          <a:prstGeom prst="rect">
            <a:avLst/>
          </a:prstGeom>
        </p:spPr>
      </p:pic>
      <p:sp>
        <p:nvSpPr>
          <p:cNvPr id="14" name="text-661"/>
          <p:cNvSpPr txBox="1"/>
          <p:nvPr/>
        </p:nvSpPr>
        <p:spPr>
          <a:xfrm>
            <a:off x="5468112" y="2240280"/>
            <a:ext cx="1883664" cy="548640"/>
          </a:xfrm>
          <a:prstGeom prst="rect">
            <a:avLst/>
          </a:prstGeom>
          <a:noFill/>
          <a:ln/>
        </p:spPr>
        <p:txBody>
          <a:bodyPr wrap="square" lIns="0" tIns="0" rIns="0" bIns="0" rtlCol="0" anchor="t"/>
          <a:lstStyle/>
          <a:p>
            <a:pPr indent="0" marL="0">
              <a:buNone/>
            </a:pPr>
            <a:r>
              <a:rPr lang="en-US" sz="1400" b="1" dirty="0">
                <a:solidFill>
                  <a:schemeClr val="tx1"/>
                </a:solidFill>
              </a:rPr>
              <a:t>Routing accuracy</a:t>
            </a:r>
            <a:endParaRPr lang="en-US" sz="1400" dirty="0"/>
          </a:p>
        </p:txBody>
      </p:sp>
      <p:sp>
        <p:nvSpPr>
          <p:cNvPr id="15" name="card-662"/>
          <p:cNvSpPr/>
          <p:nvPr/>
        </p:nvSpPr>
        <p:spPr>
          <a:xfrm>
            <a:off x="548640" y="2999232"/>
            <a:ext cx="2203704" cy="1463040"/>
          </a:xfrm>
          <a:prstGeom prst="roundRect">
            <a:avLst>
              <a:gd name="adj" fmla="val 6250"/>
            </a:avLst>
          </a:prstGeom>
          <a:solidFill>
            <a:schemeClr val="bg2"/>
          </a:solidFill>
          <a:ln/>
        </p:spPr>
      </p:sp>
      <p:sp>
        <p:nvSpPr>
          <p:cNvPr id="16" name="icon-bg-663"/>
          <p:cNvSpPr/>
          <p:nvPr/>
        </p:nvSpPr>
        <p:spPr>
          <a:xfrm>
            <a:off x="754380" y="3204972"/>
            <a:ext cx="502920" cy="502920"/>
          </a:xfrm>
          <a:prstGeom prst="ellipse">
            <a:avLst/>
          </a:prstGeom>
          <a:solidFill>
            <a:schemeClr val="accent5"/>
          </a:solidFill>
          <a:ln/>
        </p:spPr>
      </p:sp>
      <p:pic>
        <p:nvPicPr>
          <p:cNvPr id="17" name="icon-664" descr="Bolt icon">    </p:cNvPr>
          <p:cNvPicPr>
            <a:picLocks noChangeAspect="1"/>
          </p:cNvPicPr>
          <p:nvPr/>
        </p:nvPicPr>
        <p:blipFill>
          <a:blip r:embed="rId4"/>
          <a:stretch>
            <a:fillRect/>
          </a:stretch>
        </p:blipFill>
        <p:spPr>
          <a:xfrm>
            <a:off x="880110" y="3330702"/>
            <a:ext cx="251460" cy="251460"/>
          </a:xfrm>
          <a:prstGeom prst="rect">
            <a:avLst/>
          </a:prstGeom>
        </p:spPr>
      </p:pic>
      <p:sp>
        <p:nvSpPr>
          <p:cNvPr id="18" name="text-665"/>
          <p:cNvSpPr txBox="1"/>
          <p:nvPr/>
        </p:nvSpPr>
        <p:spPr>
          <a:xfrm>
            <a:off x="731520" y="3867912"/>
            <a:ext cx="1883664" cy="548640"/>
          </a:xfrm>
          <a:prstGeom prst="rect">
            <a:avLst/>
          </a:prstGeom>
          <a:noFill/>
          <a:ln/>
        </p:spPr>
        <p:txBody>
          <a:bodyPr wrap="square" lIns="0" tIns="0" rIns="0" bIns="0" rtlCol="0" anchor="t"/>
          <a:lstStyle/>
          <a:p>
            <a:pPr indent="0" marL="0">
              <a:buNone/>
            </a:pPr>
            <a:r>
              <a:rPr lang="en-US" sz="1400" b="1" dirty="0">
                <a:solidFill>
                  <a:schemeClr val="tx1"/>
                </a:solidFill>
              </a:rPr>
              <a:t>Priority &amp; severity accuracy</a:t>
            </a:r>
            <a:endParaRPr lang="en-US" sz="1400" dirty="0"/>
          </a:p>
        </p:txBody>
      </p:sp>
      <p:sp>
        <p:nvSpPr>
          <p:cNvPr id="19" name="card-666"/>
          <p:cNvSpPr/>
          <p:nvPr/>
        </p:nvSpPr>
        <p:spPr>
          <a:xfrm>
            <a:off x="2916936" y="2999232"/>
            <a:ext cx="2203704" cy="1463040"/>
          </a:xfrm>
          <a:prstGeom prst="roundRect">
            <a:avLst>
              <a:gd name="adj" fmla="val 6250"/>
            </a:avLst>
          </a:prstGeom>
          <a:solidFill>
            <a:schemeClr val="bg2"/>
          </a:solidFill>
          <a:ln/>
        </p:spPr>
      </p:sp>
      <p:sp>
        <p:nvSpPr>
          <p:cNvPr id="20" name="icon-bg-667"/>
          <p:cNvSpPr/>
          <p:nvPr/>
        </p:nvSpPr>
        <p:spPr>
          <a:xfrm>
            <a:off x="3122676" y="3204972"/>
            <a:ext cx="502920" cy="502920"/>
          </a:xfrm>
          <a:prstGeom prst="ellipse">
            <a:avLst/>
          </a:prstGeom>
          <a:solidFill>
            <a:schemeClr val="accent5"/>
          </a:solidFill>
          <a:ln/>
        </p:spPr>
      </p:sp>
      <p:pic>
        <p:nvPicPr>
          <p:cNvPr id="21" name="icon-668" descr="FileAlt icon">    </p:cNvPr>
          <p:cNvPicPr>
            <a:picLocks noChangeAspect="1"/>
          </p:cNvPicPr>
          <p:nvPr/>
        </p:nvPicPr>
        <p:blipFill>
          <a:blip r:embed="rId5"/>
          <a:stretch>
            <a:fillRect/>
          </a:stretch>
        </p:blipFill>
        <p:spPr>
          <a:xfrm>
            <a:off x="3248406" y="3330702"/>
            <a:ext cx="251460" cy="251460"/>
          </a:xfrm>
          <a:prstGeom prst="rect">
            <a:avLst/>
          </a:prstGeom>
        </p:spPr>
      </p:pic>
      <p:sp>
        <p:nvSpPr>
          <p:cNvPr id="22" name="text-669"/>
          <p:cNvSpPr txBox="1"/>
          <p:nvPr/>
        </p:nvSpPr>
        <p:spPr>
          <a:xfrm>
            <a:off x="3099816" y="3867912"/>
            <a:ext cx="1883664" cy="548640"/>
          </a:xfrm>
          <a:prstGeom prst="rect">
            <a:avLst/>
          </a:prstGeom>
          <a:noFill/>
          <a:ln/>
        </p:spPr>
        <p:txBody>
          <a:bodyPr wrap="square" lIns="0" tIns="0" rIns="0" bIns="0" rtlCol="0" anchor="t"/>
          <a:lstStyle/>
          <a:p>
            <a:pPr indent="0" marL="0">
              <a:buNone/>
            </a:pPr>
            <a:r>
              <a:rPr lang="en-US" sz="1400" b="1" dirty="0">
                <a:solidFill>
                  <a:schemeClr val="tx1"/>
                </a:solidFill>
              </a:rPr>
              <a:t>JSON / schema validation</a:t>
            </a:r>
            <a:endParaRPr lang="en-US" sz="1400" dirty="0"/>
          </a:p>
        </p:txBody>
      </p:sp>
      <p:sp>
        <p:nvSpPr>
          <p:cNvPr id="23" name="card-670"/>
          <p:cNvSpPr/>
          <p:nvPr/>
        </p:nvSpPr>
        <p:spPr>
          <a:xfrm>
            <a:off x="5285232" y="2999232"/>
            <a:ext cx="2203704" cy="1463040"/>
          </a:xfrm>
          <a:prstGeom prst="roundRect">
            <a:avLst>
              <a:gd name="adj" fmla="val 6250"/>
            </a:avLst>
          </a:prstGeom>
          <a:solidFill>
            <a:schemeClr val="bg2"/>
          </a:solidFill>
          <a:ln/>
        </p:spPr>
      </p:sp>
      <p:sp>
        <p:nvSpPr>
          <p:cNvPr id="24" name="icon-bg-671"/>
          <p:cNvSpPr/>
          <p:nvPr/>
        </p:nvSpPr>
        <p:spPr>
          <a:xfrm>
            <a:off x="5490972" y="3204972"/>
            <a:ext cx="502920" cy="502920"/>
          </a:xfrm>
          <a:prstGeom prst="ellipse">
            <a:avLst/>
          </a:prstGeom>
          <a:solidFill>
            <a:schemeClr val="accent5"/>
          </a:solidFill>
          <a:ln/>
        </p:spPr>
      </p:sp>
      <p:pic>
        <p:nvPicPr>
          <p:cNvPr id="25" name="icon-672" descr="Bug icon">    </p:cNvPr>
          <p:cNvPicPr>
            <a:picLocks noChangeAspect="1"/>
          </p:cNvPicPr>
          <p:nvPr/>
        </p:nvPicPr>
        <p:blipFill>
          <a:blip r:embed="rId6"/>
          <a:stretch>
            <a:fillRect/>
          </a:stretch>
        </p:blipFill>
        <p:spPr>
          <a:xfrm>
            <a:off x="5616702" y="3330702"/>
            <a:ext cx="251460" cy="251460"/>
          </a:xfrm>
          <a:prstGeom prst="rect">
            <a:avLst/>
          </a:prstGeom>
        </p:spPr>
      </p:pic>
      <p:sp>
        <p:nvSpPr>
          <p:cNvPr id="26" name="text-673"/>
          <p:cNvSpPr txBox="1"/>
          <p:nvPr/>
        </p:nvSpPr>
        <p:spPr>
          <a:xfrm>
            <a:off x="5468112" y="3867912"/>
            <a:ext cx="1883664" cy="548640"/>
          </a:xfrm>
          <a:prstGeom prst="rect">
            <a:avLst/>
          </a:prstGeom>
          <a:noFill/>
          <a:ln/>
        </p:spPr>
        <p:txBody>
          <a:bodyPr wrap="square" lIns="0" tIns="0" rIns="0" bIns="0" rtlCol="0" anchor="t"/>
          <a:lstStyle/>
          <a:p>
            <a:pPr indent="0" marL="0">
              <a:buNone/>
            </a:pPr>
            <a:r>
              <a:rPr lang="en-US" sz="1400" b="1" dirty="0">
                <a:solidFill>
                  <a:schemeClr val="tx1"/>
                </a:solidFill>
              </a:rPr>
              <a:t>Hallucination &amp; error tracking</a:t>
            </a:r>
            <a:endParaRPr lang="en-US" sz="1400" dirty="0"/>
          </a:p>
        </p:txBody>
      </p:sp>
      <p:sp>
        <p:nvSpPr>
          <p:cNvPr id="27" name="card-674"/>
          <p:cNvSpPr/>
          <p:nvPr/>
        </p:nvSpPr>
        <p:spPr>
          <a:xfrm>
            <a:off x="548640" y="4626864"/>
            <a:ext cx="2203704" cy="1463040"/>
          </a:xfrm>
          <a:prstGeom prst="roundRect">
            <a:avLst>
              <a:gd name="adj" fmla="val 6250"/>
            </a:avLst>
          </a:prstGeom>
          <a:solidFill>
            <a:schemeClr val="bg2"/>
          </a:solidFill>
          <a:ln/>
        </p:spPr>
      </p:sp>
      <p:sp>
        <p:nvSpPr>
          <p:cNvPr id="28" name="icon-bg-675"/>
          <p:cNvSpPr/>
          <p:nvPr/>
        </p:nvSpPr>
        <p:spPr>
          <a:xfrm>
            <a:off x="754380" y="4832604"/>
            <a:ext cx="502920" cy="502920"/>
          </a:xfrm>
          <a:prstGeom prst="ellipse">
            <a:avLst/>
          </a:prstGeom>
          <a:solidFill>
            <a:schemeClr val="accent5"/>
          </a:solidFill>
          <a:ln/>
        </p:spPr>
      </p:sp>
      <p:pic>
        <p:nvPicPr>
          <p:cNvPr id="29" name="icon-676" descr="Database icon">    </p:cNvPr>
          <p:cNvPicPr>
            <a:picLocks noChangeAspect="1"/>
          </p:cNvPicPr>
          <p:nvPr/>
        </p:nvPicPr>
        <p:blipFill>
          <a:blip r:embed="rId7"/>
          <a:stretch>
            <a:fillRect/>
          </a:stretch>
        </p:blipFill>
        <p:spPr>
          <a:xfrm>
            <a:off x="880110" y="4958334"/>
            <a:ext cx="251460" cy="251460"/>
          </a:xfrm>
          <a:prstGeom prst="rect">
            <a:avLst/>
          </a:prstGeom>
        </p:spPr>
      </p:pic>
      <p:sp>
        <p:nvSpPr>
          <p:cNvPr id="30" name="text-677"/>
          <p:cNvSpPr txBox="1"/>
          <p:nvPr/>
        </p:nvSpPr>
        <p:spPr>
          <a:xfrm>
            <a:off x="731520" y="5495544"/>
            <a:ext cx="1883664" cy="548640"/>
          </a:xfrm>
          <a:prstGeom prst="rect">
            <a:avLst/>
          </a:prstGeom>
          <a:noFill/>
          <a:ln/>
        </p:spPr>
        <p:txBody>
          <a:bodyPr wrap="square" lIns="0" tIns="0" rIns="0" bIns="0" rtlCol="0" anchor="t"/>
          <a:lstStyle/>
          <a:p>
            <a:pPr indent="0" marL="0">
              <a:buNone/>
            </a:pPr>
            <a:r>
              <a:rPr lang="en-US" sz="1400" b="1" dirty="0">
                <a:solidFill>
                  <a:schemeClr val="tx1"/>
                </a:solidFill>
              </a:rPr>
              <a:t>Token usage tracking</a:t>
            </a:r>
            <a:endParaRPr lang="en-US" sz="1400" dirty="0"/>
          </a:p>
        </p:txBody>
      </p:sp>
      <p:sp>
        <p:nvSpPr>
          <p:cNvPr id="31" name="card-678"/>
          <p:cNvSpPr/>
          <p:nvPr/>
        </p:nvSpPr>
        <p:spPr>
          <a:xfrm>
            <a:off x="2916936" y="4626864"/>
            <a:ext cx="2203704" cy="1463040"/>
          </a:xfrm>
          <a:prstGeom prst="roundRect">
            <a:avLst>
              <a:gd name="adj" fmla="val 6250"/>
            </a:avLst>
          </a:prstGeom>
          <a:solidFill>
            <a:schemeClr val="bg2"/>
          </a:solidFill>
          <a:ln/>
        </p:spPr>
      </p:sp>
      <p:sp>
        <p:nvSpPr>
          <p:cNvPr id="32" name="icon-bg-679"/>
          <p:cNvSpPr/>
          <p:nvPr/>
        </p:nvSpPr>
        <p:spPr>
          <a:xfrm>
            <a:off x="3122676" y="4832604"/>
            <a:ext cx="502920" cy="502920"/>
          </a:xfrm>
          <a:prstGeom prst="ellipse">
            <a:avLst/>
          </a:prstGeom>
          <a:solidFill>
            <a:schemeClr val="accent5"/>
          </a:solidFill>
          <a:ln/>
        </p:spPr>
      </p:sp>
      <p:pic>
        <p:nvPicPr>
          <p:cNvPr id="33" name="icon-680" descr="TachometerAlt icon">    </p:cNvPr>
          <p:cNvPicPr>
            <a:picLocks noChangeAspect="1"/>
          </p:cNvPicPr>
          <p:nvPr/>
        </p:nvPicPr>
        <p:blipFill>
          <a:blip r:embed="rId8"/>
          <a:stretch>
            <a:fillRect/>
          </a:stretch>
        </p:blipFill>
        <p:spPr>
          <a:xfrm>
            <a:off x="3248406" y="4958334"/>
            <a:ext cx="251460" cy="251460"/>
          </a:xfrm>
          <a:prstGeom prst="rect">
            <a:avLst/>
          </a:prstGeom>
        </p:spPr>
      </p:pic>
      <p:sp>
        <p:nvSpPr>
          <p:cNvPr id="34" name="text-681"/>
          <p:cNvSpPr txBox="1"/>
          <p:nvPr/>
        </p:nvSpPr>
        <p:spPr>
          <a:xfrm>
            <a:off x="3099816" y="5495544"/>
            <a:ext cx="1883664" cy="548640"/>
          </a:xfrm>
          <a:prstGeom prst="rect">
            <a:avLst/>
          </a:prstGeom>
          <a:noFill/>
          <a:ln/>
        </p:spPr>
        <p:txBody>
          <a:bodyPr wrap="square" lIns="0" tIns="0" rIns="0" bIns="0" rtlCol="0" anchor="t"/>
          <a:lstStyle/>
          <a:p>
            <a:pPr indent="0" marL="0">
              <a:buNone/>
            </a:pPr>
            <a:r>
              <a:rPr lang="en-US" sz="1400" b="1" dirty="0">
                <a:solidFill>
                  <a:schemeClr val="tx1"/>
                </a:solidFill>
              </a:rPr>
              <a:t>Latency monitoring</a:t>
            </a:r>
            <a:endParaRPr lang="en-US" sz="1400" dirty="0"/>
          </a:p>
        </p:txBody>
      </p:sp>
      <p:sp>
        <p:nvSpPr>
          <p:cNvPr id="35" name="card-682"/>
          <p:cNvSpPr/>
          <p:nvPr/>
        </p:nvSpPr>
        <p:spPr>
          <a:xfrm>
            <a:off x="5285232" y="4626864"/>
            <a:ext cx="2203704" cy="1463040"/>
          </a:xfrm>
          <a:prstGeom prst="roundRect">
            <a:avLst>
              <a:gd name="adj" fmla="val 6250"/>
            </a:avLst>
          </a:prstGeom>
          <a:solidFill>
            <a:schemeClr val="bg2"/>
          </a:solidFill>
          <a:ln/>
        </p:spPr>
      </p:sp>
      <p:sp>
        <p:nvSpPr>
          <p:cNvPr id="36" name="icon-bg-683"/>
          <p:cNvSpPr/>
          <p:nvPr/>
        </p:nvSpPr>
        <p:spPr>
          <a:xfrm>
            <a:off x="5490972" y="4832604"/>
            <a:ext cx="502920" cy="502920"/>
          </a:xfrm>
          <a:prstGeom prst="ellipse">
            <a:avLst/>
          </a:prstGeom>
          <a:solidFill>
            <a:schemeClr val="accent5"/>
          </a:solidFill>
          <a:ln/>
        </p:spPr>
      </p:sp>
      <p:pic>
        <p:nvPicPr>
          <p:cNvPr id="37" name="icon-684" descr="BalanceScale icon">    </p:cNvPr>
          <p:cNvPicPr>
            <a:picLocks noChangeAspect="1"/>
          </p:cNvPicPr>
          <p:nvPr/>
        </p:nvPicPr>
        <p:blipFill>
          <a:blip r:embed="rId9"/>
          <a:stretch>
            <a:fillRect/>
          </a:stretch>
        </p:blipFill>
        <p:spPr>
          <a:xfrm>
            <a:off x="5616702" y="4958334"/>
            <a:ext cx="251460" cy="251460"/>
          </a:xfrm>
          <a:prstGeom prst="rect">
            <a:avLst/>
          </a:prstGeom>
        </p:spPr>
      </p:pic>
      <p:sp>
        <p:nvSpPr>
          <p:cNvPr id="38" name="text-685"/>
          <p:cNvSpPr txBox="1"/>
          <p:nvPr/>
        </p:nvSpPr>
        <p:spPr>
          <a:xfrm>
            <a:off x="5468112" y="5495544"/>
            <a:ext cx="1883664" cy="548640"/>
          </a:xfrm>
          <a:prstGeom prst="rect">
            <a:avLst/>
          </a:prstGeom>
          <a:noFill/>
          <a:ln/>
        </p:spPr>
        <p:txBody>
          <a:bodyPr wrap="square" lIns="0" tIns="0" rIns="0" bIns="0" rtlCol="0" anchor="t"/>
          <a:lstStyle/>
          <a:p>
            <a:pPr indent="0" marL="0">
              <a:buNone/>
            </a:pPr>
            <a:r>
              <a:rPr lang="en-US" sz="1400" b="1" dirty="0">
                <a:solidFill>
                  <a:schemeClr val="tx1"/>
                </a:solidFill>
              </a:rPr>
              <a:t>Prompt version comparison</a:t>
            </a:r>
            <a:endParaRPr lang="en-US" sz="1400" dirty="0"/>
          </a:p>
        </p:txBody>
      </p:sp>
      <p:sp>
        <p:nvSpPr>
          <p:cNvPr id="39" name="card-686"/>
          <p:cNvSpPr/>
          <p:nvPr/>
        </p:nvSpPr>
        <p:spPr>
          <a:xfrm>
            <a:off x="7772400" y="1371600"/>
            <a:ext cx="3867912" cy="4718304"/>
          </a:xfrm>
          <a:prstGeom prst="roundRect">
            <a:avLst>
              <a:gd name="adj" fmla="val 2364"/>
            </a:avLst>
          </a:prstGeom>
          <a:solidFill>
            <a:schemeClr val="tx1"/>
          </a:solidFill>
          <a:ln/>
        </p:spPr>
      </p:sp>
      <p:sp>
        <p:nvSpPr>
          <p:cNvPr id="40" name="text-687"/>
          <p:cNvSpPr txBox="1"/>
          <p:nvPr/>
        </p:nvSpPr>
        <p:spPr>
          <a:xfrm>
            <a:off x="8092440" y="1600200"/>
            <a:ext cx="329184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CONTINUOUS IMPROVEMENT LOOP</a:t>
            </a:r>
            <a:endParaRPr lang="en-US" sz="1200" dirty="0"/>
          </a:p>
        </p:txBody>
      </p:sp>
      <p:sp>
        <p:nvSpPr>
          <p:cNvPr id="41" name="line-688"/>
          <p:cNvSpPr/>
          <p:nvPr/>
        </p:nvSpPr>
        <p:spPr>
          <a:xfrm>
            <a:off x="8366760" y="2606040"/>
            <a:ext cx="0" cy="2331720"/>
          </a:xfrm>
          <a:prstGeom prst="line">
            <a:avLst/>
          </a:prstGeom>
          <a:noFill/>
          <a:ln w="25400">
            <a:solidFill>
              <a:schemeClr val="accent6"/>
            </a:solidFill>
            <a:prstDash val="solid"/>
          </a:ln>
        </p:spPr>
      </p:sp>
      <p:sp>
        <p:nvSpPr>
          <p:cNvPr id="42" name="shape-689"/>
          <p:cNvSpPr/>
          <p:nvPr/>
        </p:nvSpPr>
        <p:spPr>
          <a:xfrm>
            <a:off x="8092440" y="2331720"/>
            <a:ext cx="548640" cy="548640"/>
          </a:xfrm>
          <a:prstGeom prst="ellipse">
            <a:avLst/>
          </a:prstGeom>
          <a:solidFill>
            <a:schemeClr val="accent1"/>
          </a:solidFill>
          <a:ln w="38100">
            <a:solidFill>
              <a:schemeClr val="tx1"/>
            </a:solidFill>
            <a:prstDash val="solid"/>
          </a:ln>
        </p:spPr>
      </p:sp>
      <p:sp>
        <p:nvSpPr>
          <p:cNvPr id="43" name="text-690"/>
          <p:cNvSpPr txBox="1"/>
          <p:nvPr/>
        </p:nvSpPr>
        <p:spPr>
          <a:xfrm>
            <a:off x="8092440" y="23317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44" name="text-691"/>
          <p:cNvSpPr txBox="1"/>
          <p:nvPr/>
        </p:nvSpPr>
        <p:spPr>
          <a:xfrm>
            <a:off x="8869680" y="2240280"/>
            <a:ext cx="2560320" cy="731520"/>
          </a:xfrm>
          <a:prstGeom prst="rect">
            <a:avLst/>
          </a:prstGeom>
          <a:noFill/>
          <a:ln/>
        </p:spPr>
        <p:txBody>
          <a:bodyPr wrap="square" lIns="0" tIns="0" rIns="0" bIns="0" rtlCol="0" anchor="ctr"/>
          <a:lstStyle/>
          <a:p>
            <a:pPr indent="0" marL="0">
              <a:buNone/>
            </a:pPr>
            <a:r>
              <a:rPr lang="en-US" sz="1500" dirty="0">
                <a:solidFill>
                  <a:schemeClr val="bg1"/>
                </a:solidFill>
              </a:rPr>
              <a:t>Capture human feedback</a:t>
            </a:r>
            <a:endParaRPr lang="en-US" sz="1500" dirty="0"/>
          </a:p>
        </p:txBody>
      </p:sp>
      <p:sp>
        <p:nvSpPr>
          <p:cNvPr id="45" name="shape-692"/>
          <p:cNvSpPr/>
          <p:nvPr/>
        </p:nvSpPr>
        <p:spPr>
          <a:xfrm>
            <a:off x="8092440" y="3108960"/>
            <a:ext cx="548640" cy="548640"/>
          </a:xfrm>
          <a:prstGeom prst="ellipse">
            <a:avLst/>
          </a:prstGeom>
          <a:solidFill>
            <a:schemeClr val="accent1"/>
          </a:solidFill>
          <a:ln w="38100">
            <a:solidFill>
              <a:schemeClr val="tx1"/>
            </a:solidFill>
            <a:prstDash val="solid"/>
          </a:ln>
        </p:spPr>
      </p:sp>
      <p:sp>
        <p:nvSpPr>
          <p:cNvPr id="46" name="text-693"/>
          <p:cNvSpPr txBox="1"/>
          <p:nvPr/>
        </p:nvSpPr>
        <p:spPr>
          <a:xfrm>
            <a:off x="8092440" y="310896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47" name="text-694"/>
          <p:cNvSpPr txBox="1"/>
          <p:nvPr/>
        </p:nvSpPr>
        <p:spPr>
          <a:xfrm>
            <a:off x="8869680" y="3017520"/>
            <a:ext cx="2560320" cy="731520"/>
          </a:xfrm>
          <a:prstGeom prst="rect">
            <a:avLst/>
          </a:prstGeom>
          <a:noFill/>
          <a:ln/>
        </p:spPr>
        <p:txBody>
          <a:bodyPr wrap="square" lIns="0" tIns="0" rIns="0" bIns="0" rtlCol="0" anchor="ctr"/>
          <a:lstStyle/>
          <a:p>
            <a:pPr indent="0" marL="0">
              <a:buNone/>
            </a:pPr>
            <a:r>
              <a:rPr lang="en-US" sz="1500" dirty="0">
                <a:solidFill>
                  <a:schemeClr val="bg1"/>
                </a:solidFill>
              </a:rPr>
              <a:t>Review failed and low-confidence cases</a:t>
            </a:r>
            <a:endParaRPr lang="en-US" sz="1500" dirty="0"/>
          </a:p>
        </p:txBody>
      </p:sp>
      <p:sp>
        <p:nvSpPr>
          <p:cNvPr id="48" name="shape-695"/>
          <p:cNvSpPr/>
          <p:nvPr/>
        </p:nvSpPr>
        <p:spPr>
          <a:xfrm>
            <a:off x="8092440" y="3886200"/>
            <a:ext cx="548640" cy="548640"/>
          </a:xfrm>
          <a:prstGeom prst="ellipse">
            <a:avLst/>
          </a:prstGeom>
          <a:solidFill>
            <a:schemeClr val="accent1"/>
          </a:solidFill>
          <a:ln w="38100">
            <a:solidFill>
              <a:schemeClr val="tx1"/>
            </a:solidFill>
            <a:prstDash val="solid"/>
          </a:ln>
        </p:spPr>
      </p:sp>
      <p:sp>
        <p:nvSpPr>
          <p:cNvPr id="49" name="text-696"/>
          <p:cNvSpPr txBox="1"/>
          <p:nvPr/>
        </p:nvSpPr>
        <p:spPr>
          <a:xfrm>
            <a:off x="8092440" y="388620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50" name="text-697"/>
          <p:cNvSpPr txBox="1"/>
          <p:nvPr/>
        </p:nvSpPr>
        <p:spPr>
          <a:xfrm>
            <a:off x="8869680" y="3794760"/>
            <a:ext cx="2560320" cy="731520"/>
          </a:xfrm>
          <a:prstGeom prst="rect">
            <a:avLst/>
          </a:prstGeom>
          <a:noFill/>
          <a:ln/>
        </p:spPr>
        <p:txBody>
          <a:bodyPr wrap="square" lIns="0" tIns="0" rIns="0" bIns="0" rtlCol="0" anchor="ctr"/>
          <a:lstStyle/>
          <a:p>
            <a:pPr indent="0" marL="0">
              <a:buNone/>
            </a:pPr>
            <a:r>
              <a:rPr lang="en-US" sz="1500" dirty="0">
                <a:solidFill>
                  <a:schemeClr val="bg1"/>
                </a:solidFill>
              </a:rPr>
              <a:t>Evaluate agent performance over time</a:t>
            </a:r>
            <a:endParaRPr lang="en-US" sz="1500" dirty="0"/>
          </a:p>
        </p:txBody>
      </p:sp>
      <p:sp>
        <p:nvSpPr>
          <p:cNvPr id="51" name="shape-698"/>
          <p:cNvSpPr/>
          <p:nvPr/>
        </p:nvSpPr>
        <p:spPr>
          <a:xfrm>
            <a:off x="8092440" y="4663440"/>
            <a:ext cx="548640" cy="548640"/>
          </a:xfrm>
          <a:prstGeom prst="ellipse">
            <a:avLst/>
          </a:prstGeom>
          <a:solidFill>
            <a:schemeClr val="accent1"/>
          </a:solidFill>
          <a:ln w="38100">
            <a:solidFill>
              <a:schemeClr val="tx1"/>
            </a:solidFill>
            <a:prstDash val="solid"/>
          </a:ln>
        </p:spPr>
      </p:sp>
      <p:sp>
        <p:nvSpPr>
          <p:cNvPr id="52" name="text-699"/>
          <p:cNvSpPr txBox="1"/>
          <p:nvPr/>
        </p:nvSpPr>
        <p:spPr>
          <a:xfrm>
            <a:off x="8092440" y="46634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53" name="text-700"/>
          <p:cNvSpPr txBox="1"/>
          <p:nvPr/>
        </p:nvSpPr>
        <p:spPr>
          <a:xfrm>
            <a:off x="8869680" y="4572000"/>
            <a:ext cx="2560320" cy="731520"/>
          </a:xfrm>
          <a:prstGeom prst="rect">
            <a:avLst/>
          </a:prstGeom>
          <a:noFill/>
          <a:ln/>
        </p:spPr>
        <p:txBody>
          <a:bodyPr wrap="square" lIns="0" tIns="0" rIns="0" bIns="0" rtlCol="0" anchor="ctr"/>
          <a:lstStyle/>
          <a:p>
            <a:pPr indent="0" marL="0">
              <a:buNone/>
            </a:pPr>
            <a:r>
              <a:rPr lang="en-US" sz="1500" dirty="0">
                <a:solidFill>
                  <a:schemeClr val="bg1"/>
                </a:solidFill>
              </a:rPr>
              <a:t>Improve prompts and workflows</a:t>
            </a:r>
            <a:endParaRPr lang="en-US" sz="1500" dirty="0"/>
          </a:p>
        </p:txBody>
      </p:sp>
      <p:sp>
        <p:nvSpPr>
          <p:cNvPr id="54" name="text-701"/>
          <p:cNvSpPr txBox="1"/>
          <p:nvPr/>
        </p:nvSpPr>
        <p:spPr>
          <a:xfrm>
            <a:off x="8092440" y="5486400"/>
            <a:ext cx="3291840" cy="457200"/>
          </a:xfrm>
          <a:prstGeom prst="rect">
            <a:avLst/>
          </a:prstGeom>
          <a:noFill/>
          <a:ln/>
        </p:spPr>
        <p:txBody>
          <a:bodyPr wrap="square" lIns="0" tIns="0" rIns="0" bIns="0" rtlCol="0" anchor="t"/>
          <a:lstStyle/>
          <a:p>
            <a:pPr indent="0" marL="0">
              <a:buNone/>
            </a:pPr>
            <a:r>
              <a:rPr lang="en-US" sz="1300" i="1" dirty="0">
                <a:solidFill>
                  <a:schemeClr val="bg2"/>
                </a:solidFill>
              </a:rPr>
              <a:t>Results feed the next round of prompt and workflow changes.</a:t>
            </a:r>
            <a:endParaRPr lang="en-US" sz="1300" dirty="0"/>
          </a:p>
        </p:txBody>
      </p:sp>
      <p:sp>
        <p:nvSpPr>
          <p:cNvPr id="25" name="Slide Number Placeholder 0"/>
          <p:cNvSpPr>
            <a:spLocks noGrp="1"/>
          </p:cNvSpPr>
          <p:nvPr>
            <p:ph type="sldNum" sz="quarter" idx="4294967295"/>
          </p:nvPr>
        </p:nvSpPr>
        <p:spPr>
          <a:xfrm>
            <a:off x="10972800" y="6419088"/>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548640"/>
            <a:ext cx="11091672" cy="914400"/>
          </a:xfrm>
          <a:prstGeom prst="rect">
            <a:avLst/>
          </a:prstGeom>
          <a:noFill/>
          <a:ln/>
        </p:spPr>
        <p:txBody>
          <a:bodyPr wrap="square" lIns="0" tIns="0" rIns="0" bIns="0" rtlCol="0" anchor="ctr"/>
          <a:lstStyle/>
          <a:p>
            <a:pPr algn="l" indent="0" marL="0">
              <a:buNone/>
            </a:pPr>
            <a:r>
              <a:rPr lang="en-US" sz="3800" b="1" dirty="0">
                <a:solidFill>
                  <a:schemeClr val="bg1"/>
                </a:solidFill>
              </a:rPr>
              <a:t>Faster. Smarter. Transparent. Accountable</a:t>
            </a:r>
            <a:endParaRPr lang="en-US" sz="3800" dirty="0"/>
          </a:p>
        </p:txBody>
      </p:sp>
      <p:sp>
        <p:nvSpPr>
          <p:cNvPr id="3" name="card-702"/>
          <p:cNvSpPr/>
          <p:nvPr/>
        </p:nvSpPr>
        <p:spPr>
          <a:xfrm>
            <a:off x="548640" y="1828800"/>
            <a:ext cx="2615184" cy="2743200"/>
          </a:xfrm>
          <a:prstGeom prst="roundRect">
            <a:avLst>
              <a:gd name="adj" fmla="val 3497"/>
            </a:avLst>
          </a:prstGeom>
          <a:solidFill>
            <a:schemeClr val="tx2"/>
          </a:solidFill>
          <a:ln/>
        </p:spPr>
      </p:sp>
      <p:sp>
        <p:nvSpPr>
          <p:cNvPr id="4" name="icon-bg-703"/>
          <p:cNvSpPr/>
          <p:nvPr/>
        </p:nvSpPr>
        <p:spPr>
          <a:xfrm>
            <a:off x="777240" y="2148840"/>
            <a:ext cx="640080" cy="640080"/>
          </a:xfrm>
          <a:prstGeom prst="ellipse">
            <a:avLst/>
          </a:prstGeom>
          <a:solidFill>
            <a:schemeClr val="accent2"/>
          </a:solidFill>
          <a:ln/>
        </p:spPr>
      </p:sp>
      <p:pic>
        <p:nvPicPr>
          <p:cNvPr id="5" name="icon-704" descr="Bolt icon">    </p:cNvPr>
          <p:cNvPicPr>
            <a:picLocks noChangeAspect="1"/>
          </p:cNvPicPr>
          <p:nvPr/>
        </p:nvPicPr>
        <p:blipFill>
          <a:blip r:embed="rId1"/>
          <a:stretch>
            <a:fillRect/>
          </a:stretch>
        </p:blipFill>
        <p:spPr>
          <a:xfrm>
            <a:off x="937260" y="2308860"/>
            <a:ext cx="320040" cy="320040"/>
          </a:xfrm>
          <a:prstGeom prst="rect">
            <a:avLst/>
          </a:prstGeom>
        </p:spPr>
      </p:pic>
      <p:sp>
        <p:nvSpPr>
          <p:cNvPr id="6" name="text-705"/>
          <p:cNvSpPr txBox="1"/>
          <p:nvPr/>
        </p:nvSpPr>
        <p:spPr>
          <a:xfrm>
            <a:off x="822960" y="3017520"/>
            <a:ext cx="2157984" cy="411480"/>
          </a:xfrm>
          <a:prstGeom prst="rect">
            <a:avLst/>
          </a:prstGeom>
          <a:noFill/>
          <a:ln/>
        </p:spPr>
        <p:txBody>
          <a:bodyPr wrap="square" lIns="0" tIns="0" rIns="0" bIns="0" rtlCol="0" anchor="t"/>
          <a:lstStyle/>
          <a:p>
            <a:pPr indent="0" marL="0">
              <a:buNone/>
            </a:pPr>
            <a:r>
              <a:rPr lang="en-US" sz="2000" b="1" dirty="0">
                <a:solidFill>
                  <a:schemeClr val="bg1"/>
                </a:solidFill>
              </a:rPr>
              <a:t>Faster</a:t>
            </a:r>
            <a:endParaRPr lang="en-US" sz="2000" dirty="0"/>
          </a:p>
        </p:txBody>
      </p:sp>
      <p:sp>
        <p:nvSpPr>
          <p:cNvPr id="7" name="text-706"/>
          <p:cNvSpPr txBox="1"/>
          <p:nvPr/>
        </p:nvSpPr>
        <p:spPr>
          <a:xfrm>
            <a:off x="822960" y="3520440"/>
            <a:ext cx="2112264" cy="914400"/>
          </a:xfrm>
          <a:prstGeom prst="rect">
            <a:avLst/>
          </a:prstGeom>
          <a:noFill/>
          <a:ln/>
        </p:spPr>
        <p:txBody>
          <a:bodyPr wrap="square" lIns="0" tIns="0" rIns="0" bIns="0" rtlCol="0" anchor="t"/>
          <a:lstStyle/>
          <a:p>
            <a:pPr indent="0" marL="0">
              <a:buNone/>
            </a:pPr>
            <a:r>
              <a:rPr lang="en-US" sz="1400" dirty="0">
                <a:solidFill>
                  <a:schemeClr val="bg2"/>
                </a:solidFill>
              </a:rPr>
              <a:t>Automatic routing and assignment cut manual effort</a:t>
            </a:r>
            <a:endParaRPr lang="en-US" sz="1400" dirty="0"/>
          </a:p>
        </p:txBody>
      </p:sp>
      <p:sp>
        <p:nvSpPr>
          <p:cNvPr id="8" name="card-707"/>
          <p:cNvSpPr/>
          <p:nvPr/>
        </p:nvSpPr>
        <p:spPr>
          <a:xfrm>
            <a:off x="3374136" y="1828800"/>
            <a:ext cx="2615184" cy="2743200"/>
          </a:xfrm>
          <a:prstGeom prst="roundRect">
            <a:avLst>
              <a:gd name="adj" fmla="val 3497"/>
            </a:avLst>
          </a:prstGeom>
          <a:solidFill>
            <a:schemeClr val="tx2"/>
          </a:solidFill>
          <a:ln/>
        </p:spPr>
      </p:sp>
      <p:sp>
        <p:nvSpPr>
          <p:cNvPr id="9" name="icon-bg-708"/>
          <p:cNvSpPr/>
          <p:nvPr/>
        </p:nvSpPr>
        <p:spPr>
          <a:xfrm>
            <a:off x="3602736" y="2148840"/>
            <a:ext cx="640080" cy="640080"/>
          </a:xfrm>
          <a:prstGeom prst="ellipse">
            <a:avLst/>
          </a:prstGeom>
          <a:solidFill>
            <a:schemeClr val="accent1"/>
          </a:solidFill>
          <a:ln/>
        </p:spPr>
      </p:sp>
      <p:pic>
        <p:nvPicPr>
          <p:cNvPr id="10" name="icon-709" descr="Brain icon">    </p:cNvPr>
          <p:cNvPicPr>
            <a:picLocks noChangeAspect="1"/>
          </p:cNvPicPr>
          <p:nvPr/>
        </p:nvPicPr>
        <p:blipFill>
          <a:blip r:embed="rId2"/>
          <a:stretch>
            <a:fillRect/>
          </a:stretch>
        </p:blipFill>
        <p:spPr>
          <a:xfrm>
            <a:off x="3762756" y="2308860"/>
            <a:ext cx="320040" cy="320040"/>
          </a:xfrm>
          <a:prstGeom prst="rect">
            <a:avLst/>
          </a:prstGeom>
        </p:spPr>
      </p:pic>
      <p:sp>
        <p:nvSpPr>
          <p:cNvPr id="11" name="text-710"/>
          <p:cNvSpPr txBox="1"/>
          <p:nvPr/>
        </p:nvSpPr>
        <p:spPr>
          <a:xfrm>
            <a:off x="3648456" y="3017520"/>
            <a:ext cx="2157984" cy="411480"/>
          </a:xfrm>
          <a:prstGeom prst="rect">
            <a:avLst/>
          </a:prstGeom>
          <a:noFill/>
          <a:ln/>
        </p:spPr>
        <p:txBody>
          <a:bodyPr wrap="square" lIns="0" tIns="0" rIns="0" bIns="0" rtlCol="0" anchor="t"/>
          <a:lstStyle/>
          <a:p>
            <a:pPr indent="0" marL="0">
              <a:buNone/>
            </a:pPr>
            <a:r>
              <a:rPr lang="en-US" sz="2000" b="1" dirty="0">
                <a:solidFill>
                  <a:schemeClr val="bg1"/>
                </a:solidFill>
              </a:rPr>
              <a:t>More intelligent</a:t>
            </a:r>
            <a:endParaRPr lang="en-US" sz="2000" dirty="0"/>
          </a:p>
        </p:txBody>
      </p:sp>
      <p:sp>
        <p:nvSpPr>
          <p:cNvPr id="12" name="text-711"/>
          <p:cNvSpPr txBox="1"/>
          <p:nvPr/>
        </p:nvSpPr>
        <p:spPr>
          <a:xfrm>
            <a:off x="3648456" y="3520440"/>
            <a:ext cx="2112264" cy="914400"/>
          </a:xfrm>
          <a:prstGeom prst="rect">
            <a:avLst/>
          </a:prstGeom>
          <a:noFill/>
          <a:ln/>
        </p:spPr>
        <p:txBody>
          <a:bodyPr wrap="square" lIns="0" tIns="0" rIns="0" bIns="0" rtlCol="0" anchor="t"/>
          <a:lstStyle/>
          <a:p>
            <a:pPr indent="0" marL="0">
              <a:buNone/>
            </a:pPr>
            <a:r>
              <a:rPr lang="en-US" sz="1400" dirty="0">
                <a:solidFill>
                  <a:schemeClr val="bg2"/>
                </a:solidFill>
              </a:rPr>
              <a:t>Context-aware agents understand, prioritize and route</a:t>
            </a:r>
            <a:endParaRPr lang="en-US" sz="1400" dirty="0"/>
          </a:p>
        </p:txBody>
      </p:sp>
      <p:sp>
        <p:nvSpPr>
          <p:cNvPr id="13" name="card-712"/>
          <p:cNvSpPr/>
          <p:nvPr/>
        </p:nvSpPr>
        <p:spPr>
          <a:xfrm>
            <a:off x="6199632" y="1828800"/>
            <a:ext cx="2615184" cy="2743200"/>
          </a:xfrm>
          <a:prstGeom prst="roundRect">
            <a:avLst>
              <a:gd name="adj" fmla="val 3497"/>
            </a:avLst>
          </a:prstGeom>
          <a:solidFill>
            <a:schemeClr val="tx2"/>
          </a:solidFill>
          <a:ln/>
        </p:spPr>
      </p:sp>
      <p:sp>
        <p:nvSpPr>
          <p:cNvPr id="14" name="icon-bg-713"/>
          <p:cNvSpPr/>
          <p:nvPr/>
        </p:nvSpPr>
        <p:spPr>
          <a:xfrm>
            <a:off x="6428232" y="2148840"/>
            <a:ext cx="640080" cy="640080"/>
          </a:xfrm>
          <a:prstGeom prst="ellipse">
            <a:avLst/>
          </a:prstGeom>
          <a:solidFill>
            <a:schemeClr val="accent4"/>
          </a:solidFill>
          <a:ln/>
        </p:spPr>
      </p:sp>
      <p:pic>
        <p:nvPicPr>
          <p:cNvPr id="15" name="icon-714" descr="Eye icon">    </p:cNvPr>
          <p:cNvPicPr>
            <a:picLocks noChangeAspect="1"/>
          </p:cNvPicPr>
          <p:nvPr/>
        </p:nvPicPr>
        <p:blipFill>
          <a:blip r:embed="rId3"/>
          <a:stretch>
            <a:fillRect/>
          </a:stretch>
        </p:blipFill>
        <p:spPr>
          <a:xfrm>
            <a:off x="6588252" y="2308860"/>
            <a:ext cx="320040" cy="320040"/>
          </a:xfrm>
          <a:prstGeom prst="rect">
            <a:avLst/>
          </a:prstGeom>
        </p:spPr>
      </p:pic>
      <p:sp>
        <p:nvSpPr>
          <p:cNvPr id="16" name="text-715"/>
          <p:cNvSpPr txBox="1"/>
          <p:nvPr/>
        </p:nvSpPr>
        <p:spPr>
          <a:xfrm>
            <a:off x="6473952" y="3017520"/>
            <a:ext cx="2157984" cy="411480"/>
          </a:xfrm>
          <a:prstGeom prst="rect">
            <a:avLst/>
          </a:prstGeom>
          <a:noFill/>
          <a:ln/>
        </p:spPr>
        <p:txBody>
          <a:bodyPr wrap="square" lIns="0" tIns="0" rIns="0" bIns="0" rtlCol="0" anchor="t"/>
          <a:lstStyle/>
          <a:p>
            <a:pPr indent="0" marL="0">
              <a:buNone/>
            </a:pPr>
            <a:r>
              <a:rPr lang="en-US" sz="2000" b="1" dirty="0">
                <a:solidFill>
                  <a:schemeClr val="bg1"/>
                </a:solidFill>
              </a:rPr>
              <a:t>Transparent</a:t>
            </a:r>
            <a:endParaRPr lang="en-US" sz="2000" dirty="0"/>
          </a:p>
        </p:txBody>
      </p:sp>
      <p:sp>
        <p:nvSpPr>
          <p:cNvPr id="17" name="text-716"/>
          <p:cNvSpPr txBox="1"/>
          <p:nvPr/>
        </p:nvSpPr>
        <p:spPr>
          <a:xfrm>
            <a:off x="6473952" y="3520440"/>
            <a:ext cx="2112264" cy="914400"/>
          </a:xfrm>
          <a:prstGeom prst="rect">
            <a:avLst/>
          </a:prstGeom>
          <a:noFill/>
          <a:ln/>
        </p:spPr>
        <p:txBody>
          <a:bodyPr wrap="square" lIns="0" tIns="0" rIns="0" bIns="0" rtlCol="0" anchor="t"/>
          <a:lstStyle/>
          <a:p>
            <a:pPr indent="0" marL="0">
              <a:buNone/>
            </a:pPr>
            <a:r>
              <a:rPr lang="en-US" sz="1400" dirty="0">
                <a:solidFill>
                  <a:schemeClr val="bg2"/>
                </a:solidFill>
              </a:rPr>
              <a:t>Citizens see status; every AI decision is audited</a:t>
            </a:r>
            <a:endParaRPr lang="en-US" sz="1400" dirty="0"/>
          </a:p>
        </p:txBody>
      </p:sp>
      <p:sp>
        <p:nvSpPr>
          <p:cNvPr id="18" name="card-717"/>
          <p:cNvSpPr/>
          <p:nvPr/>
        </p:nvSpPr>
        <p:spPr>
          <a:xfrm>
            <a:off x="9025128" y="1828800"/>
            <a:ext cx="2615184" cy="2743200"/>
          </a:xfrm>
          <a:prstGeom prst="roundRect">
            <a:avLst>
              <a:gd name="adj" fmla="val 3497"/>
            </a:avLst>
          </a:prstGeom>
          <a:solidFill>
            <a:schemeClr val="tx2"/>
          </a:solidFill>
          <a:ln/>
        </p:spPr>
      </p:sp>
      <p:sp>
        <p:nvSpPr>
          <p:cNvPr id="19" name="icon-bg-718"/>
          <p:cNvSpPr/>
          <p:nvPr/>
        </p:nvSpPr>
        <p:spPr>
          <a:xfrm>
            <a:off x="9253728" y="2148840"/>
            <a:ext cx="640080" cy="640080"/>
          </a:xfrm>
          <a:prstGeom prst="ellipse">
            <a:avLst/>
          </a:prstGeom>
          <a:solidFill>
            <a:schemeClr val="accent3"/>
          </a:solidFill>
          <a:ln/>
        </p:spPr>
      </p:sp>
      <p:pic>
        <p:nvPicPr>
          <p:cNvPr id="20" name="icon-719" descr="BalanceScale icon">    </p:cNvPr>
          <p:cNvPicPr>
            <a:picLocks noChangeAspect="1"/>
          </p:cNvPicPr>
          <p:nvPr/>
        </p:nvPicPr>
        <p:blipFill>
          <a:blip r:embed="rId4"/>
          <a:stretch>
            <a:fillRect/>
          </a:stretch>
        </p:blipFill>
        <p:spPr>
          <a:xfrm>
            <a:off x="9413748" y="2308860"/>
            <a:ext cx="320040" cy="320040"/>
          </a:xfrm>
          <a:prstGeom prst="rect">
            <a:avLst/>
          </a:prstGeom>
        </p:spPr>
      </p:pic>
      <p:sp>
        <p:nvSpPr>
          <p:cNvPr id="21" name="text-720"/>
          <p:cNvSpPr txBox="1"/>
          <p:nvPr/>
        </p:nvSpPr>
        <p:spPr>
          <a:xfrm>
            <a:off x="9299448" y="3017520"/>
            <a:ext cx="2157984" cy="411480"/>
          </a:xfrm>
          <a:prstGeom prst="rect">
            <a:avLst/>
          </a:prstGeom>
          <a:noFill/>
          <a:ln/>
        </p:spPr>
        <p:txBody>
          <a:bodyPr wrap="square" lIns="0" tIns="0" rIns="0" bIns="0" rtlCol="0" anchor="t"/>
          <a:lstStyle/>
          <a:p>
            <a:pPr indent="0" marL="0">
              <a:buNone/>
            </a:pPr>
            <a:r>
              <a:rPr lang="en-US" sz="2000" b="1" dirty="0">
                <a:solidFill>
                  <a:schemeClr val="bg1"/>
                </a:solidFill>
              </a:rPr>
              <a:t>Accountable</a:t>
            </a:r>
            <a:endParaRPr lang="en-US" sz="2000" dirty="0"/>
          </a:p>
        </p:txBody>
      </p:sp>
      <p:sp>
        <p:nvSpPr>
          <p:cNvPr id="22" name="text-721"/>
          <p:cNvSpPr txBox="1"/>
          <p:nvPr/>
        </p:nvSpPr>
        <p:spPr>
          <a:xfrm>
            <a:off x="9299448" y="3520440"/>
            <a:ext cx="2112264" cy="914400"/>
          </a:xfrm>
          <a:prstGeom prst="rect">
            <a:avLst/>
          </a:prstGeom>
          <a:noFill/>
          <a:ln/>
        </p:spPr>
        <p:txBody>
          <a:bodyPr wrap="square" lIns="0" tIns="0" rIns="0" bIns="0" rtlCol="0" anchor="t"/>
          <a:lstStyle/>
          <a:p>
            <a:pPr indent="0" marL="0">
              <a:buNone/>
            </a:pPr>
            <a:r>
              <a:rPr lang="en-US" sz="1400" dirty="0">
                <a:solidFill>
                  <a:schemeClr val="bg2"/>
                </a:solidFill>
              </a:rPr>
              <a:t>SLA tracking and escalation follow every case</a:t>
            </a:r>
            <a:endParaRPr lang="en-US" sz="1400" dirty="0"/>
          </a:p>
        </p:txBody>
      </p:sp>
      <p:sp>
        <p:nvSpPr>
          <p:cNvPr id="23" name="text-722"/>
          <p:cNvSpPr txBox="1"/>
          <p:nvPr/>
        </p:nvSpPr>
        <p:spPr>
          <a:xfrm>
            <a:off x="548640" y="4892040"/>
            <a:ext cx="11064240" cy="548640"/>
          </a:xfrm>
          <a:prstGeom prst="rect">
            <a:avLst/>
          </a:prstGeom>
          <a:noFill/>
          <a:ln/>
        </p:spPr>
        <p:txBody>
          <a:bodyPr wrap="square" lIns="0" tIns="0" rIns="0" bIns="0" rtlCol="0" anchor="t"/>
          <a:lstStyle/>
          <a:p>
            <a:pPr indent="0" marL="0">
              <a:buNone/>
            </a:pPr>
            <a:r>
              <a:rPr lang="en-US" sz="2200" dirty="0">
                <a:solidFill>
                  <a:schemeClr val="bg1"/>
                </a:solidFill>
                <a:latin typeface="+mj-lt" pitchFamily="34" charset="0"/>
                <a:ea typeface="+mj-lt" pitchFamily="34" charset="-122"/>
                <a:cs typeface="+mj-lt" pitchFamily="34" charset="-120"/>
              </a:rPr>
              <a:t>Every complaint reaches the right authority and is followed through to resolution.</a:t>
            </a:r>
            <a:endParaRPr lang="en-US" sz="2200" dirty="0"/>
          </a:p>
        </p:txBody>
      </p:sp>
      <p:sp>
        <p:nvSpPr>
          <p:cNvPr id="24" name="text-723"/>
          <p:cNvSpPr txBox="1"/>
          <p:nvPr/>
        </p:nvSpPr>
        <p:spPr>
          <a:xfrm>
            <a:off x="548640" y="5669280"/>
            <a:ext cx="5486400" cy="274320"/>
          </a:xfrm>
          <a:prstGeom prst="rect">
            <a:avLst/>
          </a:prstGeom>
          <a:noFill/>
          <a:ln/>
        </p:spPr>
        <p:txBody>
          <a:bodyPr wrap="square" lIns="0" tIns="0" rIns="0" bIns="0" rtlCol="0" anchor="t"/>
          <a:lstStyle/>
          <a:p>
            <a:pPr indent="0" marL="0">
              <a:buNone/>
            </a:pPr>
            <a:r>
              <a:rPr lang="en-US" sz="1400" b="1" spc="200" kern="0" dirty="0">
                <a:solidFill>
                  <a:schemeClr val="accent2"/>
                </a:solidFill>
              </a:rPr>
              <a:t>THANK YOU  ·  TEAM KAFKA</a:t>
            </a:r>
            <a:endParaRPr lang="en-US" sz="1400" dirty="0"/>
          </a:p>
        </p:txBody>
      </p:sp>
      <p:sp>
        <p:nvSpPr>
          <p:cNvPr id="25" name="Slide Number Placeholder 0"/>
          <p:cNvSpPr>
            <a:spLocks noGrp="1"/>
          </p:cNvSpPr>
          <p:nvPr>
            <p:ph type="sldNum" sz="quarter" idx="4294967295"/>
          </p:nvPr>
        </p:nvSpPr>
        <p:spPr>
          <a:xfrm>
            <a:off x="10972800" y="6419088"/>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Samadhan AI">
  <a:themeElements>
    <a:clrScheme name="Samadhan AI">
      <a:dk1>
        <a:srgbClr val="0B1F33"/>
      </a:dk1>
      <a:lt1>
        <a:srgbClr val="FFFFFF"/>
      </a:lt1>
      <a:dk2>
        <a:srgbClr val="12304D"/>
      </a:dk2>
      <a:lt2>
        <a:srgbClr val="EEF3F8"/>
      </a:lt2>
      <a:accent1>
        <a:srgbClr val="0B8387"/>
      </a:accent1>
      <a:accent2>
        <a:srgbClr val="F2A33A"/>
      </a:accent2>
      <a:accent3>
        <a:srgbClr val="C73E3E"/>
      </a:accent3>
      <a:accent4>
        <a:srgbClr val="2F5FC4"/>
      </a:accent4>
      <a:accent5>
        <a:srgbClr val="1E8A57"/>
      </a:accent5>
      <a:accent6>
        <a:srgbClr val="5B6B80"/>
      </a:accent6>
      <a:hlink>
        <a:srgbClr val="2F5FC4"/>
      </a:hlink>
      <a:folHlink>
        <a:srgbClr val="5B6B80"/>
      </a:folHlink>
    </a:clrScheme>
    <a:fontScheme name="Samadhan A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Samadhan AI - AI-Powered Complaint Management System</dc:title>
  <dc:subject>PptxGenJS Presentation</dc:subject>
  <dc:creator>Team Kafka</dc:creator>
  <cp:lastModifiedBy>Team Kafka</cp:lastModifiedBy>
  <cp:revision>1</cp:revision>
  <dcterms:created xsi:type="dcterms:W3CDTF">2026-10-08T09:25:58Z</dcterms:created>
  <dcterms:modified xsi:type="dcterms:W3CDTF">2026-10-08T09:25:58Z</dcterms:modified>
</cp:coreProperties>
</file>